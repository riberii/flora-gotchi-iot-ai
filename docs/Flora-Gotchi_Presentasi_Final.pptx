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Bapak Ibu juri. Kami Tim Gerbang Logika dari SMA Kristen Gloria 2 Surabaya. Kami membawa Flora-Gotchi, sistem yang menyiram tanaman berdasarkan kondisi tanah yang sebenarnya dan mengenali hama lewat kamera ponsel. Semuanya berjalan dari satu ESP32, tanpa server luar dan tanpa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Pertanian menyerap 28 persen tenaga kerja Indonesia dan hampir seluruhnya usaha perorangan skala kecil. Mereka menyiram berdasarkan tebakan dan baru sadar ada hama setelah daun rusak. Solusi smart farming komersial terlalu mahal untuk mereka. Di situ celah yang kami 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ini menyentuh tiga SDG sekaligus: ketahanan pangan, konsumsi air yang bertanggung jawab, dan perlindungan daratan. Yang membedakan, klaim hemat air kami bisa ditelusuri langsung ke logika programnya.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bekerja lewat lima lapisan. Sensor membaca, ESP32 memutuskan, relay dan pompa bertindak, AI membaca kondisi daun, dan dashboard menampilkan semuanya. Poin pentingnya, semua berjalan di jaringan lokal tanpa cloud dan tanpa biaya langganan.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memakai delapan dari sembilan jenis komponen di kit panitia. Tambahan di luar kit masih di bawah batas seratus ribu. Kendala terbesar adalah pompa yang membuat ESP32 brownout, kami selesaikan dengan catu daya terpisah lewat relay.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yang paling sering diremehkan adalah logikanya. Sistem kami menolak menyiram sebelum yakin, dan setelah menyiram ia memeriksa apakah tanahnya benar-benar basah. Kalau tidak naik, artinya reservoir kosong dan alarm berbunyi. Ada juga pengaman brownout dan pengaman saat 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AI kami latih di Google Teachable Machine dengan delapan kelas dari 303 gambar yang kami kumpulkan sendiri. Kami sengaja memisahkan daun menguning dan daun kering karena tindakannya berbeda. Modelnya berjalan di browser ponsel dan hasilnya dikirim ke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kelas kami uji satu per satu dengan gambar di luar data latih. Hasilnya 94 sampai 100 persen, rata-rata 95,7 persen. Kami juga terbuka soal kelemahannya: aphid dan whitefly masih saling mirip dan itu yang kami perbaiki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dihosting langsung oleh ESP32, jadi cukup buka alamat IP-nya dari HP. Gayanya sengaja dibuat seperti virtual pet supaya orang mau membukanya tiap hari, dan di situlah deteksi dini benar-benar bekerja.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Dampaknya bukan cuma di rumah. Hampir 30 juta usaha pertanian perorangan belum tersentuh solusi smart farming karena mahal. Sistem kami tanpa biaya cloud, komponen tambahannya di bawah seratus ribu, dan sudah kami petakan langkah pengembangannya.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Flora-Gotchi membuktikan perawatan tanaman berbasis data bisa dibangun dari komponen dasar, jalan tanpa internet, dan terjangkau untuk puluhan juta usaha kecil. Terima kasih, kami siap menjawab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51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E9A63"/>
          </a:solidFill>
          <a:ln/>
        </p:spPr>
      </p:sp>
      <p:sp>
        <p:nvSpPr>
          <p:cNvPr id="3" name="Text 1"/>
          <p:cNvSpPr txBox="1"/>
          <p:nvPr/>
        </p:nvSpPr>
        <p:spPr>
          <a:xfrm>
            <a:off x="822960" y="1371600"/>
            <a:ext cx="7315200" cy="274320"/>
          </a:xfrm>
          <a:prstGeom prst="rect">
            <a:avLst/>
          </a:prstGeom>
          <a:noFill/>
          <a:ln/>
        </p:spPr>
        <p:txBody>
          <a:bodyPr wrap="square" lIns="0" tIns="0" rIns="0" bIns="0" rtlCol="0" anchor="ctr"/>
          <a:lstStyle/>
          <a:p>
            <a:pPr indent="0" marL="0">
              <a:buNone/>
            </a:pPr>
            <a:r>
              <a:rPr lang="en-US" sz="1100" b="1" spc="200" kern="0" dirty="0">
                <a:solidFill>
                  <a:srgbClr val="8FC79A"/>
                </a:solidFill>
                <a:latin typeface="Segoe UI" pitchFamily="34" charset="0"/>
                <a:ea typeface="Segoe UI" pitchFamily="34" charset="-122"/>
                <a:cs typeface="Segoe UI" pitchFamily="34" charset="-120"/>
              </a:rPr>
              <a:t>IMPACT PROJECT  ·  AI x IoT HACKATHON 2026  ·  BABAK FINAL</a:t>
            </a:r>
            <a:endParaRPr lang="en-US" sz="1100" dirty="0"/>
          </a:p>
        </p:txBody>
      </p:sp>
      <p:sp>
        <p:nvSpPr>
          <p:cNvPr id="4" name="Text 2"/>
          <p:cNvSpPr txBox="1"/>
          <p:nvPr/>
        </p:nvSpPr>
        <p:spPr>
          <a:xfrm>
            <a:off x="822960" y="1783080"/>
            <a:ext cx="7315200" cy="1005840"/>
          </a:xfrm>
          <a:prstGeom prst="rect">
            <a:avLst/>
          </a:prstGeom>
          <a:noFill/>
          <a:ln/>
        </p:spPr>
        <p:txBody>
          <a:bodyPr wrap="square" lIns="0" tIns="0" rIns="0" bIns="0" rtlCol="0" anchor="ctr"/>
          <a:lstStyle/>
          <a:p>
            <a:pPr indent="0" marL="0">
              <a:buNone/>
            </a:pPr>
            <a:r>
              <a:rPr lang="en-US" sz="6000" b="1" dirty="0">
                <a:solidFill>
                  <a:srgbClr val="F7F4E9"/>
                </a:solidFill>
                <a:latin typeface="Georgia" pitchFamily="34" charset="0"/>
                <a:ea typeface="Georgia" pitchFamily="34" charset="-122"/>
                <a:cs typeface="Georgia" pitchFamily="34" charset="-120"/>
              </a:rPr>
              <a:t>Flora-Gotchi</a:t>
            </a:r>
            <a:endParaRPr lang="en-US" sz="6000" dirty="0"/>
          </a:p>
        </p:txBody>
      </p:sp>
      <p:sp>
        <p:nvSpPr>
          <p:cNvPr id="5" name="Text 3"/>
          <p:cNvSpPr txBox="1"/>
          <p:nvPr/>
        </p:nvSpPr>
        <p:spPr>
          <a:xfrm>
            <a:off x="822960" y="2788920"/>
            <a:ext cx="7315200" cy="411480"/>
          </a:xfrm>
          <a:prstGeom prst="rect">
            <a:avLst/>
          </a:prstGeom>
          <a:noFill/>
          <a:ln/>
        </p:spPr>
        <p:txBody>
          <a:bodyPr wrap="square" lIns="0" tIns="0" rIns="0" bIns="0" rtlCol="0" anchor="ctr"/>
          <a:lstStyle/>
          <a:p>
            <a:pPr indent="0" marL="0">
              <a:buNone/>
            </a:pPr>
            <a:r>
              <a:rPr lang="en-US" sz="2200" i="1" dirty="0">
                <a:solidFill>
                  <a:srgbClr val="8FC79A"/>
                </a:solidFill>
                <a:latin typeface="Georgia" pitchFamily="34" charset="0"/>
                <a:ea typeface="Georgia" pitchFamily="34" charset="-122"/>
                <a:cs typeface="Georgia" pitchFamily="34" charset="-120"/>
              </a:rPr>
              <a:t>Plant Empathy System</a:t>
            </a:r>
            <a:endParaRPr lang="en-US" sz="2200" dirty="0"/>
          </a:p>
        </p:txBody>
      </p:sp>
      <p:sp>
        <p:nvSpPr>
          <p:cNvPr id="6" name="Text 4"/>
          <p:cNvSpPr txBox="1"/>
          <p:nvPr/>
        </p:nvSpPr>
        <p:spPr>
          <a:xfrm>
            <a:off x="822960" y="3291840"/>
            <a:ext cx="5852160" cy="731520"/>
          </a:xfrm>
          <a:prstGeom prst="rect">
            <a:avLst/>
          </a:prstGeom>
          <a:noFill/>
          <a:ln/>
        </p:spPr>
        <p:txBody>
          <a:bodyPr wrap="square" lIns="0" tIns="0" rIns="0" bIns="0" rtlCol="0" anchor="ctr"/>
          <a:lstStyle/>
          <a:p>
            <a:pPr indent="0" marL="0">
              <a:lnSpc>
                <a:spcPts val="1900"/>
              </a:lnSpc>
              <a:buNone/>
            </a:pPr>
            <a:r>
              <a:rPr lang="en-US" sz="1300" dirty="0">
                <a:solidFill>
                  <a:srgbClr val="C7D6CB"/>
                </a:solidFill>
                <a:latin typeface="Segoe UI" pitchFamily="34" charset="0"/>
                <a:ea typeface="Segoe UI" pitchFamily="34" charset="-122"/>
                <a:cs typeface="Segoe UI" pitchFamily="34" charset="-120"/>
              </a:rPr>
              <a:t>Irigasi otomatis berbasis kondisi tanah nyata dan deteksi dini hama lewat AI, dijalankan penuh dari satu ESP32 di jaringan lokal.</a:t>
            </a:r>
            <a:endParaRPr lang="en-US" sz="1300" dirty="0"/>
          </a:p>
        </p:txBody>
      </p:sp>
      <p:sp>
        <p:nvSpPr>
          <p:cNvPr id="7" name="Shape 5"/>
          <p:cNvSpPr/>
          <p:nvPr/>
        </p:nvSpPr>
        <p:spPr>
          <a:xfrm>
            <a:off x="822960" y="4343400"/>
            <a:ext cx="5852160" cy="18288"/>
          </a:xfrm>
          <a:prstGeom prst="rect">
            <a:avLst/>
          </a:prstGeom>
          <a:solidFill>
            <a:srgbClr val="2E4438"/>
          </a:solidFill>
          <a:ln/>
        </p:spPr>
      </p:sp>
      <p:sp>
        <p:nvSpPr>
          <p:cNvPr id="8" name="Text 6"/>
          <p:cNvSpPr txBox="1"/>
          <p:nvPr/>
        </p:nvSpPr>
        <p:spPr>
          <a:xfrm>
            <a:off x="822960" y="4526280"/>
            <a:ext cx="5852160" cy="274320"/>
          </a:xfrm>
          <a:prstGeom prst="rect">
            <a:avLst/>
          </a:prstGeom>
          <a:noFill/>
          <a:ln/>
        </p:spPr>
        <p:txBody>
          <a:bodyPr wrap="square" lIns="0" tIns="0" rIns="0" bIns="0" rtlCol="0" anchor="ctr"/>
          <a:lstStyle/>
          <a:p>
            <a:pPr indent="0" marL="0">
              <a:buNone/>
            </a:pPr>
            <a:r>
              <a:rPr lang="en-US" sz="1300" b="1" dirty="0">
                <a:solidFill>
                  <a:srgbClr val="F7F4E9"/>
                </a:solidFill>
                <a:latin typeface="Segoe UI" pitchFamily="34" charset="0"/>
                <a:ea typeface="Segoe UI" pitchFamily="34" charset="-122"/>
                <a:cs typeface="Segoe UI" pitchFamily="34" charset="-120"/>
              </a:rPr>
              <a:t>Tim Gerbang Logika  ·  SMA Kristen Gloria 2, Surabaya</a:t>
            </a:r>
            <a:endParaRPr lang="en-US" sz="1300" dirty="0"/>
          </a:p>
        </p:txBody>
      </p:sp>
      <p:sp>
        <p:nvSpPr>
          <p:cNvPr id="9" name="Text 7"/>
          <p:cNvSpPr txBox="1"/>
          <p:nvPr/>
        </p:nvSpPr>
        <p:spPr>
          <a:xfrm>
            <a:off x="822960" y="4828032"/>
            <a:ext cx="5852160" cy="274320"/>
          </a:xfrm>
          <a:prstGeom prst="rect">
            <a:avLst/>
          </a:prstGeom>
          <a:noFill/>
          <a:ln/>
        </p:spPr>
        <p:txBody>
          <a:bodyPr wrap="square" lIns="0" tIns="0" rIns="0" bIns="0" rtlCol="0" anchor="ctr"/>
          <a:lstStyle/>
          <a:p>
            <a:pPr indent="0" marL="0">
              <a:buNone/>
            </a:pPr>
            <a:r>
              <a:rPr lang="en-US" sz="1100" dirty="0">
                <a:solidFill>
                  <a:srgbClr val="9FB5A6"/>
                </a:solidFill>
                <a:latin typeface="Segoe UI" pitchFamily="34" charset="0"/>
                <a:ea typeface="Segoe UI" pitchFamily="34" charset="-122"/>
                <a:cs typeface="Segoe UI" pitchFamily="34" charset="-120"/>
              </a:rPr>
              <a:t>Marquis Verino  ·  Darren Jose Antolin  ·  Timothea Owen</a:t>
            </a:r>
            <a:endParaRPr lang="en-US" sz="1100" dirty="0"/>
          </a:p>
        </p:txBody>
      </p:sp>
      <p:sp>
        <p:nvSpPr>
          <p:cNvPr id="10" name="Text 8"/>
          <p:cNvSpPr txBox="1"/>
          <p:nvPr/>
        </p:nvSpPr>
        <p:spPr>
          <a:xfrm>
            <a:off x="822960" y="5084064"/>
            <a:ext cx="5852160" cy="274320"/>
          </a:xfrm>
          <a:prstGeom prst="rect">
            <a:avLst/>
          </a:prstGeom>
          <a:noFill/>
          <a:ln/>
        </p:spPr>
        <p:txBody>
          <a:bodyPr wrap="square" lIns="0" tIns="0" rIns="0" bIns="0" rtlCol="0" anchor="ctr"/>
          <a:lstStyle/>
          <a:p>
            <a:pPr indent="0" marL="0">
              <a:buNone/>
            </a:pPr>
            <a:r>
              <a:rPr lang="en-US" sz="1100" dirty="0">
                <a:solidFill>
                  <a:srgbClr val="9FB5A6"/>
                </a:solidFill>
                <a:latin typeface="Segoe UI" pitchFamily="34" charset="0"/>
                <a:ea typeface="Segoe UI" pitchFamily="34" charset="-122"/>
                <a:cs typeface="Segoe UI" pitchFamily="34" charset="-120"/>
              </a:rPr>
              <a:t>Guru pendamping: Martinus Danang Pamungkas, S.Sos</a:t>
            </a:r>
            <a:endParaRPr lang="en-US" sz="1100" dirty="0"/>
          </a:p>
        </p:txBody>
      </p:sp>
      <p:sp>
        <p:nvSpPr>
          <p:cNvPr id="11" name="Text 9"/>
          <p:cNvSpPr txBox="1"/>
          <p:nvPr/>
        </p:nvSpPr>
        <p:spPr>
          <a:xfrm>
            <a:off x="822960" y="5468112"/>
            <a:ext cx="5852160" cy="274320"/>
          </a:xfrm>
          <a:prstGeom prst="rect">
            <a:avLst/>
          </a:prstGeom>
          <a:noFill/>
          <a:ln/>
        </p:spPr>
        <p:txBody>
          <a:bodyPr wrap="square" lIns="0" tIns="0" rIns="0" bIns="0" rtlCol="0" anchor="ctr"/>
          <a:lstStyle/>
          <a:p>
            <a:pPr indent="0" marL="0">
              <a:buNone/>
            </a:pPr>
            <a:r>
              <a:rPr lang="en-US" sz="1100" dirty="0">
                <a:solidFill>
                  <a:srgbClr val="6E8A7B"/>
                </a:solidFill>
                <a:latin typeface="Segoe UI" pitchFamily="34" charset="0"/>
                <a:ea typeface="Segoe UI" pitchFamily="34" charset="-122"/>
                <a:cs typeface="Segoe UI" pitchFamily="34" charset="-120"/>
              </a:rPr>
              <a:t>Galaxy Mall, 19 September 2026</a:t>
            </a:r>
            <a:endParaRPr lang="en-US" sz="1100" dirty="0"/>
          </a:p>
        </p:txBody>
      </p:sp>
      <p:pic>
        <p:nvPicPr>
          <p:cNvPr id="12" name="Image 0" descr="deck/dashboard.png">    </p:cNvPr>
          <p:cNvPicPr>
            <a:picLocks noChangeAspect="1"/>
          </p:cNvPicPr>
          <p:nvPr/>
        </p:nvPicPr>
        <p:blipFill>
          <a:blip r:embed="rId1"/>
          <a:stretch>
            <a:fillRect/>
          </a:stretch>
        </p:blipFill>
        <p:spPr>
          <a:xfrm>
            <a:off x="8275320" y="1005840"/>
            <a:ext cx="1691640" cy="3840480"/>
          </a:xfrm>
          <a:prstGeom prst="rect">
            <a:avLst/>
          </a:prstGeom>
        </p:spPr>
      </p:pic>
      <p:pic>
        <p:nvPicPr>
          <p:cNvPr id="13" name="Image 1" descr="deck/healthy.png">    </p:cNvPr>
          <p:cNvPicPr>
            <a:picLocks noChangeAspect="1"/>
          </p:cNvPicPr>
          <p:nvPr/>
        </p:nvPicPr>
        <p:blipFill>
          <a:blip r:embed="rId2"/>
          <a:stretch>
            <a:fillRect/>
          </a:stretch>
        </p:blipFill>
        <p:spPr>
          <a:xfrm>
            <a:off x="10104120" y="1005840"/>
            <a:ext cx="1691640" cy="3840480"/>
          </a:xfrm>
          <a:prstGeom prst="rect">
            <a:avLst/>
          </a:prstGeom>
        </p:spPr>
      </p:pic>
      <p:sp>
        <p:nvSpPr>
          <p:cNvPr id="14" name="Text 10"/>
          <p:cNvSpPr txBox="1"/>
          <p:nvPr/>
        </p:nvSpPr>
        <p:spPr>
          <a:xfrm>
            <a:off x="8275320" y="4956048"/>
            <a:ext cx="3474720" cy="274320"/>
          </a:xfrm>
          <a:prstGeom prst="rect">
            <a:avLst/>
          </a:prstGeom>
          <a:noFill/>
          <a:ln/>
        </p:spPr>
        <p:txBody>
          <a:bodyPr wrap="square" lIns="0" tIns="0" rIns="0" bIns="0" rtlCol="0" anchor="ctr"/>
          <a:lstStyle/>
          <a:p>
            <a:pPr algn="ctr" indent="0" marL="0">
              <a:buNone/>
            </a:pPr>
            <a:r>
              <a:rPr lang="en-US" sz="900" dirty="0">
                <a:solidFill>
                  <a:srgbClr val="6E8A7B"/>
                </a:solidFill>
                <a:latin typeface="Segoe UI" pitchFamily="34" charset="0"/>
                <a:ea typeface="Segoe UI" pitchFamily="34" charset="-122"/>
                <a:cs typeface="Segoe UI" pitchFamily="34" charset="-120"/>
              </a:rPr>
              <a:t>Dashboard dan AI Leaf Scanner berjalan langsung dari ESP32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9"/>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E9A63"/>
                </a:solidFill>
                <a:latin typeface="Segoe UI" pitchFamily="34" charset="0"/>
                <a:ea typeface="Segoe UI" pitchFamily="34" charset="-122"/>
                <a:cs typeface="Segoe UI" pitchFamily="34" charset="-120"/>
              </a:rPr>
              <a:t>LATAR BELAKANG</a:t>
            </a:r>
            <a:endParaRPr lang="en-US" sz="1100" dirty="0"/>
          </a:p>
        </p:txBody>
      </p:sp>
      <p:sp>
        <p:nvSpPr>
          <p:cNvPr id="3" name="Text 1"/>
          <p:cNvSpPr txBox="1"/>
          <p:nvPr/>
        </p:nvSpPr>
        <p:spPr>
          <a:xfrm>
            <a:off x="548640" y="603504"/>
            <a:ext cx="11155680" cy="566928"/>
          </a:xfrm>
          <a:prstGeom prst="rect">
            <a:avLst/>
          </a:prstGeom>
          <a:noFill/>
          <a:ln/>
        </p:spPr>
        <p:txBody>
          <a:bodyPr wrap="square" lIns="0" tIns="0" rIns="0" bIns="0" rtlCol="0" anchor="ctr"/>
          <a:lstStyle/>
          <a:p>
            <a:pPr indent="0" marL="0">
              <a:buNone/>
            </a:pPr>
            <a:r>
              <a:rPr lang="en-US" sz="2600" b="1" dirty="0">
                <a:solidFill>
                  <a:srgbClr val="1C2B24"/>
                </a:solidFill>
                <a:latin typeface="Georgia" pitchFamily="34" charset="0"/>
                <a:ea typeface="Georgia" pitchFamily="34" charset="-122"/>
                <a:cs typeface="Georgia" pitchFamily="34" charset="-120"/>
              </a:rPr>
              <a:t>Pertanian Indonesia bertumpu pada usaha kecil</a:t>
            </a:r>
            <a:endParaRPr lang="en-US" sz="2600" dirty="0"/>
          </a:p>
        </p:txBody>
      </p:sp>
      <p:sp>
        <p:nvSpPr>
          <p:cNvPr id="4" name="Shape 2"/>
          <p:cNvSpPr/>
          <p:nvPr/>
        </p:nvSpPr>
        <p:spPr>
          <a:xfrm>
            <a:off x="548640" y="1261872"/>
            <a:ext cx="822960" cy="41148"/>
          </a:xfrm>
          <a:prstGeom prst="rect">
            <a:avLst/>
          </a:prstGeom>
          <a:solidFill>
            <a:srgbClr val="4E9A63"/>
          </a:solidFill>
          <a:ln/>
        </p:spPr>
      </p:sp>
      <p:sp>
        <p:nvSpPr>
          <p:cNvPr id="5" name="Shape 3"/>
          <p:cNvSpPr/>
          <p:nvPr/>
        </p:nvSpPr>
        <p:spPr>
          <a:xfrm>
            <a:off x="548640" y="1600200"/>
            <a:ext cx="2606040" cy="1874520"/>
          </a:xfrm>
          <a:prstGeom prst="roundRect">
            <a:avLst>
              <a:gd name="adj" fmla="val 4390"/>
            </a:avLst>
          </a:prstGeom>
          <a:solidFill>
            <a:srgbClr val="FFFFFF"/>
          </a:solidFill>
          <a:ln w="9525">
            <a:solidFill>
              <a:srgbClr val="D8D5C4"/>
            </a:solidFill>
            <a:prstDash val="solid"/>
          </a:ln>
        </p:spPr>
      </p:sp>
      <p:sp>
        <p:nvSpPr>
          <p:cNvPr id="6" name="Text 4"/>
          <p:cNvSpPr txBox="1"/>
          <p:nvPr/>
        </p:nvSpPr>
        <p:spPr>
          <a:xfrm>
            <a:off x="749808" y="1755648"/>
            <a:ext cx="2240280" cy="502920"/>
          </a:xfrm>
          <a:prstGeom prst="rect">
            <a:avLst/>
          </a:prstGeom>
          <a:noFill/>
          <a:ln/>
        </p:spPr>
        <p:txBody>
          <a:bodyPr wrap="square" lIns="0" tIns="0" rIns="0" bIns="0" rtlCol="0" anchor="ctr"/>
          <a:lstStyle/>
          <a:p>
            <a:pPr indent="0" marL="0">
              <a:buNone/>
            </a:pPr>
            <a:r>
              <a:rPr lang="en-US" sz="3000" b="1" dirty="0">
                <a:solidFill>
                  <a:srgbClr val="4E9A63"/>
                </a:solidFill>
                <a:latin typeface="Georgia" pitchFamily="34" charset="0"/>
                <a:ea typeface="Georgia" pitchFamily="34" charset="-122"/>
                <a:cs typeface="Georgia" pitchFamily="34" charset="-120"/>
              </a:rPr>
              <a:t>28,15%</a:t>
            </a:r>
            <a:endParaRPr lang="en-US" sz="3000" dirty="0"/>
          </a:p>
        </p:txBody>
      </p:sp>
      <p:sp>
        <p:nvSpPr>
          <p:cNvPr id="7" name="Text 5"/>
          <p:cNvSpPr txBox="1"/>
          <p:nvPr/>
        </p:nvSpPr>
        <p:spPr>
          <a:xfrm>
            <a:off x="749808" y="2304288"/>
            <a:ext cx="2240280" cy="274320"/>
          </a:xfrm>
          <a:prstGeom prst="rect">
            <a:avLst/>
          </a:prstGeom>
          <a:noFill/>
          <a:ln/>
        </p:spPr>
        <p:txBody>
          <a:bodyPr wrap="square" lIns="0" tIns="0" rIns="0" bIns="0" rtlCol="0" anchor="t"/>
          <a:lstStyle/>
          <a:p>
            <a:pPr indent="0" marL="0">
              <a:lnSpc>
                <a:spcPts val="1418"/>
              </a:lnSpc>
              <a:buNone/>
            </a:pPr>
            <a:r>
              <a:rPr lang="en-US" sz="1050" dirty="0">
                <a:solidFill>
                  <a:srgbClr val="1C2B24"/>
                </a:solidFill>
                <a:latin typeface="Segoe UI" pitchFamily="34" charset="0"/>
                <a:ea typeface="Segoe UI" pitchFamily="34" charset="-122"/>
                <a:cs typeface="Segoe UI" pitchFamily="34" charset="-120"/>
              </a:rPr>
              <a:t>penduduk bekerja Indonesia ada di sektor pertanian, penyerap tenaga kerja terbesar</a:t>
            </a:r>
            <a:endParaRPr lang="en-US" sz="1050" dirty="0"/>
          </a:p>
        </p:txBody>
      </p:sp>
      <p:sp>
        <p:nvSpPr>
          <p:cNvPr id="8" name="Text 6"/>
          <p:cNvSpPr txBox="1"/>
          <p:nvPr/>
        </p:nvSpPr>
        <p:spPr>
          <a:xfrm>
            <a:off x="749808" y="3163824"/>
            <a:ext cx="2240280" cy="228600"/>
          </a:xfrm>
          <a:prstGeom prst="rect">
            <a:avLst/>
          </a:prstGeom>
          <a:noFill/>
          <a:ln/>
        </p:spPr>
        <p:txBody>
          <a:bodyPr wrap="square" lIns="0" tIns="0" rIns="0" bIns="0" rtlCol="0" anchor="ctr"/>
          <a:lstStyle/>
          <a:p>
            <a:pPr indent="0" marL="0">
              <a:buNone/>
            </a:pPr>
            <a:r>
              <a:rPr lang="en-US" sz="800" i="1" dirty="0">
                <a:solidFill>
                  <a:srgbClr val="5E6F66"/>
                </a:solidFill>
                <a:latin typeface="Segoe UI" pitchFamily="34" charset="0"/>
                <a:ea typeface="Segoe UI" pitchFamily="34" charset="-122"/>
                <a:cs typeface="Segoe UI" pitchFamily="34" charset="-120"/>
              </a:rPr>
              <a:t>BPS, Sakernas Agustus 2025</a:t>
            </a:r>
            <a:endParaRPr lang="en-US" sz="800" dirty="0"/>
          </a:p>
        </p:txBody>
      </p:sp>
      <p:sp>
        <p:nvSpPr>
          <p:cNvPr id="9" name="Shape 7"/>
          <p:cNvSpPr/>
          <p:nvPr/>
        </p:nvSpPr>
        <p:spPr>
          <a:xfrm>
            <a:off x="3383280" y="1600200"/>
            <a:ext cx="2606040" cy="1874520"/>
          </a:xfrm>
          <a:prstGeom prst="roundRect">
            <a:avLst>
              <a:gd name="adj" fmla="val 4390"/>
            </a:avLst>
          </a:prstGeom>
          <a:solidFill>
            <a:srgbClr val="FFFFFF"/>
          </a:solidFill>
          <a:ln w="9525">
            <a:solidFill>
              <a:srgbClr val="D8D5C4"/>
            </a:solidFill>
            <a:prstDash val="solid"/>
          </a:ln>
        </p:spPr>
      </p:sp>
      <p:sp>
        <p:nvSpPr>
          <p:cNvPr id="10" name="Text 8"/>
          <p:cNvSpPr txBox="1"/>
          <p:nvPr/>
        </p:nvSpPr>
        <p:spPr>
          <a:xfrm>
            <a:off x="3584448" y="1755648"/>
            <a:ext cx="2240280" cy="502920"/>
          </a:xfrm>
          <a:prstGeom prst="rect">
            <a:avLst/>
          </a:prstGeom>
          <a:noFill/>
          <a:ln/>
        </p:spPr>
        <p:txBody>
          <a:bodyPr wrap="square" lIns="0" tIns="0" rIns="0" bIns="0" rtlCol="0" anchor="ctr"/>
          <a:lstStyle/>
          <a:p>
            <a:pPr indent="0" marL="0">
              <a:buNone/>
            </a:pPr>
            <a:r>
              <a:rPr lang="en-US" sz="3000" b="1" dirty="0">
                <a:solidFill>
                  <a:srgbClr val="4E9A63"/>
                </a:solidFill>
                <a:latin typeface="Georgia" pitchFamily="34" charset="0"/>
                <a:ea typeface="Georgia" pitchFamily="34" charset="-122"/>
                <a:cs typeface="Georgia" pitchFamily="34" charset="-120"/>
              </a:rPr>
              <a:t>29,36 juta</a:t>
            </a:r>
            <a:endParaRPr lang="en-US" sz="3000" dirty="0"/>
          </a:p>
        </p:txBody>
      </p:sp>
      <p:sp>
        <p:nvSpPr>
          <p:cNvPr id="11" name="Text 9"/>
          <p:cNvSpPr txBox="1"/>
          <p:nvPr/>
        </p:nvSpPr>
        <p:spPr>
          <a:xfrm>
            <a:off x="3584448" y="2304288"/>
            <a:ext cx="2240280" cy="274320"/>
          </a:xfrm>
          <a:prstGeom prst="rect">
            <a:avLst/>
          </a:prstGeom>
          <a:noFill/>
          <a:ln/>
        </p:spPr>
        <p:txBody>
          <a:bodyPr wrap="square" lIns="0" tIns="0" rIns="0" bIns="0" rtlCol="0" anchor="t"/>
          <a:lstStyle/>
          <a:p>
            <a:pPr indent="0" marL="0">
              <a:lnSpc>
                <a:spcPts val="1418"/>
              </a:lnSpc>
              <a:buNone/>
            </a:pPr>
            <a:r>
              <a:rPr lang="en-US" sz="1050" dirty="0">
                <a:solidFill>
                  <a:srgbClr val="1C2B24"/>
                </a:solidFill>
                <a:latin typeface="Segoe UI" pitchFamily="34" charset="0"/>
                <a:ea typeface="Segoe UI" pitchFamily="34" charset="-122"/>
                <a:cs typeface="Segoe UI" pitchFamily="34" charset="-120"/>
              </a:rPr>
              <a:t>unit usaha pertanian, 99,94 persen di antaranya usaha perorangan skala kecil</a:t>
            </a:r>
            <a:endParaRPr lang="en-US" sz="1050" dirty="0"/>
          </a:p>
        </p:txBody>
      </p:sp>
      <p:sp>
        <p:nvSpPr>
          <p:cNvPr id="12" name="Text 10"/>
          <p:cNvSpPr txBox="1"/>
          <p:nvPr/>
        </p:nvSpPr>
        <p:spPr>
          <a:xfrm>
            <a:off x="3584448" y="3163824"/>
            <a:ext cx="2240280" cy="228600"/>
          </a:xfrm>
          <a:prstGeom prst="rect">
            <a:avLst/>
          </a:prstGeom>
          <a:noFill/>
          <a:ln/>
        </p:spPr>
        <p:txBody>
          <a:bodyPr wrap="square" lIns="0" tIns="0" rIns="0" bIns="0" rtlCol="0" anchor="ctr"/>
          <a:lstStyle/>
          <a:p>
            <a:pPr indent="0" marL="0">
              <a:buNone/>
            </a:pPr>
            <a:r>
              <a:rPr lang="en-US" sz="800" i="1" dirty="0">
                <a:solidFill>
                  <a:srgbClr val="5E6F66"/>
                </a:solidFill>
                <a:latin typeface="Segoe UI" pitchFamily="34" charset="0"/>
                <a:ea typeface="Segoe UI" pitchFamily="34" charset="-122"/>
                <a:cs typeface="Segoe UI" pitchFamily="34" charset="-120"/>
              </a:rPr>
              <a:t>BPS, Sensus Pertanian 2023</a:t>
            </a:r>
            <a:endParaRPr lang="en-US" sz="800" dirty="0"/>
          </a:p>
        </p:txBody>
      </p:sp>
      <p:sp>
        <p:nvSpPr>
          <p:cNvPr id="13" name="Shape 11"/>
          <p:cNvSpPr/>
          <p:nvPr/>
        </p:nvSpPr>
        <p:spPr>
          <a:xfrm>
            <a:off x="6217920" y="1600200"/>
            <a:ext cx="2606040" cy="1874520"/>
          </a:xfrm>
          <a:prstGeom prst="roundRect">
            <a:avLst>
              <a:gd name="adj" fmla="val 4390"/>
            </a:avLst>
          </a:prstGeom>
          <a:solidFill>
            <a:srgbClr val="FFFFFF"/>
          </a:solidFill>
          <a:ln w="9525">
            <a:solidFill>
              <a:srgbClr val="D8D5C4"/>
            </a:solidFill>
            <a:prstDash val="solid"/>
          </a:ln>
        </p:spPr>
      </p:sp>
      <p:sp>
        <p:nvSpPr>
          <p:cNvPr id="14" name="Text 12"/>
          <p:cNvSpPr txBox="1"/>
          <p:nvPr/>
        </p:nvSpPr>
        <p:spPr>
          <a:xfrm>
            <a:off x="6419088" y="1755648"/>
            <a:ext cx="2240280" cy="502920"/>
          </a:xfrm>
          <a:prstGeom prst="rect">
            <a:avLst/>
          </a:prstGeom>
          <a:noFill/>
          <a:ln/>
        </p:spPr>
        <p:txBody>
          <a:bodyPr wrap="square" lIns="0" tIns="0" rIns="0" bIns="0" rtlCol="0" anchor="ctr"/>
          <a:lstStyle/>
          <a:p>
            <a:pPr indent="0" marL="0">
              <a:buNone/>
            </a:pPr>
            <a:r>
              <a:rPr lang="en-US" sz="3000" b="1" dirty="0">
                <a:solidFill>
                  <a:srgbClr val="4E9A63"/>
                </a:solidFill>
                <a:latin typeface="Georgia" pitchFamily="34" charset="0"/>
                <a:ea typeface="Georgia" pitchFamily="34" charset="-122"/>
                <a:cs typeface="Georgia" pitchFamily="34" charset="-120"/>
              </a:rPr>
              <a:t>13,83%</a:t>
            </a:r>
            <a:endParaRPr lang="en-US" sz="3000" dirty="0"/>
          </a:p>
        </p:txBody>
      </p:sp>
      <p:sp>
        <p:nvSpPr>
          <p:cNvPr id="15" name="Text 13"/>
          <p:cNvSpPr txBox="1"/>
          <p:nvPr/>
        </p:nvSpPr>
        <p:spPr>
          <a:xfrm>
            <a:off x="6419088" y="2304288"/>
            <a:ext cx="2240280" cy="274320"/>
          </a:xfrm>
          <a:prstGeom prst="rect">
            <a:avLst/>
          </a:prstGeom>
          <a:noFill/>
          <a:ln/>
        </p:spPr>
        <p:txBody>
          <a:bodyPr wrap="square" lIns="0" tIns="0" rIns="0" bIns="0" rtlCol="0" anchor="t"/>
          <a:lstStyle/>
          <a:p>
            <a:pPr indent="0" marL="0">
              <a:lnSpc>
                <a:spcPts val="1418"/>
              </a:lnSpc>
              <a:buNone/>
            </a:pPr>
            <a:r>
              <a:rPr lang="en-US" sz="1050" dirty="0">
                <a:solidFill>
                  <a:srgbClr val="1C2B24"/>
                </a:solidFill>
                <a:latin typeface="Segoe UI" pitchFamily="34" charset="0"/>
                <a:ea typeface="Segoe UI" pitchFamily="34" charset="-122"/>
                <a:cs typeface="Segoe UI" pitchFamily="34" charset="-120"/>
              </a:rPr>
              <a:t>kontribusi sektor pertanian terhadap PDB nasional triwulan II 2025</a:t>
            </a:r>
            <a:endParaRPr lang="en-US" sz="1050" dirty="0"/>
          </a:p>
        </p:txBody>
      </p:sp>
      <p:sp>
        <p:nvSpPr>
          <p:cNvPr id="16" name="Text 14"/>
          <p:cNvSpPr txBox="1"/>
          <p:nvPr/>
        </p:nvSpPr>
        <p:spPr>
          <a:xfrm>
            <a:off x="6419088" y="3163824"/>
            <a:ext cx="2240280" cy="228600"/>
          </a:xfrm>
          <a:prstGeom prst="rect">
            <a:avLst/>
          </a:prstGeom>
          <a:noFill/>
          <a:ln/>
        </p:spPr>
        <p:txBody>
          <a:bodyPr wrap="square" lIns="0" tIns="0" rIns="0" bIns="0" rtlCol="0" anchor="ctr"/>
          <a:lstStyle/>
          <a:p>
            <a:pPr indent="0" marL="0">
              <a:buNone/>
            </a:pPr>
            <a:r>
              <a:rPr lang="en-US" sz="800" i="1" dirty="0">
                <a:solidFill>
                  <a:srgbClr val="5E6F66"/>
                </a:solidFill>
                <a:latin typeface="Segoe UI" pitchFamily="34" charset="0"/>
                <a:ea typeface="Segoe UI" pitchFamily="34" charset="-122"/>
                <a:cs typeface="Segoe UI" pitchFamily="34" charset="-120"/>
              </a:rPr>
              <a:t>BPS, 2025</a:t>
            </a:r>
            <a:endParaRPr lang="en-US" sz="800" dirty="0"/>
          </a:p>
        </p:txBody>
      </p:sp>
      <p:sp>
        <p:nvSpPr>
          <p:cNvPr id="17" name="Shape 15"/>
          <p:cNvSpPr/>
          <p:nvPr/>
        </p:nvSpPr>
        <p:spPr>
          <a:xfrm>
            <a:off x="9052560" y="1600200"/>
            <a:ext cx="2606040" cy="1874520"/>
          </a:xfrm>
          <a:prstGeom prst="roundRect">
            <a:avLst>
              <a:gd name="adj" fmla="val 4390"/>
            </a:avLst>
          </a:prstGeom>
          <a:solidFill>
            <a:srgbClr val="FFFFFF"/>
          </a:solidFill>
          <a:ln w="9525">
            <a:solidFill>
              <a:srgbClr val="D8D5C4"/>
            </a:solidFill>
            <a:prstDash val="solid"/>
          </a:ln>
        </p:spPr>
      </p:sp>
      <p:sp>
        <p:nvSpPr>
          <p:cNvPr id="18" name="Text 16"/>
          <p:cNvSpPr txBox="1"/>
          <p:nvPr/>
        </p:nvSpPr>
        <p:spPr>
          <a:xfrm>
            <a:off x="9253728" y="1755648"/>
            <a:ext cx="2240280" cy="502920"/>
          </a:xfrm>
          <a:prstGeom prst="rect">
            <a:avLst/>
          </a:prstGeom>
          <a:noFill/>
          <a:ln/>
        </p:spPr>
        <p:txBody>
          <a:bodyPr wrap="square" lIns="0" tIns="0" rIns="0" bIns="0" rtlCol="0" anchor="ctr"/>
          <a:lstStyle/>
          <a:p>
            <a:pPr indent="0" marL="0">
              <a:buNone/>
            </a:pPr>
            <a:r>
              <a:rPr lang="en-US" sz="3000" b="1" dirty="0">
                <a:solidFill>
                  <a:srgbClr val="4E9A63"/>
                </a:solidFill>
                <a:latin typeface="Georgia" pitchFamily="34" charset="0"/>
                <a:ea typeface="Georgia" pitchFamily="34" charset="-122"/>
                <a:cs typeface="Georgia" pitchFamily="34" charset="-120"/>
              </a:rPr>
              <a:t>40%</a:t>
            </a:r>
            <a:endParaRPr lang="en-US" sz="3000" dirty="0"/>
          </a:p>
        </p:txBody>
      </p:sp>
      <p:sp>
        <p:nvSpPr>
          <p:cNvPr id="19" name="Text 17"/>
          <p:cNvSpPr txBox="1"/>
          <p:nvPr/>
        </p:nvSpPr>
        <p:spPr>
          <a:xfrm>
            <a:off x="9253728" y="2304288"/>
            <a:ext cx="2240280" cy="274320"/>
          </a:xfrm>
          <a:prstGeom prst="rect">
            <a:avLst/>
          </a:prstGeom>
          <a:noFill/>
          <a:ln/>
        </p:spPr>
        <p:txBody>
          <a:bodyPr wrap="square" lIns="0" tIns="0" rIns="0" bIns="0" rtlCol="0" anchor="t"/>
          <a:lstStyle/>
          <a:p>
            <a:pPr indent="0" marL="0">
              <a:lnSpc>
                <a:spcPts val="1418"/>
              </a:lnSpc>
              <a:buNone/>
            </a:pPr>
            <a:r>
              <a:rPr lang="en-US" sz="1050" dirty="0">
                <a:solidFill>
                  <a:srgbClr val="1C2B24"/>
                </a:solidFill>
                <a:latin typeface="Segoe UI" pitchFamily="34" charset="0"/>
                <a:ea typeface="Segoe UI" pitchFamily="34" charset="-122"/>
                <a:cs typeface="Segoe UI" pitchFamily="34" charset="-120"/>
              </a:rPr>
              <a:t>produksi tanaman global hilang tiap tahun akibat hama dan penyakit</a:t>
            </a:r>
            <a:endParaRPr lang="en-US" sz="1050" dirty="0"/>
          </a:p>
        </p:txBody>
      </p:sp>
      <p:sp>
        <p:nvSpPr>
          <p:cNvPr id="20" name="Text 18"/>
          <p:cNvSpPr txBox="1"/>
          <p:nvPr/>
        </p:nvSpPr>
        <p:spPr>
          <a:xfrm>
            <a:off x="9253728" y="3163824"/>
            <a:ext cx="2240280" cy="228600"/>
          </a:xfrm>
          <a:prstGeom prst="rect">
            <a:avLst/>
          </a:prstGeom>
          <a:noFill/>
          <a:ln/>
        </p:spPr>
        <p:txBody>
          <a:bodyPr wrap="square" lIns="0" tIns="0" rIns="0" bIns="0" rtlCol="0" anchor="ctr"/>
          <a:lstStyle/>
          <a:p>
            <a:pPr indent="0" marL="0">
              <a:buNone/>
            </a:pPr>
            <a:r>
              <a:rPr lang="en-US" sz="800" i="1" dirty="0">
                <a:solidFill>
                  <a:srgbClr val="5E6F66"/>
                </a:solidFill>
                <a:latin typeface="Segoe UI" pitchFamily="34" charset="0"/>
                <a:ea typeface="Segoe UI" pitchFamily="34" charset="-122"/>
                <a:cs typeface="Segoe UI" pitchFamily="34" charset="-120"/>
              </a:rPr>
              <a:t>FAO</a:t>
            </a:r>
            <a:endParaRPr lang="en-US" sz="800" dirty="0"/>
          </a:p>
        </p:txBody>
      </p:sp>
      <p:sp>
        <p:nvSpPr>
          <p:cNvPr id="21" name="Shape 19"/>
          <p:cNvSpPr/>
          <p:nvPr/>
        </p:nvSpPr>
        <p:spPr>
          <a:xfrm>
            <a:off x="548640" y="3703320"/>
            <a:ext cx="11109960" cy="1828800"/>
          </a:xfrm>
          <a:prstGeom prst="roundRect">
            <a:avLst>
              <a:gd name="adj" fmla="val 4500"/>
            </a:avLst>
          </a:prstGeom>
          <a:solidFill>
            <a:srgbClr val="ECEEE2"/>
          </a:solidFill>
          <a:ln w="9525">
            <a:solidFill>
              <a:srgbClr val="D8D5C4"/>
            </a:solidFill>
            <a:prstDash val="solid"/>
          </a:ln>
        </p:spPr>
      </p:sp>
      <p:sp>
        <p:nvSpPr>
          <p:cNvPr id="22" name="Text 20"/>
          <p:cNvSpPr txBox="1"/>
          <p:nvPr/>
        </p:nvSpPr>
        <p:spPr>
          <a:xfrm>
            <a:off x="868680" y="3886200"/>
            <a:ext cx="7315200" cy="320040"/>
          </a:xfrm>
          <a:prstGeom prst="rect">
            <a:avLst/>
          </a:prstGeom>
          <a:noFill/>
          <a:ln/>
        </p:spPr>
        <p:txBody>
          <a:bodyPr wrap="square" lIns="0" tIns="0" rIns="0" bIns="0" rtlCol="0" anchor="ctr"/>
          <a:lstStyle/>
          <a:p>
            <a:pPr indent="0" marL="0">
              <a:buNone/>
            </a:pPr>
            <a:r>
              <a:rPr lang="en-US" sz="1700" b="1" dirty="0">
                <a:solidFill>
                  <a:srgbClr val="1C2B24"/>
                </a:solidFill>
                <a:latin typeface="Georgia" pitchFamily="34" charset="0"/>
                <a:ea typeface="Georgia" pitchFamily="34" charset="-122"/>
                <a:cs typeface="Georgia" pitchFamily="34" charset="-120"/>
              </a:rPr>
              <a:t>Masalahnya bukan niat, tapi informasi</a:t>
            </a:r>
            <a:endParaRPr lang="en-US" sz="1700" dirty="0"/>
          </a:p>
        </p:txBody>
      </p:sp>
      <p:sp>
        <p:nvSpPr>
          <p:cNvPr id="23" name="Shape 21"/>
          <p:cNvSpPr/>
          <p:nvPr/>
        </p:nvSpPr>
        <p:spPr>
          <a:xfrm>
            <a:off x="868680" y="4370832"/>
            <a:ext cx="320040" cy="32004"/>
          </a:xfrm>
          <a:prstGeom prst="rect">
            <a:avLst/>
          </a:prstGeom>
          <a:solidFill>
            <a:srgbClr val="C2603F"/>
          </a:solidFill>
          <a:ln/>
        </p:spPr>
      </p:sp>
      <p:sp>
        <p:nvSpPr>
          <p:cNvPr id="24" name="Text 22"/>
          <p:cNvSpPr txBox="1"/>
          <p:nvPr/>
        </p:nvSpPr>
        <p:spPr>
          <a:xfrm>
            <a:off x="868680" y="4480560"/>
            <a:ext cx="3291840" cy="274320"/>
          </a:xfrm>
          <a:prstGeom prst="rect">
            <a:avLst/>
          </a:prstGeom>
          <a:noFill/>
          <a:ln/>
        </p:spPr>
        <p:txBody>
          <a:bodyPr wrap="square" lIns="0" tIns="0" rIns="0" bIns="0" rtlCol="0" anchor="ctr"/>
          <a:lstStyle/>
          <a:p>
            <a:pPr indent="0" marL="0">
              <a:buNone/>
            </a:pPr>
            <a:r>
              <a:rPr lang="en-US" sz="1250" b="1" dirty="0">
                <a:solidFill>
                  <a:srgbClr val="1C2B24"/>
                </a:solidFill>
                <a:latin typeface="Segoe UI" pitchFamily="34" charset="0"/>
                <a:ea typeface="Segoe UI" pitchFamily="34" charset="-122"/>
                <a:cs typeface="Segoe UI" pitchFamily="34" charset="-120"/>
              </a:rPr>
              <a:t>Penyiraman berbasis tebakan</a:t>
            </a:r>
            <a:endParaRPr lang="en-US" sz="1250" dirty="0"/>
          </a:p>
        </p:txBody>
      </p:sp>
      <p:sp>
        <p:nvSpPr>
          <p:cNvPr id="25" name="Text 23"/>
          <p:cNvSpPr txBox="1"/>
          <p:nvPr/>
        </p:nvSpPr>
        <p:spPr>
          <a:xfrm>
            <a:off x="868680" y="4773168"/>
            <a:ext cx="3291840" cy="274320"/>
          </a:xfrm>
          <a:prstGeom prst="rect">
            <a:avLst/>
          </a:prstGeom>
          <a:noFill/>
          <a:ln/>
        </p:spPr>
        <p:txBody>
          <a:bodyPr wrap="square" lIns="0" tIns="0" rIns="0" bIns="0" rtlCol="0" anchor="t"/>
          <a:lstStyle/>
          <a:p>
            <a:pPr indent="0" marL="0">
              <a:lnSpc>
                <a:spcPts val="1418"/>
              </a:lnSpc>
              <a:buNone/>
            </a:pPr>
            <a:r>
              <a:rPr lang="en-US" sz="1050" dirty="0">
                <a:solidFill>
                  <a:srgbClr val="5E6F66"/>
                </a:solidFill>
                <a:latin typeface="Segoe UI" pitchFamily="34" charset="0"/>
                <a:ea typeface="Segoe UI" pitchFamily="34" charset="-122"/>
                <a:cs typeface="Segoe UI" pitchFamily="34" charset="-120"/>
              </a:rPr>
              <a:t>Petani kecil dan pemilik tanaman menyiram mengikuti jadwal atau perasaan, bukan kelembapan tanah yang terukur. Air terbuang atau tanaman telanjur kering.</a:t>
            </a:r>
            <a:endParaRPr lang="en-US" sz="1050" dirty="0"/>
          </a:p>
        </p:txBody>
      </p:sp>
      <p:sp>
        <p:nvSpPr>
          <p:cNvPr id="26" name="Shape 24"/>
          <p:cNvSpPr/>
          <p:nvPr/>
        </p:nvSpPr>
        <p:spPr>
          <a:xfrm>
            <a:off x="4480560" y="4370832"/>
            <a:ext cx="320040" cy="32004"/>
          </a:xfrm>
          <a:prstGeom prst="rect">
            <a:avLst/>
          </a:prstGeom>
          <a:solidFill>
            <a:srgbClr val="C2603F"/>
          </a:solidFill>
          <a:ln/>
        </p:spPr>
      </p:sp>
      <p:sp>
        <p:nvSpPr>
          <p:cNvPr id="27" name="Text 25"/>
          <p:cNvSpPr txBox="1"/>
          <p:nvPr/>
        </p:nvSpPr>
        <p:spPr>
          <a:xfrm>
            <a:off x="4480560" y="4480560"/>
            <a:ext cx="3291840" cy="274320"/>
          </a:xfrm>
          <a:prstGeom prst="rect">
            <a:avLst/>
          </a:prstGeom>
          <a:noFill/>
          <a:ln/>
        </p:spPr>
        <p:txBody>
          <a:bodyPr wrap="square" lIns="0" tIns="0" rIns="0" bIns="0" rtlCol="0" anchor="ctr"/>
          <a:lstStyle/>
          <a:p>
            <a:pPr indent="0" marL="0">
              <a:buNone/>
            </a:pPr>
            <a:r>
              <a:rPr lang="en-US" sz="1250" b="1" dirty="0">
                <a:solidFill>
                  <a:srgbClr val="1C2B24"/>
                </a:solidFill>
                <a:latin typeface="Segoe UI" pitchFamily="34" charset="0"/>
                <a:ea typeface="Segoe UI" pitchFamily="34" charset="-122"/>
                <a:cs typeface="Segoe UI" pitchFamily="34" charset="-120"/>
              </a:rPr>
              <a:t>Hama terlambat dikenali</a:t>
            </a:r>
            <a:endParaRPr lang="en-US" sz="1250" dirty="0"/>
          </a:p>
        </p:txBody>
      </p:sp>
      <p:sp>
        <p:nvSpPr>
          <p:cNvPr id="28" name="Text 26"/>
          <p:cNvSpPr txBox="1"/>
          <p:nvPr/>
        </p:nvSpPr>
        <p:spPr>
          <a:xfrm>
            <a:off x="4480560" y="4773168"/>
            <a:ext cx="3291840" cy="274320"/>
          </a:xfrm>
          <a:prstGeom prst="rect">
            <a:avLst/>
          </a:prstGeom>
          <a:noFill/>
          <a:ln/>
        </p:spPr>
        <p:txBody>
          <a:bodyPr wrap="square" lIns="0" tIns="0" rIns="0" bIns="0" rtlCol="0" anchor="t"/>
          <a:lstStyle/>
          <a:p>
            <a:pPr indent="0" marL="0">
              <a:lnSpc>
                <a:spcPts val="1418"/>
              </a:lnSpc>
              <a:buNone/>
            </a:pPr>
            <a:r>
              <a:rPr lang="en-US" sz="1050" dirty="0">
                <a:solidFill>
                  <a:srgbClr val="5E6F66"/>
                </a:solidFill>
                <a:latin typeface="Segoe UI" pitchFamily="34" charset="0"/>
                <a:ea typeface="Segoe UI" pitchFamily="34" charset="-122"/>
                <a:cs typeface="Segoe UI" pitchFamily="34" charset="-120"/>
              </a:rPr>
              <a:t>Tanda awal serangan hama baru disadari setelah daun rusak. Mengenali jenis hama butuh pengalaman yang tidak dimiliki kebanyakan orang.</a:t>
            </a:r>
            <a:endParaRPr lang="en-US" sz="1050" dirty="0"/>
          </a:p>
        </p:txBody>
      </p:sp>
      <p:sp>
        <p:nvSpPr>
          <p:cNvPr id="29" name="Shape 27"/>
          <p:cNvSpPr/>
          <p:nvPr/>
        </p:nvSpPr>
        <p:spPr>
          <a:xfrm>
            <a:off x="8092440" y="4370832"/>
            <a:ext cx="320040" cy="32004"/>
          </a:xfrm>
          <a:prstGeom prst="rect">
            <a:avLst/>
          </a:prstGeom>
          <a:solidFill>
            <a:srgbClr val="C2603F"/>
          </a:solidFill>
          <a:ln/>
        </p:spPr>
      </p:sp>
      <p:sp>
        <p:nvSpPr>
          <p:cNvPr id="30" name="Text 28"/>
          <p:cNvSpPr txBox="1"/>
          <p:nvPr/>
        </p:nvSpPr>
        <p:spPr>
          <a:xfrm>
            <a:off x="8092440" y="4480560"/>
            <a:ext cx="3291840" cy="274320"/>
          </a:xfrm>
          <a:prstGeom prst="rect">
            <a:avLst/>
          </a:prstGeom>
          <a:noFill/>
          <a:ln/>
        </p:spPr>
        <p:txBody>
          <a:bodyPr wrap="square" lIns="0" tIns="0" rIns="0" bIns="0" rtlCol="0" anchor="ctr"/>
          <a:lstStyle/>
          <a:p>
            <a:pPr indent="0" marL="0">
              <a:buNone/>
            </a:pPr>
            <a:r>
              <a:rPr lang="en-US" sz="1250" b="1" dirty="0">
                <a:solidFill>
                  <a:srgbClr val="1C2B24"/>
                </a:solidFill>
                <a:latin typeface="Segoe UI" pitchFamily="34" charset="0"/>
                <a:ea typeface="Segoe UI" pitchFamily="34" charset="-122"/>
                <a:cs typeface="Segoe UI" pitchFamily="34" charset="-120"/>
              </a:rPr>
              <a:t>Solusi yang ada terlalu mahal</a:t>
            </a:r>
            <a:endParaRPr lang="en-US" sz="1250" dirty="0"/>
          </a:p>
        </p:txBody>
      </p:sp>
      <p:sp>
        <p:nvSpPr>
          <p:cNvPr id="31" name="Text 29"/>
          <p:cNvSpPr txBox="1"/>
          <p:nvPr/>
        </p:nvSpPr>
        <p:spPr>
          <a:xfrm>
            <a:off x="8092440" y="4773168"/>
            <a:ext cx="3291840" cy="274320"/>
          </a:xfrm>
          <a:prstGeom prst="rect">
            <a:avLst/>
          </a:prstGeom>
          <a:noFill/>
          <a:ln/>
        </p:spPr>
        <p:txBody>
          <a:bodyPr wrap="square" lIns="0" tIns="0" rIns="0" bIns="0" rtlCol="0" anchor="t"/>
          <a:lstStyle/>
          <a:p>
            <a:pPr indent="0" marL="0">
              <a:lnSpc>
                <a:spcPts val="1418"/>
              </a:lnSpc>
              <a:buNone/>
            </a:pPr>
            <a:r>
              <a:rPr lang="en-US" sz="1050" dirty="0">
                <a:solidFill>
                  <a:srgbClr val="5E6F66"/>
                </a:solidFill>
                <a:latin typeface="Segoe UI" pitchFamily="34" charset="0"/>
                <a:ea typeface="Segoe UI" pitchFamily="34" charset="-122"/>
                <a:cs typeface="Segoe UI" pitchFamily="34" charset="-120"/>
              </a:rPr>
              <a:t>Sistem smart farming komersial berbasis langganan cloud sulit dijangkau usaha perorangan yang jumlahnya hampir 30 juta unit.</a:t>
            </a:r>
            <a:endParaRPr lang="en-US" sz="1050" dirty="0"/>
          </a:p>
        </p:txBody>
      </p:sp>
      <p:sp>
        <p:nvSpPr>
          <p:cNvPr id="32" name="Text 30"/>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5E6F66"/>
                </a:solidFill>
                <a:latin typeface="Segoe UI" pitchFamily="34" charset="0"/>
                <a:ea typeface="Segoe UI" pitchFamily="34" charset="-122"/>
                <a:cs typeface="Segoe UI" pitchFamily="34" charset="-120"/>
              </a:rPr>
              <a:t>Flora-Gotchi  |  Tim Gerbang Logika</a:t>
            </a:r>
            <a:endParaRPr lang="en-US" sz="900" dirty="0"/>
          </a:p>
        </p:txBody>
      </p:sp>
      <p:sp>
        <p:nvSpPr>
          <p:cNvPr id="33" name="Text 31"/>
          <p:cNvSpPr txBox="1"/>
          <p:nvPr/>
        </p:nvSpPr>
        <p:spPr>
          <a:xfrm>
            <a:off x="11155680" y="6419088"/>
            <a:ext cx="548640" cy="228600"/>
          </a:xfrm>
          <a:prstGeom prst="rect">
            <a:avLst/>
          </a:prstGeom>
          <a:noFill/>
          <a:ln/>
        </p:spPr>
        <p:txBody>
          <a:bodyPr wrap="square" lIns="0" tIns="0" rIns="0" bIns="0" rtlCol="0" anchor="ctr"/>
          <a:lstStyle/>
          <a:p>
            <a:pPr algn="r" indent="0" marL="0">
              <a:buNone/>
            </a:pPr>
            <a:r>
              <a:rPr lang="en-US" sz="900" dirty="0">
                <a:solidFill>
                  <a:srgbClr val="5E6F66"/>
                </a:solidFill>
                <a:latin typeface="Segoe UI" pitchFamily="34" charset="0"/>
                <a:ea typeface="Segoe UI" pitchFamily="34" charset="-122"/>
                <a:cs typeface="Segoe U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51C"/>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8FC79A"/>
                </a:solidFill>
                <a:latin typeface="Segoe UI" pitchFamily="34" charset="0"/>
                <a:ea typeface="Segoe UI" pitchFamily="34" charset="-122"/>
                <a:cs typeface="Segoe UI" pitchFamily="34" charset="-120"/>
              </a:rPr>
              <a:t>KETERKAITAN SDG</a:t>
            </a:r>
            <a:endParaRPr lang="en-US" sz="1100" dirty="0"/>
          </a:p>
        </p:txBody>
      </p:sp>
      <p:sp>
        <p:nvSpPr>
          <p:cNvPr id="3" name="Text 1"/>
          <p:cNvSpPr txBox="1"/>
          <p:nvPr/>
        </p:nvSpPr>
        <p:spPr>
          <a:xfrm>
            <a:off x="548640" y="603504"/>
            <a:ext cx="11155680" cy="566928"/>
          </a:xfrm>
          <a:prstGeom prst="rect">
            <a:avLst/>
          </a:prstGeom>
          <a:noFill/>
          <a:ln/>
        </p:spPr>
        <p:txBody>
          <a:bodyPr wrap="square" lIns="0" tIns="0" rIns="0" bIns="0" rtlCol="0" anchor="ctr"/>
          <a:lstStyle/>
          <a:p>
            <a:pPr indent="0" marL="0">
              <a:buNone/>
            </a:pPr>
            <a:r>
              <a:rPr lang="en-US" sz="2600" b="1" dirty="0">
                <a:solidFill>
                  <a:srgbClr val="F7F4E9"/>
                </a:solidFill>
                <a:latin typeface="Georgia" pitchFamily="34" charset="0"/>
                <a:ea typeface="Georgia" pitchFamily="34" charset="-122"/>
                <a:cs typeface="Georgia" pitchFamily="34" charset="-120"/>
              </a:rPr>
              <a:t>Tiga tujuan, satu perangkat</a:t>
            </a:r>
            <a:endParaRPr lang="en-US" sz="2600" dirty="0"/>
          </a:p>
        </p:txBody>
      </p:sp>
      <p:sp>
        <p:nvSpPr>
          <p:cNvPr id="4" name="Shape 2"/>
          <p:cNvSpPr/>
          <p:nvPr/>
        </p:nvSpPr>
        <p:spPr>
          <a:xfrm>
            <a:off x="548640" y="1261872"/>
            <a:ext cx="822960" cy="41148"/>
          </a:xfrm>
          <a:prstGeom prst="rect">
            <a:avLst/>
          </a:prstGeom>
          <a:solidFill>
            <a:srgbClr val="8FC79A"/>
          </a:solidFill>
          <a:ln/>
        </p:spPr>
      </p:sp>
      <p:sp>
        <p:nvSpPr>
          <p:cNvPr id="5" name="Shape 3"/>
          <p:cNvSpPr/>
          <p:nvPr/>
        </p:nvSpPr>
        <p:spPr>
          <a:xfrm>
            <a:off x="548640" y="1691640"/>
            <a:ext cx="3520440" cy="3200400"/>
          </a:xfrm>
          <a:prstGeom prst="roundRect">
            <a:avLst>
              <a:gd name="adj" fmla="val 2571"/>
            </a:avLst>
          </a:prstGeom>
          <a:solidFill>
            <a:srgbClr val="16332A"/>
          </a:solidFill>
          <a:ln w="9525">
            <a:solidFill>
              <a:srgbClr val="2A4A3B"/>
            </a:solidFill>
            <a:prstDash val="solid"/>
          </a:ln>
        </p:spPr>
      </p:sp>
      <p:sp>
        <p:nvSpPr>
          <p:cNvPr id="6" name="Shape 4"/>
          <p:cNvSpPr/>
          <p:nvPr/>
        </p:nvSpPr>
        <p:spPr>
          <a:xfrm>
            <a:off x="822960" y="1965960"/>
            <a:ext cx="960120" cy="960120"/>
          </a:xfrm>
          <a:prstGeom prst="roundRect">
            <a:avLst>
              <a:gd name="adj" fmla="val 7619"/>
            </a:avLst>
          </a:prstGeom>
          <a:solidFill>
            <a:srgbClr val="3E7C4E"/>
          </a:solidFill>
          <a:ln/>
        </p:spPr>
      </p:sp>
      <p:sp>
        <p:nvSpPr>
          <p:cNvPr id="7" name="Text 5"/>
          <p:cNvSpPr txBox="1"/>
          <p:nvPr/>
        </p:nvSpPr>
        <p:spPr>
          <a:xfrm>
            <a:off x="822960" y="2148840"/>
            <a:ext cx="9601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2</a:t>
            </a:r>
            <a:endParaRPr lang="en-US" sz="3000" dirty="0"/>
          </a:p>
        </p:txBody>
      </p:sp>
      <p:sp>
        <p:nvSpPr>
          <p:cNvPr id="8" name="Text 6"/>
          <p:cNvSpPr txBox="1"/>
          <p:nvPr/>
        </p:nvSpPr>
        <p:spPr>
          <a:xfrm>
            <a:off x="822960" y="3035808"/>
            <a:ext cx="2971800" cy="457200"/>
          </a:xfrm>
          <a:prstGeom prst="rect">
            <a:avLst/>
          </a:prstGeom>
          <a:noFill/>
          <a:ln/>
        </p:spPr>
        <p:txBody>
          <a:bodyPr wrap="square" lIns="0" tIns="0" rIns="0" bIns="0" rtlCol="0" anchor="ctr"/>
          <a:lstStyle/>
          <a:p>
            <a:pPr indent="0" marL="0">
              <a:buNone/>
            </a:pPr>
            <a:r>
              <a:rPr lang="en-US" sz="1500" b="1" dirty="0">
                <a:solidFill>
                  <a:srgbClr val="F7F4E9"/>
                </a:solidFill>
                <a:latin typeface="Georgia" pitchFamily="34" charset="0"/>
                <a:ea typeface="Georgia" pitchFamily="34" charset="-122"/>
                <a:cs typeface="Georgia" pitchFamily="34" charset="-120"/>
              </a:rPr>
              <a:t>Zero Hunger</a:t>
            </a:r>
            <a:endParaRPr lang="en-US" sz="1500" dirty="0"/>
          </a:p>
        </p:txBody>
      </p:sp>
      <p:sp>
        <p:nvSpPr>
          <p:cNvPr id="9" name="Text 7"/>
          <p:cNvSpPr txBox="1"/>
          <p:nvPr/>
        </p:nvSpPr>
        <p:spPr>
          <a:xfrm>
            <a:off x="822960" y="3529584"/>
            <a:ext cx="2971800" cy="228600"/>
          </a:xfrm>
          <a:prstGeom prst="rect">
            <a:avLst/>
          </a:prstGeom>
          <a:noFill/>
          <a:ln/>
        </p:spPr>
        <p:txBody>
          <a:bodyPr wrap="square" lIns="0" tIns="0" rIns="0" bIns="0" rtlCol="0" anchor="ctr"/>
          <a:lstStyle/>
          <a:p>
            <a:pPr indent="0" marL="0">
              <a:buNone/>
            </a:pPr>
            <a:r>
              <a:rPr lang="en-US" sz="1000" b="1" dirty="0">
                <a:solidFill>
                  <a:srgbClr val="8FC79A"/>
                </a:solidFill>
                <a:latin typeface="Segoe UI" pitchFamily="34" charset="0"/>
                <a:ea typeface="Segoe UI" pitchFamily="34" charset="-122"/>
                <a:cs typeface="Segoe UI" pitchFamily="34" charset="-120"/>
              </a:rPr>
              <a:t>Target 2.4</a:t>
            </a:r>
            <a:endParaRPr lang="en-US" sz="1000" dirty="0"/>
          </a:p>
        </p:txBody>
      </p:sp>
      <p:sp>
        <p:nvSpPr>
          <p:cNvPr id="10" name="Text 8"/>
          <p:cNvSpPr txBox="1"/>
          <p:nvPr/>
        </p:nvSpPr>
        <p:spPr>
          <a:xfrm>
            <a:off x="822960" y="3803904"/>
            <a:ext cx="2971800" cy="274320"/>
          </a:xfrm>
          <a:prstGeom prst="rect">
            <a:avLst/>
          </a:prstGeom>
          <a:noFill/>
          <a:ln/>
        </p:spPr>
        <p:txBody>
          <a:bodyPr wrap="square" lIns="0" tIns="0" rIns="0" bIns="0" rtlCol="0" anchor="t"/>
          <a:lstStyle/>
          <a:p>
            <a:pPr indent="0" marL="0">
              <a:lnSpc>
                <a:spcPts val="1485"/>
              </a:lnSpc>
              <a:buNone/>
            </a:pPr>
            <a:r>
              <a:rPr lang="en-US" sz="1100" dirty="0">
                <a:solidFill>
                  <a:srgbClr val="AFC2B4"/>
                </a:solidFill>
                <a:latin typeface="Segoe UI" pitchFamily="34" charset="0"/>
                <a:ea typeface="Segoe UI" pitchFamily="34" charset="-122"/>
                <a:cs typeface="Segoe UI" pitchFamily="34" charset="-120"/>
              </a:rPr>
              <a:t>Menjaga produktivitas tanaman lewat perawatan yang konsisten dan terukur, pada skala rumah tangga dan urban farming.</a:t>
            </a:r>
            <a:endParaRPr lang="en-US" sz="1100" dirty="0"/>
          </a:p>
        </p:txBody>
      </p:sp>
      <p:sp>
        <p:nvSpPr>
          <p:cNvPr id="11" name="Shape 9"/>
          <p:cNvSpPr/>
          <p:nvPr/>
        </p:nvSpPr>
        <p:spPr>
          <a:xfrm>
            <a:off x="4315968" y="1691640"/>
            <a:ext cx="3520440" cy="3200400"/>
          </a:xfrm>
          <a:prstGeom prst="roundRect">
            <a:avLst>
              <a:gd name="adj" fmla="val 2571"/>
            </a:avLst>
          </a:prstGeom>
          <a:solidFill>
            <a:srgbClr val="16332A"/>
          </a:solidFill>
          <a:ln w="9525">
            <a:solidFill>
              <a:srgbClr val="2A4A3B"/>
            </a:solidFill>
            <a:prstDash val="solid"/>
          </a:ln>
        </p:spPr>
      </p:sp>
      <p:sp>
        <p:nvSpPr>
          <p:cNvPr id="12" name="Shape 10"/>
          <p:cNvSpPr/>
          <p:nvPr/>
        </p:nvSpPr>
        <p:spPr>
          <a:xfrm>
            <a:off x="4590288" y="1965960"/>
            <a:ext cx="960120" cy="960120"/>
          </a:xfrm>
          <a:prstGeom prst="roundRect">
            <a:avLst>
              <a:gd name="adj" fmla="val 7619"/>
            </a:avLst>
          </a:prstGeom>
          <a:solidFill>
            <a:srgbClr val="B07C2E"/>
          </a:solidFill>
          <a:ln/>
        </p:spPr>
      </p:sp>
      <p:sp>
        <p:nvSpPr>
          <p:cNvPr id="13" name="Text 11"/>
          <p:cNvSpPr txBox="1"/>
          <p:nvPr/>
        </p:nvSpPr>
        <p:spPr>
          <a:xfrm>
            <a:off x="4590288" y="2148840"/>
            <a:ext cx="9601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12</a:t>
            </a:r>
            <a:endParaRPr lang="en-US" sz="3000" dirty="0"/>
          </a:p>
        </p:txBody>
      </p:sp>
      <p:sp>
        <p:nvSpPr>
          <p:cNvPr id="14" name="Text 12"/>
          <p:cNvSpPr txBox="1"/>
          <p:nvPr/>
        </p:nvSpPr>
        <p:spPr>
          <a:xfrm>
            <a:off x="4590288" y="3035808"/>
            <a:ext cx="2971800" cy="457200"/>
          </a:xfrm>
          <a:prstGeom prst="rect">
            <a:avLst/>
          </a:prstGeom>
          <a:noFill/>
          <a:ln/>
        </p:spPr>
        <p:txBody>
          <a:bodyPr wrap="square" lIns="0" tIns="0" rIns="0" bIns="0" rtlCol="0" anchor="ctr"/>
          <a:lstStyle/>
          <a:p>
            <a:pPr indent="0" marL="0">
              <a:buNone/>
            </a:pPr>
            <a:r>
              <a:rPr lang="en-US" sz="1500" b="1" dirty="0">
                <a:solidFill>
                  <a:srgbClr val="F7F4E9"/>
                </a:solidFill>
                <a:latin typeface="Georgia" pitchFamily="34" charset="0"/>
                <a:ea typeface="Georgia" pitchFamily="34" charset="-122"/>
                <a:cs typeface="Georgia" pitchFamily="34" charset="-120"/>
              </a:rPr>
              <a:t>Responsible Consumption</a:t>
            </a:r>
            <a:endParaRPr lang="en-US" sz="1500" dirty="0"/>
          </a:p>
        </p:txBody>
      </p:sp>
      <p:sp>
        <p:nvSpPr>
          <p:cNvPr id="15" name="Text 13"/>
          <p:cNvSpPr txBox="1"/>
          <p:nvPr/>
        </p:nvSpPr>
        <p:spPr>
          <a:xfrm>
            <a:off x="4590288" y="3529584"/>
            <a:ext cx="2971800" cy="228600"/>
          </a:xfrm>
          <a:prstGeom prst="rect">
            <a:avLst/>
          </a:prstGeom>
          <a:noFill/>
          <a:ln/>
        </p:spPr>
        <p:txBody>
          <a:bodyPr wrap="square" lIns="0" tIns="0" rIns="0" bIns="0" rtlCol="0" anchor="ctr"/>
          <a:lstStyle/>
          <a:p>
            <a:pPr indent="0" marL="0">
              <a:buNone/>
            </a:pPr>
            <a:r>
              <a:rPr lang="en-US" sz="1000" b="1" dirty="0">
                <a:solidFill>
                  <a:srgbClr val="8FC79A"/>
                </a:solidFill>
                <a:latin typeface="Segoe UI" pitchFamily="34" charset="0"/>
                <a:ea typeface="Segoe UI" pitchFamily="34" charset="-122"/>
                <a:cs typeface="Segoe UI" pitchFamily="34" charset="-120"/>
              </a:rPr>
              <a:t>Target 12.2</a:t>
            </a:r>
            <a:endParaRPr lang="en-US" sz="1000" dirty="0"/>
          </a:p>
        </p:txBody>
      </p:sp>
      <p:sp>
        <p:nvSpPr>
          <p:cNvPr id="16" name="Text 14"/>
          <p:cNvSpPr txBox="1"/>
          <p:nvPr/>
        </p:nvSpPr>
        <p:spPr>
          <a:xfrm>
            <a:off x="4590288" y="3803904"/>
            <a:ext cx="2971800" cy="274320"/>
          </a:xfrm>
          <a:prstGeom prst="rect">
            <a:avLst/>
          </a:prstGeom>
          <a:noFill/>
          <a:ln/>
        </p:spPr>
        <p:txBody>
          <a:bodyPr wrap="square" lIns="0" tIns="0" rIns="0" bIns="0" rtlCol="0" anchor="t"/>
          <a:lstStyle/>
          <a:p>
            <a:pPr indent="0" marL="0">
              <a:lnSpc>
                <a:spcPts val="1485"/>
              </a:lnSpc>
              <a:buNone/>
            </a:pPr>
            <a:r>
              <a:rPr lang="en-US" sz="1100" dirty="0">
                <a:solidFill>
                  <a:srgbClr val="AFC2B4"/>
                </a:solidFill>
                <a:latin typeface="Segoe UI" pitchFamily="34" charset="0"/>
                <a:ea typeface="Segoe UI" pitchFamily="34" charset="-122"/>
                <a:cs typeface="Segoe UI" pitchFamily="34" charset="-120"/>
              </a:rPr>
              <a:t>Air keluar hanya ketika tanah benar-benar kering, dengan verifikasi setelah penyiraman agar tidak ada air terbuang percuma.</a:t>
            </a:r>
            <a:endParaRPr lang="en-US" sz="1100" dirty="0"/>
          </a:p>
        </p:txBody>
      </p:sp>
      <p:sp>
        <p:nvSpPr>
          <p:cNvPr id="17" name="Shape 15"/>
          <p:cNvSpPr/>
          <p:nvPr/>
        </p:nvSpPr>
        <p:spPr>
          <a:xfrm>
            <a:off x="8083296" y="1691640"/>
            <a:ext cx="3520440" cy="3200400"/>
          </a:xfrm>
          <a:prstGeom prst="roundRect">
            <a:avLst>
              <a:gd name="adj" fmla="val 2571"/>
            </a:avLst>
          </a:prstGeom>
          <a:solidFill>
            <a:srgbClr val="16332A"/>
          </a:solidFill>
          <a:ln w="9525">
            <a:solidFill>
              <a:srgbClr val="2A4A3B"/>
            </a:solidFill>
            <a:prstDash val="solid"/>
          </a:ln>
        </p:spPr>
      </p:sp>
      <p:sp>
        <p:nvSpPr>
          <p:cNvPr id="18" name="Shape 16"/>
          <p:cNvSpPr/>
          <p:nvPr/>
        </p:nvSpPr>
        <p:spPr>
          <a:xfrm>
            <a:off x="8357616" y="1965960"/>
            <a:ext cx="960120" cy="960120"/>
          </a:xfrm>
          <a:prstGeom prst="roundRect">
            <a:avLst>
              <a:gd name="adj" fmla="val 7619"/>
            </a:avLst>
          </a:prstGeom>
          <a:solidFill>
            <a:srgbClr val="2E6B7C"/>
          </a:solidFill>
          <a:ln/>
        </p:spPr>
      </p:sp>
      <p:sp>
        <p:nvSpPr>
          <p:cNvPr id="19" name="Text 17"/>
          <p:cNvSpPr txBox="1"/>
          <p:nvPr/>
        </p:nvSpPr>
        <p:spPr>
          <a:xfrm>
            <a:off x="8357616" y="2148840"/>
            <a:ext cx="9601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15</a:t>
            </a:r>
            <a:endParaRPr lang="en-US" sz="3000" dirty="0"/>
          </a:p>
        </p:txBody>
      </p:sp>
      <p:sp>
        <p:nvSpPr>
          <p:cNvPr id="20" name="Text 18"/>
          <p:cNvSpPr txBox="1"/>
          <p:nvPr/>
        </p:nvSpPr>
        <p:spPr>
          <a:xfrm>
            <a:off x="8357616" y="3035808"/>
            <a:ext cx="2971800" cy="457200"/>
          </a:xfrm>
          <a:prstGeom prst="rect">
            <a:avLst/>
          </a:prstGeom>
          <a:noFill/>
          <a:ln/>
        </p:spPr>
        <p:txBody>
          <a:bodyPr wrap="square" lIns="0" tIns="0" rIns="0" bIns="0" rtlCol="0" anchor="ctr"/>
          <a:lstStyle/>
          <a:p>
            <a:pPr indent="0" marL="0">
              <a:buNone/>
            </a:pPr>
            <a:r>
              <a:rPr lang="en-US" sz="1500" b="1" dirty="0">
                <a:solidFill>
                  <a:srgbClr val="F7F4E9"/>
                </a:solidFill>
                <a:latin typeface="Georgia" pitchFamily="34" charset="0"/>
                <a:ea typeface="Georgia" pitchFamily="34" charset="-122"/>
                <a:cs typeface="Georgia" pitchFamily="34" charset="-120"/>
              </a:rPr>
              <a:t>Life on Land</a:t>
            </a:r>
            <a:endParaRPr lang="en-US" sz="1500" dirty="0"/>
          </a:p>
        </p:txBody>
      </p:sp>
      <p:sp>
        <p:nvSpPr>
          <p:cNvPr id="21" name="Text 19"/>
          <p:cNvSpPr txBox="1"/>
          <p:nvPr/>
        </p:nvSpPr>
        <p:spPr>
          <a:xfrm>
            <a:off x="8357616" y="3529584"/>
            <a:ext cx="2971800" cy="228600"/>
          </a:xfrm>
          <a:prstGeom prst="rect">
            <a:avLst/>
          </a:prstGeom>
          <a:noFill/>
          <a:ln/>
        </p:spPr>
        <p:txBody>
          <a:bodyPr wrap="square" lIns="0" tIns="0" rIns="0" bIns="0" rtlCol="0" anchor="ctr"/>
          <a:lstStyle/>
          <a:p>
            <a:pPr indent="0" marL="0">
              <a:buNone/>
            </a:pPr>
            <a:r>
              <a:rPr lang="en-US" sz="1000" b="1" dirty="0">
                <a:solidFill>
                  <a:srgbClr val="8FC79A"/>
                </a:solidFill>
                <a:latin typeface="Segoe UI" pitchFamily="34" charset="0"/>
                <a:ea typeface="Segoe UI" pitchFamily="34" charset="-122"/>
                <a:cs typeface="Segoe UI" pitchFamily="34" charset="-120"/>
              </a:rPr>
              <a:t>Target 15.3</a:t>
            </a:r>
            <a:endParaRPr lang="en-US" sz="1000" dirty="0"/>
          </a:p>
        </p:txBody>
      </p:sp>
      <p:sp>
        <p:nvSpPr>
          <p:cNvPr id="22" name="Text 20"/>
          <p:cNvSpPr txBox="1"/>
          <p:nvPr/>
        </p:nvSpPr>
        <p:spPr>
          <a:xfrm>
            <a:off x="8357616" y="3803904"/>
            <a:ext cx="2971800" cy="274320"/>
          </a:xfrm>
          <a:prstGeom prst="rect">
            <a:avLst/>
          </a:prstGeom>
          <a:noFill/>
          <a:ln/>
        </p:spPr>
        <p:txBody>
          <a:bodyPr wrap="square" lIns="0" tIns="0" rIns="0" bIns="0" rtlCol="0" anchor="t"/>
          <a:lstStyle/>
          <a:p>
            <a:pPr indent="0" marL="0">
              <a:lnSpc>
                <a:spcPts val="1485"/>
              </a:lnSpc>
              <a:buNone/>
            </a:pPr>
            <a:r>
              <a:rPr lang="en-US" sz="1100" dirty="0">
                <a:solidFill>
                  <a:srgbClr val="AFC2B4"/>
                </a:solidFill>
                <a:latin typeface="Segoe UI" pitchFamily="34" charset="0"/>
                <a:ea typeface="Segoe UI" pitchFamily="34" charset="-122"/>
                <a:cs typeface="Segoe UI" pitchFamily="34" charset="-120"/>
              </a:rPr>
              <a:t>Deteksi dini hama menekan kerusakan vegetasi dan mengurangi pemakaian pestisida yang tidak perlu karena serangan dikenali lebih awal.</a:t>
            </a:r>
            <a:endParaRPr lang="en-US" sz="1100" dirty="0"/>
          </a:p>
        </p:txBody>
      </p:sp>
      <p:sp>
        <p:nvSpPr>
          <p:cNvPr id="23" name="Shape 21"/>
          <p:cNvSpPr/>
          <p:nvPr/>
        </p:nvSpPr>
        <p:spPr>
          <a:xfrm>
            <a:off x="548640" y="5120640"/>
            <a:ext cx="11109960" cy="868680"/>
          </a:xfrm>
          <a:prstGeom prst="roundRect">
            <a:avLst>
              <a:gd name="adj" fmla="val 8421"/>
            </a:avLst>
          </a:prstGeom>
          <a:solidFill>
            <a:srgbClr val="16332A"/>
          </a:solidFill>
          <a:ln w="9525">
            <a:solidFill>
              <a:srgbClr val="2A4A3B"/>
            </a:solidFill>
            <a:prstDash val="solid"/>
          </a:ln>
        </p:spPr>
      </p:sp>
      <p:sp>
        <p:nvSpPr>
          <p:cNvPr id="24" name="Text 22"/>
          <p:cNvSpPr txBox="1"/>
          <p:nvPr/>
        </p:nvSpPr>
        <p:spPr>
          <a:xfrm>
            <a:off x="868680" y="5285232"/>
            <a:ext cx="10424160" cy="548640"/>
          </a:xfrm>
          <a:prstGeom prst="rect">
            <a:avLst/>
          </a:prstGeom>
          <a:noFill/>
          <a:ln/>
        </p:spPr>
        <p:txBody>
          <a:bodyPr wrap="square" lIns="0" tIns="0" rIns="0" bIns="0" rtlCol="0" anchor="ctr"/>
          <a:lstStyle/>
          <a:p>
            <a:pPr indent="0" marL="0">
              <a:lnSpc>
                <a:spcPts val="1700"/>
              </a:lnSpc>
              <a:buNone/>
            </a:pPr>
            <a:r>
              <a:rPr lang="en-US" sz="1200" dirty="0">
                <a:solidFill>
                  <a:srgbClr val="C7D6CB"/>
                </a:solidFill>
                <a:latin typeface="Segoe UI" pitchFamily="34" charset="0"/>
                <a:ea typeface="Segoe UI" pitchFamily="34" charset="-122"/>
                <a:cs typeface="Segoe UI" pitchFamily="34" charset="-120"/>
              </a:rPr>
              <a:t>Satu siklus penyiraman kami berdurasi 4 detik dan hanya dipicu setelah dua pembacaan kering berturut-turut, lalu diverifikasi ulang. Efisiensi air bukan klaim, melainkan hasil dari logika program yang bisa ditunjukkan barisnya.</a:t>
            </a:r>
            <a:endParaRPr lang="en-US" sz="1200" dirty="0"/>
          </a:p>
        </p:txBody>
      </p:sp>
      <p:sp>
        <p:nvSpPr>
          <p:cNvPr id="25" name="Text 23"/>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E8A7B"/>
                </a:solidFill>
                <a:latin typeface="Segoe UI" pitchFamily="34" charset="0"/>
                <a:ea typeface="Segoe UI" pitchFamily="34" charset="-122"/>
                <a:cs typeface="Segoe UI" pitchFamily="34" charset="-120"/>
              </a:rPr>
              <a:t>Flora-Gotchi  |  Tim Gerbang Logika</a:t>
            </a:r>
            <a:endParaRPr lang="en-US" sz="900" dirty="0"/>
          </a:p>
        </p:txBody>
      </p:sp>
      <p:sp>
        <p:nvSpPr>
          <p:cNvPr id="26" name="Text 24"/>
          <p:cNvSpPr txBox="1"/>
          <p:nvPr/>
        </p:nvSpPr>
        <p:spPr>
          <a:xfrm>
            <a:off x="11155680" y="6419088"/>
            <a:ext cx="548640" cy="228600"/>
          </a:xfrm>
          <a:prstGeom prst="rect">
            <a:avLst/>
          </a:prstGeom>
          <a:noFill/>
          <a:ln/>
        </p:spPr>
        <p:txBody>
          <a:bodyPr wrap="square" lIns="0" tIns="0" rIns="0" bIns="0" rtlCol="0" anchor="ctr"/>
          <a:lstStyle/>
          <a:p>
            <a:pPr algn="r" indent="0" marL="0">
              <a:buNone/>
            </a:pPr>
            <a:r>
              <a:rPr lang="en-US" sz="900" dirty="0">
                <a:solidFill>
                  <a:srgbClr val="6E8A7B"/>
                </a:solidFill>
                <a:latin typeface="Segoe UI" pitchFamily="34" charset="0"/>
                <a:ea typeface="Segoe UI" pitchFamily="34" charset="-122"/>
                <a:cs typeface="Segoe U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9"/>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E9A63"/>
                </a:solidFill>
                <a:latin typeface="Segoe UI" pitchFamily="34" charset="0"/>
                <a:ea typeface="Segoe UI" pitchFamily="34" charset="-122"/>
                <a:cs typeface="Segoe UI" pitchFamily="34" charset="-120"/>
              </a:rPr>
              <a:t>CARA KERJA</a:t>
            </a:r>
            <a:endParaRPr lang="en-US" sz="1100" dirty="0"/>
          </a:p>
        </p:txBody>
      </p:sp>
      <p:sp>
        <p:nvSpPr>
          <p:cNvPr id="3" name="Text 1"/>
          <p:cNvSpPr txBox="1"/>
          <p:nvPr/>
        </p:nvSpPr>
        <p:spPr>
          <a:xfrm>
            <a:off x="548640" y="603504"/>
            <a:ext cx="11155680" cy="566928"/>
          </a:xfrm>
          <a:prstGeom prst="rect">
            <a:avLst/>
          </a:prstGeom>
          <a:noFill/>
          <a:ln/>
        </p:spPr>
        <p:txBody>
          <a:bodyPr wrap="square" lIns="0" tIns="0" rIns="0" bIns="0" rtlCol="0" anchor="ctr"/>
          <a:lstStyle/>
          <a:p>
            <a:pPr indent="0" marL="0">
              <a:buNone/>
            </a:pPr>
            <a:r>
              <a:rPr lang="en-US" sz="2600" b="1" dirty="0">
                <a:solidFill>
                  <a:srgbClr val="1C2B24"/>
                </a:solidFill>
                <a:latin typeface="Georgia" pitchFamily="34" charset="0"/>
                <a:ea typeface="Georgia" pitchFamily="34" charset="-122"/>
                <a:cs typeface="Georgia" pitchFamily="34" charset="-120"/>
              </a:rPr>
              <a:t>Lima lapisan yang saling terhubung</a:t>
            </a:r>
            <a:endParaRPr lang="en-US" sz="2600" dirty="0"/>
          </a:p>
        </p:txBody>
      </p:sp>
      <p:sp>
        <p:nvSpPr>
          <p:cNvPr id="4" name="Shape 2"/>
          <p:cNvSpPr/>
          <p:nvPr/>
        </p:nvSpPr>
        <p:spPr>
          <a:xfrm>
            <a:off x="548640" y="1261872"/>
            <a:ext cx="822960" cy="41148"/>
          </a:xfrm>
          <a:prstGeom prst="rect">
            <a:avLst/>
          </a:prstGeom>
          <a:solidFill>
            <a:srgbClr val="4E9A63"/>
          </a:solidFill>
          <a:ln/>
        </p:spPr>
      </p:sp>
      <p:sp>
        <p:nvSpPr>
          <p:cNvPr id="5" name="Shape 3"/>
          <p:cNvSpPr/>
          <p:nvPr/>
        </p:nvSpPr>
        <p:spPr>
          <a:xfrm>
            <a:off x="548640" y="1645920"/>
            <a:ext cx="2057400" cy="2788920"/>
          </a:xfrm>
          <a:prstGeom prst="roundRect">
            <a:avLst>
              <a:gd name="adj" fmla="val 4000"/>
            </a:avLst>
          </a:prstGeom>
          <a:solidFill>
            <a:srgbClr val="FFFFFF"/>
          </a:solidFill>
          <a:ln w="9525">
            <a:solidFill>
              <a:srgbClr val="D8D5C4"/>
            </a:solidFill>
            <a:prstDash val="solid"/>
          </a:ln>
        </p:spPr>
      </p:sp>
      <p:sp>
        <p:nvSpPr>
          <p:cNvPr id="6" name="Shape 4"/>
          <p:cNvSpPr/>
          <p:nvPr/>
        </p:nvSpPr>
        <p:spPr>
          <a:xfrm>
            <a:off x="548640" y="1645920"/>
            <a:ext cx="2057400" cy="73152"/>
          </a:xfrm>
          <a:prstGeom prst="rect">
            <a:avLst/>
          </a:prstGeom>
          <a:solidFill>
            <a:srgbClr val="4E9A63"/>
          </a:solidFill>
          <a:ln/>
        </p:spPr>
      </p:sp>
      <p:sp>
        <p:nvSpPr>
          <p:cNvPr id="7" name="Text 5"/>
          <p:cNvSpPr txBox="1"/>
          <p:nvPr/>
        </p:nvSpPr>
        <p:spPr>
          <a:xfrm>
            <a:off x="731520" y="1874520"/>
            <a:ext cx="1645920" cy="365760"/>
          </a:xfrm>
          <a:prstGeom prst="rect">
            <a:avLst/>
          </a:prstGeom>
          <a:noFill/>
          <a:ln/>
        </p:spPr>
        <p:txBody>
          <a:bodyPr wrap="square" lIns="0" tIns="0" rIns="0" bIns="0" rtlCol="0" anchor="ctr"/>
          <a:lstStyle/>
          <a:p>
            <a:pPr indent="0" marL="0">
              <a:buNone/>
            </a:pPr>
            <a:r>
              <a:rPr lang="en-US" sz="2200" b="1" dirty="0">
                <a:solidFill>
                  <a:srgbClr val="C9D3C9"/>
                </a:solidFill>
                <a:latin typeface="Georgia" pitchFamily="34" charset="0"/>
                <a:ea typeface="Georgia" pitchFamily="34" charset="-122"/>
                <a:cs typeface="Georgia" pitchFamily="34" charset="-120"/>
              </a:rPr>
              <a:t>01</a:t>
            </a:r>
            <a:endParaRPr lang="en-US" sz="2200" dirty="0"/>
          </a:p>
        </p:txBody>
      </p:sp>
      <p:sp>
        <p:nvSpPr>
          <p:cNvPr id="8" name="Text 6"/>
          <p:cNvSpPr txBox="1"/>
          <p:nvPr/>
        </p:nvSpPr>
        <p:spPr>
          <a:xfrm>
            <a:off x="731520" y="2304288"/>
            <a:ext cx="1737360" cy="274320"/>
          </a:xfrm>
          <a:prstGeom prst="rect">
            <a:avLst/>
          </a:prstGeom>
          <a:noFill/>
          <a:ln/>
        </p:spPr>
        <p:txBody>
          <a:bodyPr wrap="square" lIns="0" tIns="0" rIns="0" bIns="0" rtlCol="0" anchor="ctr"/>
          <a:lstStyle/>
          <a:p>
            <a:pPr indent="0" marL="0">
              <a:buNone/>
            </a:pPr>
            <a:r>
              <a:rPr lang="en-US" sz="1200" b="1" spc="100" kern="0" dirty="0">
                <a:solidFill>
                  <a:srgbClr val="1C2B24"/>
                </a:solidFill>
                <a:latin typeface="Segoe UI" pitchFamily="34" charset="0"/>
                <a:ea typeface="Segoe UI" pitchFamily="34" charset="-122"/>
                <a:cs typeface="Segoe UI" pitchFamily="34" charset="-120"/>
              </a:rPr>
              <a:t>SENSING</a:t>
            </a:r>
            <a:endParaRPr lang="en-US" sz="1200" dirty="0"/>
          </a:p>
        </p:txBody>
      </p:sp>
      <p:sp>
        <p:nvSpPr>
          <p:cNvPr id="9" name="Text 7"/>
          <p:cNvSpPr txBox="1"/>
          <p:nvPr/>
        </p:nvSpPr>
        <p:spPr>
          <a:xfrm>
            <a:off x="731520" y="2633472"/>
            <a:ext cx="1737360" cy="274320"/>
          </a:xfrm>
          <a:prstGeom prst="rect">
            <a:avLst/>
          </a:prstGeom>
          <a:noFill/>
          <a:ln/>
        </p:spPr>
        <p:txBody>
          <a:bodyPr wrap="square" lIns="0" tIns="0" rIns="0" bIns="0" rtlCol="0" anchor="t"/>
          <a:lstStyle/>
          <a:p>
            <a:pPr indent="0" marL="0">
              <a:lnSpc>
                <a:spcPts val="1350"/>
              </a:lnSpc>
              <a:buNone/>
            </a:pPr>
            <a:r>
              <a:rPr lang="en-US" sz="1000" dirty="0">
                <a:solidFill>
                  <a:srgbClr val="5E6F66"/>
                </a:solidFill>
                <a:latin typeface="Segoe UI" pitchFamily="34" charset="0"/>
                <a:ea typeface="Segoe UI" pitchFamily="34" charset="-122"/>
                <a:cs typeface="Segoe UI" pitchFamily="34" charset="-120"/>
              </a:rPr>
              <a:t>Capacitive Soil Moisture v2.0, DHT11, dan LDR membaca tanah, suhu, kelembapan udara, dan cahaya.</a:t>
            </a:r>
            <a:endParaRPr lang="en-US" sz="1000" dirty="0"/>
          </a:p>
        </p:txBody>
      </p:sp>
      <p:sp>
        <p:nvSpPr>
          <p:cNvPr id="10" name="Text 8"/>
          <p:cNvSpPr txBox="1"/>
          <p:nvPr/>
        </p:nvSpPr>
        <p:spPr>
          <a:xfrm>
            <a:off x="2578608" y="2743200"/>
            <a:ext cx="274320" cy="365760"/>
          </a:xfrm>
          <a:prstGeom prst="rect">
            <a:avLst/>
          </a:prstGeom>
          <a:noFill/>
          <a:ln/>
        </p:spPr>
        <p:txBody>
          <a:bodyPr wrap="square" lIns="0" tIns="0" rIns="0" bIns="0" rtlCol="0" anchor="ctr"/>
          <a:lstStyle/>
          <a:p>
            <a:pPr algn="ctr" indent="0" marL="0">
              <a:buNone/>
            </a:pPr>
            <a:r>
              <a:rPr lang="en-US" sz="2000" b="1" dirty="0">
                <a:solidFill>
                  <a:srgbClr val="4E9A63"/>
                </a:solidFill>
                <a:latin typeface="Segoe UI" pitchFamily="34" charset="0"/>
                <a:ea typeface="Segoe UI" pitchFamily="34" charset="-122"/>
                <a:cs typeface="Segoe UI" pitchFamily="34" charset="-120"/>
              </a:rPr>
              <a:t>›</a:t>
            </a:r>
            <a:endParaRPr lang="en-US" sz="2000" dirty="0"/>
          </a:p>
        </p:txBody>
      </p:sp>
      <p:sp>
        <p:nvSpPr>
          <p:cNvPr id="11" name="Shape 9"/>
          <p:cNvSpPr/>
          <p:nvPr/>
        </p:nvSpPr>
        <p:spPr>
          <a:xfrm>
            <a:off x="2807208" y="1645920"/>
            <a:ext cx="2057400" cy="2788920"/>
          </a:xfrm>
          <a:prstGeom prst="roundRect">
            <a:avLst>
              <a:gd name="adj" fmla="val 4000"/>
            </a:avLst>
          </a:prstGeom>
          <a:solidFill>
            <a:srgbClr val="FFFFFF"/>
          </a:solidFill>
          <a:ln w="9525">
            <a:solidFill>
              <a:srgbClr val="D8D5C4"/>
            </a:solidFill>
            <a:prstDash val="solid"/>
          </a:ln>
        </p:spPr>
      </p:sp>
      <p:sp>
        <p:nvSpPr>
          <p:cNvPr id="12" name="Shape 10"/>
          <p:cNvSpPr/>
          <p:nvPr/>
        </p:nvSpPr>
        <p:spPr>
          <a:xfrm>
            <a:off x="2807208" y="1645920"/>
            <a:ext cx="2057400" cy="73152"/>
          </a:xfrm>
          <a:prstGeom prst="rect">
            <a:avLst/>
          </a:prstGeom>
          <a:solidFill>
            <a:srgbClr val="4E9A63"/>
          </a:solidFill>
          <a:ln/>
        </p:spPr>
      </p:sp>
      <p:sp>
        <p:nvSpPr>
          <p:cNvPr id="13" name="Text 11"/>
          <p:cNvSpPr txBox="1"/>
          <p:nvPr/>
        </p:nvSpPr>
        <p:spPr>
          <a:xfrm>
            <a:off x="2990088" y="1874520"/>
            <a:ext cx="1645920" cy="365760"/>
          </a:xfrm>
          <a:prstGeom prst="rect">
            <a:avLst/>
          </a:prstGeom>
          <a:noFill/>
          <a:ln/>
        </p:spPr>
        <p:txBody>
          <a:bodyPr wrap="square" lIns="0" tIns="0" rIns="0" bIns="0" rtlCol="0" anchor="ctr"/>
          <a:lstStyle/>
          <a:p>
            <a:pPr indent="0" marL="0">
              <a:buNone/>
            </a:pPr>
            <a:r>
              <a:rPr lang="en-US" sz="2200" b="1" dirty="0">
                <a:solidFill>
                  <a:srgbClr val="C9D3C9"/>
                </a:solidFill>
                <a:latin typeface="Georgia" pitchFamily="34" charset="0"/>
                <a:ea typeface="Georgia" pitchFamily="34" charset="-122"/>
                <a:cs typeface="Georgia" pitchFamily="34" charset="-120"/>
              </a:rPr>
              <a:t>02</a:t>
            </a:r>
            <a:endParaRPr lang="en-US" sz="2200" dirty="0"/>
          </a:p>
        </p:txBody>
      </p:sp>
      <p:sp>
        <p:nvSpPr>
          <p:cNvPr id="14" name="Text 12"/>
          <p:cNvSpPr txBox="1"/>
          <p:nvPr/>
        </p:nvSpPr>
        <p:spPr>
          <a:xfrm>
            <a:off x="2990088" y="2304288"/>
            <a:ext cx="1737360" cy="274320"/>
          </a:xfrm>
          <a:prstGeom prst="rect">
            <a:avLst/>
          </a:prstGeom>
          <a:noFill/>
          <a:ln/>
        </p:spPr>
        <p:txBody>
          <a:bodyPr wrap="square" lIns="0" tIns="0" rIns="0" bIns="0" rtlCol="0" anchor="ctr"/>
          <a:lstStyle/>
          <a:p>
            <a:pPr indent="0" marL="0">
              <a:buNone/>
            </a:pPr>
            <a:r>
              <a:rPr lang="en-US" sz="1200" b="1" spc="100" kern="0" dirty="0">
                <a:solidFill>
                  <a:srgbClr val="1C2B24"/>
                </a:solidFill>
                <a:latin typeface="Segoe UI" pitchFamily="34" charset="0"/>
                <a:ea typeface="Segoe UI" pitchFamily="34" charset="-122"/>
                <a:cs typeface="Segoe UI" pitchFamily="34" charset="-120"/>
              </a:rPr>
              <a:t>PROCESSING</a:t>
            </a:r>
            <a:endParaRPr lang="en-US" sz="1200" dirty="0"/>
          </a:p>
        </p:txBody>
      </p:sp>
      <p:sp>
        <p:nvSpPr>
          <p:cNvPr id="15" name="Text 13"/>
          <p:cNvSpPr txBox="1"/>
          <p:nvPr/>
        </p:nvSpPr>
        <p:spPr>
          <a:xfrm>
            <a:off x="2990088" y="2633472"/>
            <a:ext cx="1737360" cy="274320"/>
          </a:xfrm>
          <a:prstGeom prst="rect">
            <a:avLst/>
          </a:prstGeom>
          <a:noFill/>
          <a:ln/>
        </p:spPr>
        <p:txBody>
          <a:bodyPr wrap="square" lIns="0" tIns="0" rIns="0" bIns="0" rtlCol="0" anchor="t"/>
          <a:lstStyle/>
          <a:p>
            <a:pPr indent="0" marL="0">
              <a:lnSpc>
                <a:spcPts val="1350"/>
              </a:lnSpc>
              <a:buNone/>
            </a:pPr>
            <a:r>
              <a:rPr lang="en-US" sz="1000" dirty="0">
                <a:solidFill>
                  <a:srgbClr val="5E6F66"/>
                </a:solidFill>
                <a:latin typeface="Segoe UI" pitchFamily="34" charset="0"/>
                <a:ea typeface="Segoe UI" pitchFamily="34" charset="-122"/>
                <a:cs typeface="Segoe UI" pitchFamily="34" charset="-120"/>
              </a:rPr>
              <a:t>ESP32 merata-rata 8 sampel per siklus dan menjalankan state machine IDLE, WATERING, SOAK_CHECK.</a:t>
            </a:r>
            <a:endParaRPr lang="en-US" sz="1000" dirty="0"/>
          </a:p>
        </p:txBody>
      </p:sp>
      <p:sp>
        <p:nvSpPr>
          <p:cNvPr id="16" name="Text 14"/>
          <p:cNvSpPr txBox="1"/>
          <p:nvPr/>
        </p:nvSpPr>
        <p:spPr>
          <a:xfrm>
            <a:off x="4837176" y="2743200"/>
            <a:ext cx="274320" cy="365760"/>
          </a:xfrm>
          <a:prstGeom prst="rect">
            <a:avLst/>
          </a:prstGeom>
          <a:noFill/>
          <a:ln/>
        </p:spPr>
        <p:txBody>
          <a:bodyPr wrap="square" lIns="0" tIns="0" rIns="0" bIns="0" rtlCol="0" anchor="ctr"/>
          <a:lstStyle/>
          <a:p>
            <a:pPr algn="ctr" indent="0" marL="0">
              <a:buNone/>
            </a:pPr>
            <a:r>
              <a:rPr lang="en-US" sz="2000" b="1" dirty="0">
                <a:solidFill>
                  <a:srgbClr val="4E9A63"/>
                </a:solidFill>
                <a:latin typeface="Segoe UI" pitchFamily="34" charset="0"/>
                <a:ea typeface="Segoe UI" pitchFamily="34" charset="-122"/>
                <a:cs typeface="Segoe UI" pitchFamily="34" charset="-120"/>
              </a:rPr>
              <a:t>›</a:t>
            </a:r>
            <a:endParaRPr lang="en-US" sz="2000" dirty="0"/>
          </a:p>
        </p:txBody>
      </p:sp>
      <p:sp>
        <p:nvSpPr>
          <p:cNvPr id="17" name="Shape 15"/>
          <p:cNvSpPr/>
          <p:nvPr/>
        </p:nvSpPr>
        <p:spPr>
          <a:xfrm>
            <a:off x="5065776" y="1645920"/>
            <a:ext cx="2057400" cy="2788920"/>
          </a:xfrm>
          <a:prstGeom prst="roundRect">
            <a:avLst>
              <a:gd name="adj" fmla="val 4000"/>
            </a:avLst>
          </a:prstGeom>
          <a:solidFill>
            <a:srgbClr val="FFFFFF"/>
          </a:solidFill>
          <a:ln w="9525">
            <a:solidFill>
              <a:srgbClr val="D8D5C4"/>
            </a:solidFill>
            <a:prstDash val="solid"/>
          </a:ln>
        </p:spPr>
      </p:sp>
      <p:sp>
        <p:nvSpPr>
          <p:cNvPr id="18" name="Shape 16"/>
          <p:cNvSpPr/>
          <p:nvPr/>
        </p:nvSpPr>
        <p:spPr>
          <a:xfrm>
            <a:off x="5065776" y="1645920"/>
            <a:ext cx="2057400" cy="73152"/>
          </a:xfrm>
          <a:prstGeom prst="rect">
            <a:avLst/>
          </a:prstGeom>
          <a:solidFill>
            <a:srgbClr val="4E9A63"/>
          </a:solidFill>
          <a:ln/>
        </p:spPr>
      </p:sp>
      <p:sp>
        <p:nvSpPr>
          <p:cNvPr id="19" name="Text 17"/>
          <p:cNvSpPr txBox="1"/>
          <p:nvPr/>
        </p:nvSpPr>
        <p:spPr>
          <a:xfrm>
            <a:off x="5248656" y="1874520"/>
            <a:ext cx="1645920" cy="365760"/>
          </a:xfrm>
          <a:prstGeom prst="rect">
            <a:avLst/>
          </a:prstGeom>
          <a:noFill/>
          <a:ln/>
        </p:spPr>
        <p:txBody>
          <a:bodyPr wrap="square" lIns="0" tIns="0" rIns="0" bIns="0" rtlCol="0" anchor="ctr"/>
          <a:lstStyle/>
          <a:p>
            <a:pPr indent="0" marL="0">
              <a:buNone/>
            </a:pPr>
            <a:r>
              <a:rPr lang="en-US" sz="2200" b="1" dirty="0">
                <a:solidFill>
                  <a:srgbClr val="C9D3C9"/>
                </a:solidFill>
                <a:latin typeface="Georgia" pitchFamily="34" charset="0"/>
                <a:ea typeface="Georgia" pitchFamily="34" charset="-122"/>
                <a:cs typeface="Georgia" pitchFamily="34" charset="-120"/>
              </a:rPr>
              <a:t>03</a:t>
            </a:r>
            <a:endParaRPr lang="en-US" sz="2200" dirty="0"/>
          </a:p>
        </p:txBody>
      </p:sp>
      <p:sp>
        <p:nvSpPr>
          <p:cNvPr id="20" name="Text 18"/>
          <p:cNvSpPr txBox="1"/>
          <p:nvPr/>
        </p:nvSpPr>
        <p:spPr>
          <a:xfrm>
            <a:off x="5248656" y="2304288"/>
            <a:ext cx="1737360" cy="274320"/>
          </a:xfrm>
          <a:prstGeom prst="rect">
            <a:avLst/>
          </a:prstGeom>
          <a:noFill/>
          <a:ln/>
        </p:spPr>
        <p:txBody>
          <a:bodyPr wrap="square" lIns="0" tIns="0" rIns="0" bIns="0" rtlCol="0" anchor="ctr"/>
          <a:lstStyle/>
          <a:p>
            <a:pPr indent="0" marL="0">
              <a:buNone/>
            </a:pPr>
            <a:r>
              <a:rPr lang="en-US" sz="1200" b="1" spc="100" kern="0" dirty="0">
                <a:solidFill>
                  <a:srgbClr val="1C2B24"/>
                </a:solidFill>
                <a:latin typeface="Segoe UI" pitchFamily="34" charset="0"/>
                <a:ea typeface="Segoe UI" pitchFamily="34" charset="-122"/>
                <a:cs typeface="Segoe UI" pitchFamily="34" charset="-120"/>
              </a:rPr>
              <a:t>ACTUATION</a:t>
            </a:r>
            <a:endParaRPr lang="en-US" sz="1200" dirty="0"/>
          </a:p>
        </p:txBody>
      </p:sp>
      <p:sp>
        <p:nvSpPr>
          <p:cNvPr id="21" name="Text 19"/>
          <p:cNvSpPr txBox="1"/>
          <p:nvPr/>
        </p:nvSpPr>
        <p:spPr>
          <a:xfrm>
            <a:off x="5248656" y="2633472"/>
            <a:ext cx="1737360" cy="274320"/>
          </a:xfrm>
          <a:prstGeom prst="rect">
            <a:avLst/>
          </a:prstGeom>
          <a:noFill/>
          <a:ln/>
        </p:spPr>
        <p:txBody>
          <a:bodyPr wrap="square" lIns="0" tIns="0" rIns="0" bIns="0" rtlCol="0" anchor="t"/>
          <a:lstStyle/>
          <a:p>
            <a:pPr indent="0" marL="0">
              <a:lnSpc>
                <a:spcPts val="1350"/>
              </a:lnSpc>
              <a:buNone/>
            </a:pPr>
            <a:r>
              <a:rPr lang="en-US" sz="1000" dirty="0">
                <a:solidFill>
                  <a:srgbClr val="5E6F66"/>
                </a:solidFill>
                <a:latin typeface="Segoe UI" pitchFamily="34" charset="0"/>
                <a:ea typeface="Segoe UI" pitchFamily="34" charset="-122"/>
                <a:cs typeface="Segoe UI" pitchFamily="34" charset="-120"/>
              </a:rPr>
              <a:t>Relay menyalakan mini water pump bercatu daya terpisah, lalu sistem memverifikasi kenaikan kelembapan.</a:t>
            </a:r>
            <a:endParaRPr lang="en-US" sz="1000" dirty="0"/>
          </a:p>
        </p:txBody>
      </p:sp>
      <p:sp>
        <p:nvSpPr>
          <p:cNvPr id="22" name="Text 20"/>
          <p:cNvSpPr txBox="1"/>
          <p:nvPr/>
        </p:nvSpPr>
        <p:spPr>
          <a:xfrm>
            <a:off x="7095744" y="2743200"/>
            <a:ext cx="274320" cy="365760"/>
          </a:xfrm>
          <a:prstGeom prst="rect">
            <a:avLst/>
          </a:prstGeom>
          <a:noFill/>
          <a:ln/>
        </p:spPr>
        <p:txBody>
          <a:bodyPr wrap="square" lIns="0" tIns="0" rIns="0" bIns="0" rtlCol="0" anchor="ctr"/>
          <a:lstStyle/>
          <a:p>
            <a:pPr algn="ctr" indent="0" marL="0">
              <a:buNone/>
            </a:pPr>
            <a:r>
              <a:rPr lang="en-US" sz="2000" b="1" dirty="0">
                <a:solidFill>
                  <a:srgbClr val="4E9A63"/>
                </a:solidFill>
                <a:latin typeface="Segoe UI" pitchFamily="34" charset="0"/>
                <a:ea typeface="Segoe UI" pitchFamily="34" charset="-122"/>
                <a:cs typeface="Segoe UI" pitchFamily="34" charset="-120"/>
              </a:rPr>
              <a:t>›</a:t>
            </a:r>
            <a:endParaRPr lang="en-US" sz="2000" dirty="0"/>
          </a:p>
        </p:txBody>
      </p:sp>
      <p:sp>
        <p:nvSpPr>
          <p:cNvPr id="23" name="Shape 21"/>
          <p:cNvSpPr/>
          <p:nvPr/>
        </p:nvSpPr>
        <p:spPr>
          <a:xfrm>
            <a:off x="7324344" y="1645920"/>
            <a:ext cx="2057400" cy="2788920"/>
          </a:xfrm>
          <a:prstGeom prst="roundRect">
            <a:avLst>
              <a:gd name="adj" fmla="val 4000"/>
            </a:avLst>
          </a:prstGeom>
          <a:solidFill>
            <a:srgbClr val="FFFFFF"/>
          </a:solidFill>
          <a:ln w="9525">
            <a:solidFill>
              <a:srgbClr val="D8D5C4"/>
            </a:solidFill>
            <a:prstDash val="solid"/>
          </a:ln>
        </p:spPr>
      </p:sp>
      <p:sp>
        <p:nvSpPr>
          <p:cNvPr id="24" name="Shape 22"/>
          <p:cNvSpPr/>
          <p:nvPr/>
        </p:nvSpPr>
        <p:spPr>
          <a:xfrm>
            <a:off x="7324344" y="1645920"/>
            <a:ext cx="2057400" cy="73152"/>
          </a:xfrm>
          <a:prstGeom prst="rect">
            <a:avLst/>
          </a:prstGeom>
          <a:solidFill>
            <a:srgbClr val="C2603F"/>
          </a:solidFill>
          <a:ln/>
        </p:spPr>
      </p:sp>
      <p:sp>
        <p:nvSpPr>
          <p:cNvPr id="25" name="Text 23"/>
          <p:cNvSpPr txBox="1"/>
          <p:nvPr/>
        </p:nvSpPr>
        <p:spPr>
          <a:xfrm>
            <a:off x="7507224" y="1874520"/>
            <a:ext cx="1645920" cy="365760"/>
          </a:xfrm>
          <a:prstGeom prst="rect">
            <a:avLst/>
          </a:prstGeom>
          <a:noFill/>
          <a:ln/>
        </p:spPr>
        <p:txBody>
          <a:bodyPr wrap="square" lIns="0" tIns="0" rIns="0" bIns="0" rtlCol="0" anchor="ctr"/>
          <a:lstStyle/>
          <a:p>
            <a:pPr indent="0" marL="0">
              <a:buNone/>
            </a:pPr>
            <a:r>
              <a:rPr lang="en-US" sz="2200" b="1" dirty="0">
                <a:solidFill>
                  <a:srgbClr val="C9D3C9"/>
                </a:solidFill>
                <a:latin typeface="Georgia" pitchFamily="34" charset="0"/>
                <a:ea typeface="Georgia" pitchFamily="34" charset="-122"/>
                <a:cs typeface="Georgia" pitchFamily="34" charset="-120"/>
              </a:rPr>
              <a:t>04</a:t>
            </a:r>
            <a:endParaRPr lang="en-US" sz="2200" dirty="0"/>
          </a:p>
        </p:txBody>
      </p:sp>
      <p:sp>
        <p:nvSpPr>
          <p:cNvPr id="26" name="Text 24"/>
          <p:cNvSpPr txBox="1"/>
          <p:nvPr/>
        </p:nvSpPr>
        <p:spPr>
          <a:xfrm>
            <a:off x="7507224" y="2304288"/>
            <a:ext cx="1737360" cy="274320"/>
          </a:xfrm>
          <a:prstGeom prst="rect">
            <a:avLst/>
          </a:prstGeom>
          <a:noFill/>
          <a:ln/>
        </p:spPr>
        <p:txBody>
          <a:bodyPr wrap="square" lIns="0" tIns="0" rIns="0" bIns="0" rtlCol="0" anchor="ctr"/>
          <a:lstStyle/>
          <a:p>
            <a:pPr indent="0" marL="0">
              <a:buNone/>
            </a:pPr>
            <a:r>
              <a:rPr lang="en-US" sz="1200" b="1" spc="100" kern="0" dirty="0">
                <a:solidFill>
                  <a:srgbClr val="1C2B24"/>
                </a:solidFill>
                <a:latin typeface="Segoe UI" pitchFamily="34" charset="0"/>
                <a:ea typeface="Segoe UI" pitchFamily="34" charset="-122"/>
                <a:cs typeface="Segoe UI" pitchFamily="34" charset="-120"/>
              </a:rPr>
              <a:t>AI VISION</a:t>
            </a:r>
            <a:endParaRPr lang="en-US" sz="1200" dirty="0"/>
          </a:p>
        </p:txBody>
      </p:sp>
      <p:sp>
        <p:nvSpPr>
          <p:cNvPr id="27" name="Text 25"/>
          <p:cNvSpPr txBox="1"/>
          <p:nvPr/>
        </p:nvSpPr>
        <p:spPr>
          <a:xfrm>
            <a:off x="7507224" y="2633472"/>
            <a:ext cx="1737360" cy="274320"/>
          </a:xfrm>
          <a:prstGeom prst="rect">
            <a:avLst/>
          </a:prstGeom>
          <a:noFill/>
          <a:ln/>
        </p:spPr>
        <p:txBody>
          <a:bodyPr wrap="square" lIns="0" tIns="0" rIns="0" bIns="0" rtlCol="0" anchor="t"/>
          <a:lstStyle/>
          <a:p>
            <a:pPr indent="0" marL="0">
              <a:lnSpc>
                <a:spcPts val="1350"/>
              </a:lnSpc>
              <a:buNone/>
            </a:pPr>
            <a:r>
              <a:rPr lang="en-US" sz="1000" dirty="0">
                <a:solidFill>
                  <a:srgbClr val="5E6F66"/>
                </a:solidFill>
                <a:latin typeface="Segoe UI" pitchFamily="34" charset="0"/>
                <a:ea typeface="Segoe UI" pitchFamily="34" charset="-122"/>
                <a:cs typeface="Segoe UI" pitchFamily="34" charset="-120"/>
              </a:rPr>
              <a:t>Model Teachable Machine 8 kelas berjalan di browser ponsel dan mengirim hasilnya ke ESP32 lewat HTTP.</a:t>
            </a:r>
            <a:endParaRPr lang="en-US" sz="1000" dirty="0"/>
          </a:p>
        </p:txBody>
      </p:sp>
      <p:sp>
        <p:nvSpPr>
          <p:cNvPr id="28" name="Text 26"/>
          <p:cNvSpPr txBox="1"/>
          <p:nvPr/>
        </p:nvSpPr>
        <p:spPr>
          <a:xfrm>
            <a:off x="9354312" y="2743200"/>
            <a:ext cx="274320" cy="365760"/>
          </a:xfrm>
          <a:prstGeom prst="rect">
            <a:avLst/>
          </a:prstGeom>
          <a:noFill/>
          <a:ln/>
        </p:spPr>
        <p:txBody>
          <a:bodyPr wrap="square" lIns="0" tIns="0" rIns="0" bIns="0" rtlCol="0" anchor="ctr"/>
          <a:lstStyle/>
          <a:p>
            <a:pPr algn="ctr" indent="0" marL="0">
              <a:buNone/>
            </a:pPr>
            <a:r>
              <a:rPr lang="en-US" sz="2000" b="1" dirty="0">
                <a:solidFill>
                  <a:srgbClr val="4E9A63"/>
                </a:solidFill>
                <a:latin typeface="Segoe UI" pitchFamily="34" charset="0"/>
                <a:ea typeface="Segoe UI" pitchFamily="34" charset="-122"/>
                <a:cs typeface="Segoe UI" pitchFamily="34" charset="-120"/>
              </a:rPr>
              <a:t>›</a:t>
            </a:r>
            <a:endParaRPr lang="en-US" sz="2000" dirty="0"/>
          </a:p>
        </p:txBody>
      </p:sp>
      <p:sp>
        <p:nvSpPr>
          <p:cNvPr id="29" name="Shape 27"/>
          <p:cNvSpPr/>
          <p:nvPr/>
        </p:nvSpPr>
        <p:spPr>
          <a:xfrm>
            <a:off x="9582912" y="1645920"/>
            <a:ext cx="2057400" cy="2788920"/>
          </a:xfrm>
          <a:prstGeom prst="roundRect">
            <a:avLst>
              <a:gd name="adj" fmla="val 4000"/>
            </a:avLst>
          </a:prstGeom>
          <a:solidFill>
            <a:srgbClr val="FFFFFF"/>
          </a:solidFill>
          <a:ln w="9525">
            <a:solidFill>
              <a:srgbClr val="D8D5C4"/>
            </a:solidFill>
            <a:prstDash val="solid"/>
          </a:ln>
        </p:spPr>
      </p:sp>
      <p:sp>
        <p:nvSpPr>
          <p:cNvPr id="30" name="Shape 28"/>
          <p:cNvSpPr/>
          <p:nvPr/>
        </p:nvSpPr>
        <p:spPr>
          <a:xfrm>
            <a:off x="9582912" y="1645920"/>
            <a:ext cx="2057400" cy="73152"/>
          </a:xfrm>
          <a:prstGeom prst="rect">
            <a:avLst/>
          </a:prstGeom>
          <a:solidFill>
            <a:srgbClr val="4E9A63"/>
          </a:solidFill>
          <a:ln/>
        </p:spPr>
      </p:sp>
      <p:sp>
        <p:nvSpPr>
          <p:cNvPr id="31" name="Text 29"/>
          <p:cNvSpPr txBox="1"/>
          <p:nvPr/>
        </p:nvSpPr>
        <p:spPr>
          <a:xfrm>
            <a:off x="9765792" y="1874520"/>
            <a:ext cx="1645920" cy="365760"/>
          </a:xfrm>
          <a:prstGeom prst="rect">
            <a:avLst/>
          </a:prstGeom>
          <a:noFill/>
          <a:ln/>
        </p:spPr>
        <p:txBody>
          <a:bodyPr wrap="square" lIns="0" tIns="0" rIns="0" bIns="0" rtlCol="0" anchor="ctr"/>
          <a:lstStyle/>
          <a:p>
            <a:pPr indent="0" marL="0">
              <a:buNone/>
            </a:pPr>
            <a:r>
              <a:rPr lang="en-US" sz="2200" b="1" dirty="0">
                <a:solidFill>
                  <a:srgbClr val="C9D3C9"/>
                </a:solidFill>
                <a:latin typeface="Georgia" pitchFamily="34" charset="0"/>
                <a:ea typeface="Georgia" pitchFamily="34" charset="-122"/>
                <a:cs typeface="Georgia" pitchFamily="34" charset="-120"/>
              </a:rPr>
              <a:t>05</a:t>
            </a:r>
            <a:endParaRPr lang="en-US" sz="2200" dirty="0"/>
          </a:p>
        </p:txBody>
      </p:sp>
      <p:sp>
        <p:nvSpPr>
          <p:cNvPr id="32" name="Text 30"/>
          <p:cNvSpPr txBox="1"/>
          <p:nvPr/>
        </p:nvSpPr>
        <p:spPr>
          <a:xfrm>
            <a:off x="9765792" y="2304288"/>
            <a:ext cx="1737360" cy="274320"/>
          </a:xfrm>
          <a:prstGeom prst="rect">
            <a:avLst/>
          </a:prstGeom>
          <a:noFill/>
          <a:ln/>
        </p:spPr>
        <p:txBody>
          <a:bodyPr wrap="square" lIns="0" tIns="0" rIns="0" bIns="0" rtlCol="0" anchor="ctr"/>
          <a:lstStyle/>
          <a:p>
            <a:pPr indent="0" marL="0">
              <a:buNone/>
            </a:pPr>
            <a:r>
              <a:rPr lang="en-US" sz="1200" b="1" spc="100" kern="0" dirty="0">
                <a:solidFill>
                  <a:srgbClr val="1C2B24"/>
                </a:solidFill>
                <a:latin typeface="Segoe UI" pitchFamily="34" charset="0"/>
                <a:ea typeface="Segoe UI" pitchFamily="34" charset="-122"/>
                <a:cs typeface="Segoe UI" pitchFamily="34" charset="-120"/>
              </a:rPr>
              <a:t>MONITORING</a:t>
            </a:r>
            <a:endParaRPr lang="en-US" sz="1200" dirty="0"/>
          </a:p>
        </p:txBody>
      </p:sp>
      <p:sp>
        <p:nvSpPr>
          <p:cNvPr id="33" name="Text 31"/>
          <p:cNvSpPr txBox="1"/>
          <p:nvPr/>
        </p:nvSpPr>
        <p:spPr>
          <a:xfrm>
            <a:off x="9765792" y="2633472"/>
            <a:ext cx="1737360" cy="274320"/>
          </a:xfrm>
          <a:prstGeom prst="rect">
            <a:avLst/>
          </a:prstGeom>
          <a:noFill/>
          <a:ln/>
        </p:spPr>
        <p:txBody>
          <a:bodyPr wrap="square" lIns="0" tIns="0" rIns="0" bIns="0" rtlCol="0" anchor="t"/>
          <a:lstStyle/>
          <a:p>
            <a:pPr indent="0" marL="0">
              <a:lnSpc>
                <a:spcPts val="1350"/>
              </a:lnSpc>
              <a:buNone/>
            </a:pPr>
            <a:r>
              <a:rPr lang="en-US" sz="1000" dirty="0">
                <a:solidFill>
                  <a:srgbClr val="5E6F66"/>
                </a:solidFill>
                <a:latin typeface="Segoe UI" pitchFamily="34" charset="0"/>
                <a:ea typeface="Segoe UI" pitchFamily="34" charset="-122"/>
                <a:cs typeface="Segoe UI" pitchFamily="34" charset="-120"/>
              </a:rPr>
              <a:t>ESP32 menghosting dashboard Terrarium Journal sendiri, dipantau real-time dari HP di WiFi yang sama.</a:t>
            </a:r>
            <a:endParaRPr lang="en-US" sz="1000" dirty="0"/>
          </a:p>
        </p:txBody>
      </p:sp>
      <p:sp>
        <p:nvSpPr>
          <p:cNvPr id="34" name="Shape 32"/>
          <p:cNvSpPr/>
          <p:nvPr/>
        </p:nvSpPr>
        <p:spPr>
          <a:xfrm>
            <a:off x="548640" y="4663440"/>
            <a:ext cx="11109960" cy="1325880"/>
          </a:xfrm>
          <a:prstGeom prst="roundRect">
            <a:avLst>
              <a:gd name="adj" fmla="val 6207"/>
            </a:avLst>
          </a:prstGeom>
          <a:solidFill>
            <a:srgbClr val="1D3B2E"/>
          </a:solidFill>
          <a:ln/>
        </p:spPr>
      </p:sp>
      <p:sp>
        <p:nvSpPr>
          <p:cNvPr id="35" name="Text 33"/>
          <p:cNvSpPr txBox="1"/>
          <p:nvPr/>
        </p:nvSpPr>
        <p:spPr>
          <a:xfrm>
            <a:off x="868680" y="4828032"/>
            <a:ext cx="7315200" cy="274320"/>
          </a:xfrm>
          <a:prstGeom prst="rect">
            <a:avLst/>
          </a:prstGeom>
          <a:noFill/>
          <a:ln/>
        </p:spPr>
        <p:txBody>
          <a:bodyPr wrap="square" lIns="0" tIns="0" rIns="0" bIns="0" rtlCol="0" anchor="ctr"/>
          <a:lstStyle/>
          <a:p>
            <a:pPr indent="0" marL="0">
              <a:buNone/>
            </a:pPr>
            <a:r>
              <a:rPr lang="en-US" sz="1600" b="1" dirty="0">
                <a:solidFill>
                  <a:srgbClr val="F7F4E9"/>
                </a:solidFill>
                <a:latin typeface="Georgia" pitchFamily="34" charset="0"/>
                <a:ea typeface="Georgia" pitchFamily="34" charset="-122"/>
                <a:cs typeface="Georgia" pitchFamily="34" charset="-120"/>
              </a:rPr>
              <a:t>Semua berjalan di satu jaringan lokal</a:t>
            </a:r>
            <a:endParaRPr lang="en-US" sz="1600" dirty="0"/>
          </a:p>
        </p:txBody>
      </p:sp>
      <p:sp>
        <p:nvSpPr>
          <p:cNvPr id="36" name="Text 34"/>
          <p:cNvSpPr txBox="1"/>
          <p:nvPr/>
        </p:nvSpPr>
        <p:spPr>
          <a:xfrm>
            <a:off x="868680" y="5138928"/>
            <a:ext cx="10424160" cy="640080"/>
          </a:xfrm>
          <a:prstGeom prst="rect">
            <a:avLst/>
          </a:prstGeom>
          <a:noFill/>
          <a:ln/>
        </p:spPr>
        <p:txBody>
          <a:bodyPr wrap="square" lIns="0" tIns="0" rIns="0" bIns="0" rtlCol="0" anchor="ctr"/>
          <a:lstStyle/>
          <a:p>
            <a:pPr indent="0" marL="0">
              <a:lnSpc>
                <a:spcPts val="1700"/>
              </a:lnSpc>
              <a:buNone/>
            </a:pPr>
            <a:r>
              <a:rPr lang="en-US" sz="1200" dirty="0">
                <a:solidFill>
                  <a:srgbClr val="AFC2B4"/>
                </a:solidFill>
                <a:latin typeface="Segoe UI" pitchFamily="34" charset="0"/>
                <a:ea typeface="Segoe UI" pitchFamily="34" charset="-122"/>
                <a:cs typeface="Segoe UI" pitchFamily="34" charset="-120"/>
              </a:rPr>
              <a:t>Tidak ada server cloud, tidak ada biaya langganan, dan tidak ada layanan perantara. ESP32 menjadi web server sekaligus pengendali, sehingga sistem tetap bekerja walau internet di lokasi mati. Ini juga yang membuat perangkatnya realistis dipakai di desa dengan sinyal terbatas.</a:t>
            </a:r>
            <a:endParaRPr lang="en-US" sz="1200" dirty="0"/>
          </a:p>
        </p:txBody>
      </p:sp>
      <p:sp>
        <p:nvSpPr>
          <p:cNvPr id="37" name="Text 35"/>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5E6F66"/>
                </a:solidFill>
                <a:latin typeface="Segoe UI" pitchFamily="34" charset="0"/>
                <a:ea typeface="Segoe UI" pitchFamily="34" charset="-122"/>
                <a:cs typeface="Segoe UI" pitchFamily="34" charset="-120"/>
              </a:rPr>
              <a:t>Flora-Gotchi  |  Tim Gerbang Logika</a:t>
            </a:r>
            <a:endParaRPr lang="en-US" sz="900" dirty="0"/>
          </a:p>
        </p:txBody>
      </p:sp>
      <p:sp>
        <p:nvSpPr>
          <p:cNvPr id="38" name="Text 36"/>
          <p:cNvSpPr txBox="1"/>
          <p:nvPr/>
        </p:nvSpPr>
        <p:spPr>
          <a:xfrm>
            <a:off x="11155680" y="6419088"/>
            <a:ext cx="548640" cy="228600"/>
          </a:xfrm>
          <a:prstGeom prst="rect">
            <a:avLst/>
          </a:prstGeom>
          <a:noFill/>
          <a:ln/>
        </p:spPr>
        <p:txBody>
          <a:bodyPr wrap="square" lIns="0" tIns="0" rIns="0" bIns="0" rtlCol="0" anchor="ctr"/>
          <a:lstStyle/>
          <a:p>
            <a:pPr algn="r" indent="0" marL="0">
              <a:buNone/>
            </a:pPr>
            <a:r>
              <a:rPr lang="en-US" sz="900" dirty="0">
                <a:solidFill>
                  <a:srgbClr val="5E6F66"/>
                </a:solidFill>
                <a:latin typeface="Segoe UI" pitchFamily="34" charset="0"/>
                <a:ea typeface="Segoe UI" pitchFamily="34" charset="-122"/>
                <a:cs typeface="Segoe U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9"/>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E9A63"/>
                </a:solidFill>
                <a:latin typeface="Segoe UI" pitchFamily="34" charset="0"/>
                <a:ea typeface="Segoe UI" pitchFamily="34" charset="-122"/>
                <a:cs typeface="Segoe UI" pitchFamily="34" charset="-120"/>
              </a:rPr>
              <a:t>PERANGKAT KERAS</a:t>
            </a:r>
            <a:endParaRPr lang="en-US" sz="1100" dirty="0"/>
          </a:p>
        </p:txBody>
      </p:sp>
      <p:sp>
        <p:nvSpPr>
          <p:cNvPr id="3" name="Text 1"/>
          <p:cNvSpPr txBox="1"/>
          <p:nvPr/>
        </p:nvSpPr>
        <p:spPr>
          <a:xfrm>
            <a:off x="548640" y="603504"/>
            <a:ext cx="11155680" cy="566928"/>
          </a:xfrm>
          <a:prstGeom prst="rect">
            <a:avLst/>
          </a:prstGeom>
          <a:noFill/>
          <a:ln/>
        </p:spPr>
        <p:txBody>
          <a:bodyPr wrap="square" lIns="0" tIns="0" rIns="0" bIns="0" rtlCol="0" anchor="ctr"/>
          <a:lstStyle/>
          <a:p>
            <a:pPr indent="0" marL="0">
              <a:buNone/>
            </a:pPr>
            <a:r>
              <a:rPr lang="en-US" sz="2600" b="1" dirty="0">
                <a:solidFill>
                  <a:srgbClr val="1C2B24"/>
                </a:solidFill>
                <a:latin typeface="Georgia" pitchFamily="34" charset="0"/>
                <a:ea typeface="Georgia" pitchFamily="34" charset="-122"/>
                <a:cs typeface="Georgia" pitchFamily="34" charset="-120"/>
              </a:rPr>
              <a:t>Delapan dari sembilan komponen kit terpakai</a:t>
            </a:r>
            <a:endParaRPr lang="en-US" sz="2600" dirty="0"/>
          </a:p>
        </p:txBody>
      </p:sp>
      <p:sp>
        <p:nvSpPr>
          <p:cNvPr id="4" name="Shape 2"/>
          <p:cNvSpPr/>
          <p:nvPr/>
        </p:nvSpPr>
        <p:spPr>
          <a:xfrm>
            <a:off x="548640" y="1261872"/>
            <a:ext cx="822960" cy="41148"/>
          </a:xfrm>
          <a:prstGeom prst="rect">
            <a:avLst/>
          </a:prstGeom>
          <a:solidFill>
            <a:srgbClr val="4E9A63"/>
          </a:solidFill>
          <a:ln/>
        </p:spPr>
      </p:sp>
      <p:pic>
        <p:nvPicPr>
          <p:cNvPr id="5" name="Image 0" descr="deck/diagram.png">    </p:cNvPr>
          <p:cNvPicPr>
            <a:picLocks noChangeAspect="1"/>
          </p:cNvPicPr>
          <p:nvPr/>
        </p:nvPicPr>
        <p:blipFill>
          <a:blip r:embed="rId1"/>
          <a:stretch>
            <a:fillRect/>
          </a:stretch>
        </p:blipFill>
        <p:spPr>
          <a:xfrm>
            <a:off x="548640" y="1645920"/>
            <a:ext cx="5943600" cy="3611880"/>
          </a:xfrm>
          <a:prstGeom prst="rect">
            <a:avLst/>
          </a:prstGeom>
        </p:spPr>
      </p:pic>
      <p:sp>
        <p:nvSpPr>
          <p:cNvPr id="6" name="Text 3"/>
          <p:cNvSpPr txBox="1"/>
          <p:nvPr/>
        </p:nvSpPr>
        <p:spPr>
          <a:xfrm>
            <a:off x="548640" y="5321808"/>
            <a:ext cx="5943600" cy="274320"/>
          </a:xfrm>
          <a:prstGeom prst="rect">
            <a:avLst/>
          </a:prstGeom>
          <a:noFill/>
          <a:ln/>
        </p:spPr>
        <p:txBody>
          <a:bodyPr wrap="square" lIns="0" tIns="0" rIns="0" bIns="0" rtlCol="0" anchor="ctr"/>
          <a:lstStyle/>
          <a:p>
            <a:pPr indent="0" marL="0">
              <a:buNone/>
            </a:pPr>
            <a:r>
              <a:rPr lang="en-US" sz="900" i="1" dirty="0">
                <a:solidFill>
                  <a:srgbClr val="5E6F66"/>
                </a:solidFill>
                <a:latin typeface="Segoe UI" pitchFamily="34" charset="0"/>
                <a:ea typeface="Segoe UI" pitchFamily="34" charset="-122"/>
                <a:cs typeface="Segoe UI" pitchFamily="34" charset="-120"/>
              </a:rPr>
              <a:t>Diagram rangkaian dan alur sistem, dicocokkan baris per baris dengan kode ESP32.</a:t>
            </a:r>
            <a:endParaRPr lang="en-US" sz="900" dirty="0"/>
          </a:p>
        </p:txBody>
      </p:sp>
      <p:sp>
        <p:nvSpPr>
          <p:cNvPr id="7" name="Shape 4"/>
          <p:cNvSpPr/>
          <p:nvPr/>
        </p:nvSpPr>
        <p:spPr>
          <a:xfrm>
            <a:off x="6812280" y="1645920"/>
            <a:ext cx="4846320" cy="3611880"/>
          </a:xfrm>
          <a:prstGeom prst="roundRect">
            <a:avLst>
              <a:gd name="adj" fmla="val 2278"/>
            </a:avLst>
          </a:prstGeom>
          <a:solidFill>
            <a:srgbClr val="FFFFFF"/>
          </a:solidFill>
          <a:ln w="9525">
            <a:solidFill>
              <a:srgbClr val="D8D5C4"/>
            </a:solidFill>
            <a:prstDash val="solid"/>
          </a:ln>
        </p:spPr>
      </p:sp>
      <p:sp>
        <p:nvSpPr>
          <p:cNvPr id="8" name="Text 5"/>
          <p:cNvSpPr txBox="1"/>
          <p:nvPr/>
        </p:nvSpPr>
        <p:spPr>
          <a:xfrm>
            <a:off x="7040880" y="1810512"/>
            <a:ext cx="4389120" cy="274320"/>
          </a:xfrm>
          <a:prstGeom prst="rect">
            <a:avLst/>
          </a:prstGeom>
          <a:noFill/>
          <a:ln/>
        </p:spPr>
        <p:txBody>
          <a:bodyPr wrap="square" lIns="0" tIns="0" rIns="0" bIns="0" rtlCol="0" anchor="ctr"/>
          <a:lstStyle/>
          <a:p>
            <a:pPr indent="0" marL="0">
              <a:buNone/>
            </a:pPr>
            <a:r>
              <a:rPr lang="en-US" sz="1200" b="1" dirty="0">
                <a:solidFill>
                  <a:srgbClr val="1C2B24"/>
                </a:solidFill>
                <a:latin typeface="Segoe UI" pitchFamily="34" charset="0"/>
                <a:ea typeface="Segoe UI" pitchFamily="34" charset="-122"/>
                <a:cs typeface="Segoe UI" pitchFamily="34" charset="-120"/>
              </a:rPr>
              <a:t>Pemetaan pin ESP32</a:t>
            </a:r>
            <a:endParaRPr lang="en-US" sz="1200" dirty="0"/>
          </a:p>
        </p:txBody>
      </p:sp>
      <p:sp>
        <p:nvSpPr>
          <p:cNvPr id="9" name="Text 6"/>
          <p:cNvSpPr txBox="1"/>
          <p:nvPr/>
        </p:nvSpPr>
        <p:spPr>
          <a:xfrm>
            <a:off x="7040880" y="2194560"/>
            <a:ext cx="2148840" cy="256032"/>
          </a:xfrm>
          <a:prstGeom prst="rect">
            <a:avLst/>
          </a:prstGeom>
          <a:noFill/>
          <a:ln/>
        </p:spPr>
        <p:txBody>
          <a:bodyPr wrap="square" lIns="0" tIns="0" rIns="0" bIns="0" rtlCol="0" anchor="ctr"/>
          <a:lstStyle/>
          <a:p>
            <a:pPr indent="0" marL="0">
              <a:buNone/>
            </a:pPr>
            <a:r>
              <a:rPr lang="en-US" sz="1000" b="1" dirty="0">
                <a:solidFill>
                  <a:srgbClr val="1C2B24"/>
                </a:solidFill>
                <a:latin typeface="Segoe UI" pitchFamily="34" charset="0"/>
                <a:ea typeface="Segoe UI" pitchFamily="34" charset="-122"/>
                <a:cs typeface="Segoe UI" pitchFamily="34" charset="-120"/>
              </a:rPr>
              <a:t>Soil Moisture v2.0</a:t>
            </a:r>
            <a:endParaRPr lang="en-US" sz="1000" dirty="0"/>
          </a:p>
        </p:txBody>
      </p:sp>
      <p:sp>
        <p:nvSpPr>
          <p:cNvPr id="10" name="Text 7"/>
          <p:cNvSpPr txBox="1"/>
          <p:nvPr/>
        </p:nvSpPr>
        <p:spPr>
          <a:xfrm>
            <a:off x="9235440" y="2194560"/>
            <a:ext cx="868680" cy="256032"/>
          </a:xfrm>
          <a:prstGeom prst="rect">
            <a:avLst/>
          </a:prstGeom>
          <a:noFill/>
          <a:ln/>
        </p:spPr>
        <p:txBody>
          <a:bodyPr wrap="square" lIns="0" tIns="0" rIns="0" bIns="0" rtlCol="0" anchor="ctr"/>
          <a:lstStyle/>
          <a:p>
            <a:pPr indent="0" marL="0">
              <a:buNone/>
            </a:pPr>
            <a:r>
              <a:rPr lang="en-US" sz="950" b="1" dirty="0">
                <a:solidFill>
                  <a:srgbClr val="4E9A63"/>
                </a:solidFill>
                <a:latin typeface="Segoe UI" pitchFamily="34" charset="0"/>
                <a:ea typeface="Segoe UI" pitchFamily="34" charset="-122"/>
                <a:cs typeface="Segoe UI" pitchFamily="34" charset="-120"/>
              </a:rPr>
              <a:t>GPIO36</a:t>
            </a:r>
            <a:endParaRPr lang="en-US" sz="950" dirty="0"/>
          </a:p>
        </p:txBody>
      </p:sp>
      <p:sp>
        <p:nvSpPr>
          <p:cNvPr id="11" name="Text 8"/>
          <p:cNvSpPr txBox="1"/>
          <p:nvPr/>
        </p:nvSpPr>
        <p:spPr>
          <a:xfrm>
            <a:off x="10104120" y="2194560"/>
            <a:ext cx="1417320" cy="256032"/>
          </a:xfrm>
          <a:prstGeom prst="rect">
            <a:avLst/>
          </a:prstGeom>
          <a:noFill/>
          <a:ln/>
        </p:spPr>
        <p:txBody>
          <a:bodyPr wrap="square" lIns="0" tIns="0" rIns="0" bIns="0" rtlCol="0" anchor="ctr"/>
          <a:lstStyle/>
          <a:p>
            <a:pPr indent="0" marL="0">
              <a:buNone/>
            </a:pPr>
            <a:r>
              <a:rPr lang="en-US" sz="850" dirty="0">
                <a:solidFill>
                  <a:srgbClr val="5E6F66"/>
                </a:solidFill>
                <a:latin typeface="Segoe UI" pitchFamily="34" charset="0"/>
                <a:ea typeface="Segoe UI" pitchFamily="34" charset="-122"/>
                <a:cs typeface="Segoe UI" pitchFamily="34" charset="-120"/>
              </a:rPr>
              <a:t>Kelembapan tanah, rata-rata 8 sampel</a:t>
            </a:r>
            <a:endParaRPr lang="en-US" sz="850" dirty="0"/>
          </a:p>
        </p:txBody>
      </p:sp>
      <p:sp>
        <p:nvSpPr>
          <p:cNvPr id="12" name="Shape 9"/>
          <p:cNvSpPr/>
          <p:nvPr/>
        </p:nvSpPr>
        <p:spPr>
          <a:xfrm>
            <a:off x="7040880" y="2523744"/>
            <a:ext cx="4389120" cy="7315"/>
          </a:xfrm>
          <a:prstGeom prst="rect">
            <a:avLst/>
          </a:prstGeom>
          <a:solidFill>
            <a:srgbClr val="EDEBE0"/>
          </a:solidFill>
          <a:ln/>
        </p:spPr>
      </p:sp>
      <p:sp>
        <p:nvSpPr>
          <p:cNvPr id="13" name="Text 10"/>
          <p:cNvSpPr txBox="1"/>
          <p:nvPr/>
        </p:nvSpPr>
        <p:spPr>
          <a:xfrm>
            <a:off x="7040880" y="2615184"/>
            <a:ext cx="2148840" cy="256032"/>
          </a:xfrm>
          <a:prstGeom prst="rect">
            <a:avLst/>
          </a:prstGeom>
          <a:noFill/>
          <a:ln/>
        </p:spPr>
        <p:txBody>
          <a:bodyPr wrap="square" lIns="0" tIns="0" rIns="0" bIns="0" rtlCol="0" anchor="ctr"/>
          <a:lstStyle/>
          <a:p>
            <a:pPr indent="0" marL="0">
              <a:buNone/>
            </a:pPr>
            <a:r>
              <a:rPr lang="en-US" sz="1000" b="1" dirty="0">
                <a:solidFill>
                  <a:srgbClr val="1C2B24"/>
                </a:solidFill>
                <a:latin typeface="Segoe UI" pitchFamily="34" charset="0"/>
                <a:ea typeface="Segoe UI" pitchFamily="34" charset="-122"/>
                <a:cs typeface="Segoe UI" pitchFamily="34" charset="-120"/>
              </a:rPr>
              <a:t>DHT11</a:t>
            </a:r>
            <a:endParaRPr lang="en-US" sz="1000" dirty="0"/>
          </a:p>
        </p:txBody>
      </p:sp>
      <p:sp>
        <p:nvSpPr>
          <p:cNvPr id="14" name="Text 11"/>
          <p:cNvSpPr txBox="1"/>
          <p:nvPr/>
        </p:nvSpPr>
        <p:spPr>
          <a:xfrm>
            <a:off x="9235440" y="2615184"/>
            <a:ext cx="868680" cy="256032"/>
          </a:xfrm>
          <a:prstGeom prst="rect">
            <a:avLst/>
          </a:prstGeom>
          <a:noFill/>
          <a:ln/>
        </p:spPr>
        <p:txBody>
          <a:bodyPr wrap="square" lIns="0" tIns="0" rIns="0" bIns="0" rtlCol="0" anchor="ctr"/>
          <a:lstStyle/>
          <a:p>
            <a:pPr indent="0" marL="0">
              <a:buNone/>
            </a:pPr>
            <a:r>
              <a:rPr lang="en-US" sz="950" b="1" dirty="0">
                <a:solidFill>
                  <a:srgbClr val="4E9A63"/>
                </a:solidFill>
                <a:latin typeface="Segoe UI" pitchFamily="34" charset="0"/>
                <a:ea typeface="Segoe UI" pitchFamily="34" charset="-122"/>
                <a:cs typeface="Segoe UI" pitchFamily="34" charset="-120"/>
              </a:rPr>
              <a:t>GPIO26</a:t>
            </a:r>
            <a:endParaRPr lang="en-US" sz="950" dirty="0"/>
          </a:p>
        </p:txBody>
      </p:sp>
      <p:sp>
        <p:nvSpPr>
          <p:cNvPr id="15" name="Text 12"/>
          <p:cNvSpPr txBox="1"/>
          <p:nvPr/>
        </p:nvSpPr>
        <p:spPr>
          <a:xfrm>
            <a:off x="10104120" y="2615184"/>
            <a:ext cx="1417320" cy="256032"/>
          </a:xfrm>
          <a:prstGeom prst="rect">
            <a:avLst/>
          </a:prstGeom>
          <a:noFill/>
          <a:ln/>
        </p:spPr>
        <p:txBody>
          <a:bodyPr wrap="square" lIns="0" tIns="0" rIns="0" bIns="0" rtlCol="0" anchor="ctr"/>
          <a:lstStyle/>
          <a:p>
            <a:pPr indent="0" marL="0">
              <a:buNone/>
            </a:pPr>
            <a:r>
              <a:rPr lang="en-US" sz="850" dirty="0">
                <a:solidFill>
                  <a:srgbClr val="5E6F66"/>
                </a:solidFill>
                <a:latin typeface="Segoe UI" pitchFamily="34" charset="0"/>
                <a:ea typeface="Segoe UI" pitchFamily="34" charset="-122"/>
                <a:cs typeface="Segoe UI" pitchFamily="34" charset="-120"/>
              </a:rPr>
              <a:t>Suhu dan kelembapan udara</a:t>
            </a:r>
            <a:endParaRPr lang="en-US" sz="850" dirty="0"/>
          </a:p>
        </p:txBody>
      </p:sp>
      <p:sp>
        <p:nvSpPr>
          <p:cNvPr id="16" name="Shape 13"/>
          <p:cNvSpPr/>
          <p:nvPr/>
        </p:nvSpPr>
        <p:spPr>
          <a:xfrm>
            <a:off x="7040880" y="2944368"/>
            <a:ext cx="4389120" cy="7315"/>
          </a:xfrm>
          <a:prstGeom prst="rect">
            <a:avLst/>
          </a:prstGeom>
          <a:solidFill>
            <a:srgbClr val="EDEBE0"/>
          </a:solidFill>
          <a:ln/>
        </p:spPr>
      </p:sp>
      <p:sp>
        <p:nvSpPr>
          <p:cNvPr id="17" name="Text 14"/>
          <p:cNvSpPr txBox="1"/>
          <p:nvPr/>
        </p:nvSpPr>
        <p:spPr>
          <a:xfrm>
            <a:off x="7040880" y="3035808"/>
            <a:ext cx="2148840" cy="256032"/>
          </a:xfrm>
          <a:prstGeom prst="rect">
            <a:avLst/>
          </a:prstGeom>
          <a:noFill/>
          <a:ln/>
        </p:spPr>
        <p:txBody>
          <a:bodyPr wrap="square" lIns="0" tIns="0" rIns="0" bIns="0" rtlCol="0" anchor="ctr"/>
          <a:lstStyle/>
          <a:p>
            <a:pPr indent="0" marL="0">
              <a:buNone/>
            </a:pPr>
            <a:r>
              <a:rPr lang="en-US" sz="1000" b="1" dirty="0">
                <a:solidFill>
                  <a:srgbClr val="1C2B24"/>
                </a:solidFill>
                <a:latin typeface="Segoe UI" pitchFamily="34" charset="0"/>
                <a:ea typeface="Segoe UI" pitchFamily="34" charset="-122"/>
                <a:cs typeface="Segoe UI" pitchFamily="34" charset="-120"/>
              </a:rPr>
              <a:t>LDR</a:t>
            </a:r>
            <a:endParaRPr lang="en-US" sz="1000" dirty="0"/>
          </a:p>
        </p:txBody>
      </p:sp>
      <p:sp>
        <p:nvSpPr>
          <p:cNvPr id="18" name="Text 15"/>
          <p:cNvSpPr txBox="1"/>
          <p:nvPr/>
        </p:nvSpPr>
        <p:spPr>
          <a:xfrm>
            <a:off x="9235440" y="3035808"/>
            <a:ext cx="868680" cy="256032"/>
          </a:xfrm>
          <a:prstGeom prst="rect">
            <a:avLst/>
          </a:prstGeom>
          <a:noFill/>
          <a:ln/>
        </p:spPr>
        <p:txBody>
          <a:bodyPr wrap="square" lIns="0" tIns="0" rIns="0" bIns="0" rtlCol="0" anchor="ctr"/>
          <a:lstStyle/>
          <a:p>
            <a:pPr indent="0" marL="0">
              <a:buNone/>
            </a:pPr>
            <a:r>
              <a:rPr lang="en-US" sz="950" b="1" dirty="0">
                <a:solidFill>
                  <a:srgbClr val="4E9A63"/>
                </a:solidFill>
                <a:latin typeface="Segoe UI" pitchFamily="34" charset="0"/>
                <a:ea typeface="Segoe UI" pitchFamily="34" charset="-122"/>
                <a:cs typeface="Segoe UI" pitchFamily="34" charset="-120"/>
              </a:rPr>
              <a:t>GPIO34</a:t>
            </a:r>
            <a:endParaRPr lang="en-US" sz="950" dirty="0"/>
          </a:p>
        </p:txBody>
      </p:sp>
      <p:sp>
        <p:nvSpPr>
          <p:cNvPr id="19" name="Text 16"/>
          <p:cNvSpPr txBox="1"/>
          <p:nvPr/>
        </p:nvSpPr>
        <p:spPr>
          <a:xfrm>
            <a:off x="10104120" y="3035808"/>
            <a:ext cx="1417320" cy="256032"/>
          </a:xfrm>
          <a:prstGeom prst="rect">
            <a:avLst/>
          </a:prstGeom>
          <a:noFill/>
          <a:ln/>
        </p:spPr>
        <p:txBody>
          <a:bodyPr wrap="square" lIns="0" tIns="0" rIns="0" bIns="0" rtlCol="0" anchor="ctr"/>
          <a:lstStyle/>
          <a:p>
            <a:pPr indent="0" marL="0">
              <a:buNone/>
            </a:pPr>
            <a:r>
              <a:rPr lang="en-US" sz="850" dirty="0">
                <a:solidFill>
                  <a:srgbClr val="5E6F66"/>
                </a:solidFill>
                <a:latin typeface="Segoe UI" pitchFamily="34" charset="0"/>
                <a:ea typeface="Segoe UI" pitchFamily="34" charset="-122"/>
                <a:cs typeface="Segoe UI" pitchFamily="34" charset="-120"/>
              </a:rPr>
              <a:t>Intensitas cahaya untuk mode siang malam</a:t>
            </a:r>
            <a:endParaRPr lang="en-US" sz="850" dirty="0"/>
          </a:p>
        </p:txBody>
      </p:sp>
      <p:sp>
        <p:nvSpPr>
          <p:cNvPr id="20" name="Shape 17"/>
          <p:cNvSpPr/>
          <p:nvPr/>
        </p:nvSpPr>
        <p:spPr>
          <a:xfrm>
            <a:off x="7040880" y="3364992"/>
            <a:ext cx="4389120" cy="7315"/>
          </a:xfrm>
          <a:prstGeom prst="rect">
            <a:avLst/>
          </a:prstGeom>
          <a:solidFill>
            <a:srgbClr val="EDEBE0"/>
          </a:solidFill>
          <a:ln/>
        </p:spPr>
      </p:sp>
      <p:sp>
        <p:nvSpPr>
          <p:cNvPr id="21" name="Text 18"/>
          <p:cNvSpPr txBox="1"/>
          <p:nvPr/>
        </p:nvSpPr>
        <p:spPr>
          <a:xfrm>
            <a:off x="7040880" y="3456432"/>
            <a:ext cx="2148840" cy="256032"/>
          </a:xfrm>
          <a:prstGeom prst="rect">
            <a:avLst/>
          </a:prstGeom>
          <a:noFill/>
          <a:ln/>
        </p:spPr>
        <p:txBody>
          <a:bodyPr wrap="square" lIns="0" tIns="0" rIns="0" bIns="0" rtlCol="0" anchor="ctr"/>
          <a:lstStyle/>
          <a:p>
            <a:pPr indent="0" marL="0">
              <a:buNone/>
            </a:pPr>
            <a:r>
              <a:rPr lang="en-US" sz="1000" b="1" dirty="0">
                <a:solidFill>
                  <a:srgbClr val="1C2B24"/>
                </a:solidFill>
                <a:latin typeface="Segoe UI" pitchFamily="34" charset="0"/>
                <a:ea typeface="Segoe UI" pitchFamily="34" charset="-122"/>
                <a:cs typeface="Segoe UI" pitchFamily="34" charset="-120"/>
              </a:rPr>
              <a:t>Relay 5V 1 Channel</a:t>
            </a:r>
            <a:endParaRPr lang="en-US" sz="1000" dirty="0"/>
          </a:p>
        </p:txBody>
      </p:sp>
      <p:sp>
        <p:nvSpPr>
          <p:cNvPr id="22" name="Text 19"/>
          <p:cNvSpPr txBox="1"/>
          <p:nvPr/>
        </p:nvSpPr>
        <p:spPr>
          <a:xfrm>
            <a:off x="9235440" y="3456432"/>
            <a:ext cx="868680" cy="256032"/>
          </a:xfrm>
          <a:prstGeom prst="rect">
            <a:avLst/>
          </a:prstGeom>
          <a:noFill/>
          <a:ln/>
        </p:spPr>
        <p:txBody>
          <a:bodyPr wrap="square" lIns="0" tIns="0" rIns="0" bIns="0" rtlCol="0" anchor="ctr"/>
          <a:lstStyle/>
          <a:p>
            <a:pPr indent="0" marL="0">
              <a:buNone/>
            </a:pPr>
            <a:r>
              <a:rPr lang="en-US" sz="950" b="1" dirty="0">
                <a:solidFill>
                  <a:srgbClr val="4E9A63"/>
                </a:solidFill>
                <a:latin typeface="Segoe UI" pitchFamily="34" charset="0"/>
                <a:ea typeface="Segoe UI" pitchFamily="34" charset="-122"/>
                <a:cs typeface="Segoe UI" pitchFamily="34" charset="-120"/>
              </a:rPr>
              <a:t>GPIO27</a:t>
            </a:r>
            <a:endParaRPr lang="en-US" sz="950" dirty="0"/>
          </a:p>
        </p:txBody>
      </p:sp>
      <p:sp>
        <p:nvSpPr>
          <p:cNvPr id="23" name="Text 20"/>
          <p:cNvSpPr txBox="1"/>
          <p:nvPr/>
        </p:nvSpPr>
        <p:spPr>
          <a:xfrm>
            <a:off x="10104120" y="3456432"/>
            <a:ext cx="1417320" cy="256032"/>
          </a:xfrm>
          <a:prstGeom prst="rect">
            <a:avLst/>
          </a:prstGeom>
          <a:noFill/>
          <a:ln/>
        </p:spPr>
        <p:txBody>
          <a:bodyPr wrap="square" lIns="0" tIns="0" rIns="0" bIns="0" rtlCol="0" anchor="ctr"/>
          <a:lstStyle/>
          <a:p>
            <a:pPr indent="0" marL="0">
              <a:buNone/>
            </a:pPr>
            <a:r>
              <a:rPr lang="en-US" sz="850" dirty="0">
                <a:solidFill>
                  <a:srgbClr val="5E6F66"/>
                </a:solidFill>
                <a:latin typeface="Segoe UI" pitchFamily="34" charset="0"/>
                <a:ea typeface="Segoe UI" pitchFamily="34" charset="-122"/>
                <a:cs typeface="Segoe UI" pitchFamily="34" charset="-120"/>
              </a:rPr>
              <a:t>Saklar mini water pump</a:t>
            </a:r>
            <a:endParaRPr lang="en-US" sz="850" dirty="0"/>
          </a:p>
        </p:txBody>
      </p:sp>
      <p:sp>
        <p:nvSpPr>
          <p:cNvPr id="24" name="Shape 21"/>
          <p:cNvSpPr/>
          <p:nvPr/>
        </p:nvSpPr>
        <p:spPr>
          <a:xfrm>
            <a:off x="7040880" y="3785616"/>
            <a:ext cx="4389120" cy="7315"/>
          </a:xfrm>
          <a:prstGeom prst="rect">
            <a:avLst/>
          </a:prstGeom>
          <a:solidFill>
            <a:srgbClr val="EDEBE0"/>
          </a:solidFill>
          <a:ln/>
        </p:spPr>
      </p:sp>
      <p:sp>
        <p:nvSpPr>
          <p:cNvPr id="25" name="Text 22"/>
          <p:cNvSpPr txBox="1"/>
          <p:nvPr/>
        </p:nvSpPr>
        <p:spPr>
          <a:xfrm>
            <a:off x="7040880" y="3877056"/>
            <a:ext cx="2148840" cy="256032"/>
          </a:xfrm>
          <a:prstGeom prst="rect">
            <a:avLst/>
          </a:prstGeom>
          <a:noFill/>
          <a:ln/>
        </p:spPr>
        <p:txBody>
          <a:bodyPr wrap="square" lIns="0" tIns="0" rIns="0" bIns="0" rtlCol="0" anchor="ctr"/>
          <a:lstStyle/>
          <a:p>
            <a:pPr indent="0" marL="0">
              <a:buNone/>
            </a:pPr>
            <a:r>
              <a:rPr lang="en-US" sz="1000" b="1" dirty="0">
                <a:solidFill>
                  <a:srgbClr val="1C2B24"/>
                </a:solidFill>
                <a:latin typeface="Segoe UI" pitchFamily="34" charset="0"/>
                <a:ea typeface="Segoe UI" pitchFamily="34" charset="-122"/>
                <a:cs typeface="Segoe UI" pitchFamily="34" charset="-120"/>
              </a:rPr>
              <a:t>LED merah / hijau / heartbeat</a:t>
            </a:r>
            <a:endParaRPr lang="en-US" sz="1000" dirty="0"/>
          </a:p>
        </p:txBody>
      </p:sp>
      <p:sp>
        <p:nvSpPr>
          <p:cNvPr id="26" name="Text 23"/>
          <p:cNvSpPr txBox="1"/>
          <p:nvPr/>
        </p:nvSpPr>
        <p:spPr>
          <a:xfrm>
            <a:off x="9235440" y="3877056"/>
            <a:ext cx="868680" cy="256032"/>
          </a:xfrm>
          <a:prstGeom prst="rect">
            <a:avLst/>
          </a:prstGeom>
          <a:noFill/>
          <a:ln/>
        </p:spPr>
        <p:txBody>
          <a:bodyPr wrap="square" lIns="0" tIns="0" rIns="0" bIns="0" rtlCol="0" anchor="ctr"/>
          <a:lstStyle/>
          <a:p>
            <a:pPr indent="0" marL="0">
              <a:buNone/>
            </a:pPr>
            <a:r>
              <a:rPr lang="en-US" sz="950" b="1" dirty="0">
                <a:solidFill>
                  <a:srgbClr val="4E9A63"/>
                </a:solidFill>
                <a:latin typeface="Segoe UI" pitchFamily="34" charset="0"/>
                <a:ea typeface="Segoe UI" pitchFamily="34" charset="-122"/>
                <a:cs typeface="Segoe UI" pitchFamily="34" charset="-120"/>
              </a:rPr>
              <a:t>13 / 33 / 25</a:t>
            </a:r>
            <a:endParaRPr lang="en-US" sz="950" dirty="0"/>
          </a:p>
        </p:txBody>
      </p:sp>
      <p:sp>
        <p:nvSpPr>
          <p:cNvPr id="27" name="Text 24"/>
          <p:cNvSpPr txBox="1"/>
          <p:nvPr/>
        </p:nvSpPr>
        <p:spPr>
          <a:xfrm>
            <a:off x="10104120" y="3877056"/>
            <a:ext cx="1417320" cy="256032"/>
          </a:xfrm>
          <a:prstGeom prst="rect">
            <a:avLst/>
          </a:prstGeom>
          <a:noFill/>
          <a:ln/>
        </p:spPr>
        <p:txBody>
          <a:bodyPr wrap="square" lIns="0" tIns="0" rIns="0" bIns="0" rtlCol="0" anchor="ctr"/>
          <a:lstStyle/>
          <a:p>
            <a:pPr indent="0" marL="0">
              <a:buNone/>
            </a:pPr>
            <a:r>
              <a:rPr lang="en-US" sz="850" dirty="0">
                <a:solidFill>
                  <a:srgbClr val="5E6F66"/>
                </a:solidFill>
                <a:latin typeface="Segoe UI" pitchFamily="34" charset="0"/>
                <a:ea typeface="Segoe UI" pitchFamily="34" charset="-122"/>
                <a:cs typeface="Segoe UI" pitchFamily="34" charset="-120"/>
              </a:rPr>
              <a:t>Alarm, pompa aktif, sistem hidup</a:t>
            </a:r>
            <a:endParaRPr lang="en-US" sz="850" dirty="0"/>
          </a:p>
        </p:txBody>
      </p:sp>
      <p:sp>
        <p:nvSpPr>
          <p:cNvPr id="28" name="Shape 25"/>
          <p:cNvSpPr/>
          <p:nvPr/>
        </p:nvSpPr>
        <p:spPr>
          <a:xfrm>
            <a:off x="7040880" y="4206240"/>
            <a:ext cx="4389120" cy="7315"/>
          </a:xfrm>
          <a:prstGeom prst="rect">
            <a:avLst/>
          </a:prstGeom>
          <a:solidFill>
            <a:srgbClr val="EDEBE0"/>
          </a:solidFill>
          <a:ln/>
        </p:spPr>
      </p:sp>
      <p:sp>
        <p:nvSpPr>
          <p:cNvPr id="29" name="Text 26"/>
          <p:cNvSpPr txBox="1"/>
          <p:nvPr/>
        </p:nvSpPr>
        <p:spPr>
          <a:xfrm>
            <a:off x="7040880" y="4297680"/>
            <a:ext cx="2148840" cy="256032"/>
          </a:xfrm>
          <a:prstGeom prst="rect">
            <a:avLst/>
          </a:prstGeom>
          <a:noFill/>
          <a:ln/>
        </p:spPr>
        <p:txBody>
          <a:bodyPr wrap="square" lIns="0" tIns="0" rIns="0" bIns="0" rtlCol="0" anchor="ctr"/>
          <a:lstStyle/>
          <a:p>
            <a:pPr indent="0" marL="0">
              <a:buNone/>
            </a:pPr>
            <a:r>
              <a:rPr lang="en-US" sz="1000" b="1" dirty="0">
                <a:solidFill>
                  <a:srgbClr val="1C2B24"/>
                </a:solidFill>
                <a:latin typeface="Segoe UI" pitchFamily="34" charset="0"/>
                <a:ea typeface="Segoe UI" pitchFamily="34" charset="-122"/>
                <a:cs typeface="Segoe UI" pitchFamily="34" charset="-120"/>
              </a:rPr>
              <a:t>Buzzer pasif</a:t>
            </a:r>
            <a:endParaRPr lang="en-US" sz="1000" dirty="0"/>
          </a:p>
        </p:txBody>
      </p:sp>
      <p:sp>
        <p:nvSpPr>
          <p:cNvPr id="30" name="Text 27"/>
          <p:cNvSpPr txBox="1"/>
          <p:nvPr/>
        </p:nvSpPr>
        <p:spPr>
          <a:xfrm>
            <a:off x="9235440" y="4297680"/>
            <a:ext cx="868680" cy="256032"/>
          </a:xfrm>
          <a:prstGeom prst="rect">
            <a:avLst/>
          </a:prstGeom>
          <a:noFill/>
          <a:ln/>
        </p:spPr>
        <p:txBody>
          <a:bodyPr wrap="square" lIns="0" tIns="0" rIns="0" bIns="0" rtlCol="0" anchor="ctr"/>
          <a:lstStyle/>
          <a:p>
            <a:pPr indent="0" marL="0">
              <a:buNone/>
            </a:pPr>
            <a:r>
              <a:rPr lang="en-US" sz="950" b="1" dirty="0">
                <a:solidFill>
                  <a:srgbClr val="4E9A63"/>
                </a:solidFill>
                <a:latin typeface="Segoe UI" pitchFamily="34" charset="0"/>
                <a:ea typeface="Segoe UI" pitchFamily="34" charset="-122"/>
                <a:cs typeface="Segoe UI" pitchFamily="34" charset="-120"/>
              </a:rPr>
              <a:t>GPIO14</a:t>
            </a:r>
            <a:endParaRPr lang="en-US" sz="950" dirty="0"/>
          </a:p>
        </p:txBody>
      </p:sp>
      <p:sp>
        <p:nvSpPr>
          <p:cNvPr id="31" name="Text 28"/>
          <p:cNvSpPr txBox="1"/>
          <p:nvPr/>
        </p:nvSpPr>
        <p:spPr>
          <a:xfrm>
            <a:off x="10104120" y="4297680"/>
            <a:ext cx="1417320" cy="256032"/>
          </a:xfrm>
          <a:prstGeom prst="rect">
            <a:avLst/>
          </a:prstGeom>
          <a:noFill/>
          <a:ln/>
        </p:spPr>
        <p:txBody>
          <a:bodyPr wrap="square" lIns="0" tIns="0" rIns="0" bIns="0" rtlCol="0" anchor="ctr"/>
          <a:lstStyle/>
          <a:p>
            <a:pPr indent="0" marL="0">
              <a:buNone/>
            </a:pPr>
            <a:r>
              <a:rPr lang="en-US" sz="850" dirty="0">
                <a:solidFill>
                  <a:srgbClr val="5E6F66"/>
                </a:solidFill>
                <a:latin typeface="Segoe UI" pitchFamily="34" charset="0"/>
                <a:ea typeface="Segoe UI" pitchFamily="34" charset="-122"/>
                <a:cs typeface="Segoe UI" pitchFamily="34" charset="-120"/>
              </a:rPr>
              <a:t>Alarm reservoir dan fitur Find my plant</a:t>
            </a:r>
            <a:endParaRPr lang="en-US" sz="850" dirty="0"/>
          </a:p>
        </p:txBody>
      </p:sp>
      <p:sp>
        <p:nvSpPr>
          <p:cNvPr id="32" name="Shape 29"/>
          <p:cNvSpPr/>
          <p:nvPr/>
        </p:nvSpPr>
        <p:spPr>
          <a:xfrm>
            <a:off x="7040880" y="4626864"/>
            <a:ext cx="4389120" cy="7315"/>
          </a:xfrm>
          <a:prstGeom prst="rect">
            <a:avLst/>
          </a:prstGeom>
          <a:solidFill>
            <a:srgbClr val="EDEBE0"/>
          </a:solidFill>
          <a:ln/>
        </p:spPr>
      </p:sp>
      <p:sp>
        <p:nvSpPr>
          <p:cNvPr id="33" name="Text 30"/>
          <p:cNvSpPr txBox="1"/>
          <p:nvPr/>
        </p:nvSpPr>
        <p:spPr>
          <a:xfrm>
            <a:off x="7040880" y="4718304"/>
            <a:ext cx="2148840" cy="256032"/>
          </a:xfrm>
          <a:prstGeom prst="rect">
            <a:avLst/>
          </a:prstGeom>
          <a:noFill/>
          <a:ln/>
        </p:spPr>
        <p:txBody>
          <a:bodyPr wrap="square" lIns="0" tIns="0" rIns="0" bIns="0" rtlCol="0" anchor="ctr"/>
          <a:lstStyle/>
          <a:p>
            <a:pPr indent="0" marL="0">
              <a:buNone/>
            </a:pPr>
            <a:r>
              <a:rPr lang="en-US" sz="1000" b="1" dirty="0">
                <a:solidFill>
                  <a:srgbClr val="1C2B24"/>
                </a:solidFill>
                <a:latin typeface="Segoe UI" pitchFamily="34" charset="0"/>
                <a:ea typeface="Segoe UI" pitchFamily="34" charset="-122"/>
                <a:cs typeface="Segoe UI" pitchFamily="34" charset="-120"/>
              </a:rPr>
              <a:t>Button</a:t>
            </a:r>
            <a:endParaRPr lang="en-US" sz="1000" dirty="0"/>
          </a:p>
        </p:txBody>
      </p:sp>
      <p:sp>
        <p:nvSpPr>
          <p:cNvPr id="34" name="Text 31"/>
          <p:cNvSpPr txBox="1"/>
          <p:nvPr/>
        </p:nvSpPr>
        <p:spPr>
          <a:xfrm>
            <a:off x="9235440" y="4718304"/>
            <a:ext cx="868680" cy="256032"/>
          </a:xfrm>
          <a:prstGeom prst="rect">
            <a:avLst/>
          </a:prstGeom>
          <a:noFill/>
          <a:ln/>
        </p:spPr>
        <p:txBody>
          <a:bodyPr wrap="square" lIns="0" tIns="0" rIns="0" bIns="0" rtlCol="0" anchor="ctr"/>
          <a:lstStyle/>
          <a:p>
            <a:pPr indent="0" marL="0">
              <a:buNone/>
            </a:pPr>
            <a:r>
              <a:rPr lang="en-US" sz="950" b="1" dirty="0">
                <a:solidFill>
                  <a:srgbClr val="4E9A63"/>
                </a:solidFill>
                <a:latin typeface="Segoe UI" pitchFamily="34" charset="0"/>
                <a:ea typeface="Segoe UI" pitchFamily="34" charset="-122"/>
                <a:cs typeface="Segoe UI" pitchFamily="34" charset="-120"/>
              </a:rPr>
              <a:t>GPIO12</a:t>
            </a:r>
            <a:endParaRPr lang="en-US" sz="950" dirty="0"/>
          </a:p>
        </p:txBody>
      </p:sp>
      <p:sp>
        <p:nvSpPr>
          <p:cNvPr id="35" name="Text 32"/>
          <p:cNvSpPr txBox="1"/>
          <p:nvPr/>
        </p:nvSpPr>
        <p:spPr>
          <a:xfrm>
            <a:off x="10104120" y="4718304"/>
            <a:ext cx="1417320" cy="256032"/>
          </a:xfrm>
          <a:prstGeom prst="rect">
            <a:avLst/>
          </a:prstGeom>
          <a:noFill/>
          <a:ln/>
        </p:spPr>
        <p:txBody>
          <a:bodyPr wrap="square" lIns="0" tIns="0" rIns="0" bIns="0" rtlCol="0" anchor="ctr"/>
          <a:lstStyle/>
          <a:p>
            <a:pPr indent="0" marL="0">
              <a:buNone/>
            </a:pPr>
            <a:r>
              <a:rPr lang="en-US" sz="850" dirty="0">
                <a:solidFill>
                  <a:srgbClr val="5E6F66"/>
                </a:solidFill>
                <a:latin typeface="Segoe UI" pitchFamily="34" charset="0"/>
                <a:ea typeface="Segoe UI" pitchFamily="34" charset="-122"/>
                <a:cs typeface="Segoe UI" pitchFamily="34" charset="-120"/>
              </a:rPr>
              <a:t>Reset alarm dan lockout pompa</a:t>
            </a:r>
            <a:endParaRPr lang="en-US" sz="850" dirty="0"/>
          </a:p>
        </p:txBody>
      </p:sp>
      <p:sp>
        <p:nvSpPr>
          <p:cNvPr id="36" name="Shape 33"/>
          <p:cNvSpPr/>
          <p:nvPr/>
        </p:nvSpPr>
        <p:spPr>
          <a:xfrm>
            <a:off x="548640" y="5669280"/>
            <a:ext cx="5349240" cy="658368"/>
          </a:xfrm>
          <a:prstGeom prst="roundRect">
            <a:avLst>
              <a:gd name="adj" fmla="val 9722"/>
            </a:avLst>
          </a:prstGeom>
          <a:solidFill>
            <a:srgbClr val="E6EEE5"/>
          </a:solidFill>
          <a:ln/>
        </p:spPr>
      </p:sp>
      <p:sp>
        <p:nvSpPr>
          <p:cNvPr id="37" name="Text 34"/>
          <p:cNvSpPr txBox="1"/>
          <p:nvPr/>
        </p:nvSpPr>
        <p:spPr>
          <a:xfrm>
            <a:off x="749808" y="5760720"/>
            <a:ext cx="4937760" cy="228600"/>
          </a:xfrm>
          <a:prstGeom prst="rect">
            <a:avLst/>
          </a:prstGeom>
          <a:noFill/>
          <a:ln/>
        </p:spPr>
        <p:txBody>
          <a:bodyPr wrap="square" lIns="0" tIns="0" rIns="0" bIns="0" rtlCol="0" anchor="ctr"/>
          <a:lstStyle/>
          <a:p>
            <a:pPr indent="0" marL="0">
              <a:buNone/>
            </a:pPr>
            <a:r>
              <a:rPr lang="en-US" sz="1050" b="1" dirty="0">
                <a:solidFill>
                  <a:srgbClr val="3E7C4E"/>
                </a:solidFill>
                <a:latin typeface="Segoe UI" pitchFamily="34" charset="0"/>
                <a:ea typeface="Segoe UI" pitchFamily="34" charset="-122"/>
                <a:cs typeface="Segoe UI" pitchFamily="34" charset="-120"/>
              </a:rPr>
              <a:t>Tambahan di luar kit</a:t>
            </a:r>
            <a:endParaRPr lang="en-US" sz="1050" dirty="0"/>
          </a:p>
        </p:txBody>
      </p:sp>
      <p:sp>
        <p:nvSpPr>
          <p:cNvPr id="38" name="Text 35"/>
          <p:cNvSpPr txBox="1"/>
          <p:nvPr/>
        </p:nvSpPr>
        <p:spPr>
          <a:xfrm>
            <a:off x="749808" y="5989320"/>
            <a:ext cx="4937760" cy="274320"/>
          </a:xfrm>
          <a:prstGeom prst="rect">
            <a:avLst/>
          </a:prstGeom>
          <a:noFill/>
          <a:ln/>
        </p:spPr>
        <p:txBody>
          <a:bodyPr wrap="square" lIns="0" tIns="0" rIns="0" bIns="0" rtlCol="0" anchor="t"/>
          <a:lstStyle/>
          <a:p>
            <a:pPr indent="0" marL="0">
              <a:lnSpc>
                <a:spcPts val="1283"/>
              </a:lnSpc>
              <a:buNone/>
            </a:pPr>
            <a:r>
              <a:rPr lang="en-US" sz="950" dirty="0">
                <a:solidFill>
                  <a:srgbClr val="1C2B24"/>
                </a:solidFill>
                <a:latin typeface="Segoe UI" pitchFamily="34" charset="0"/>
                <a:ea typeface="Segoe UI" pitchFamily="34" charset="-122"/>
                <a:cs typeface="Segoe UI" pitchFamily="34" charset="-120"/>
              </a:rPr>
              <a:t>Sensor kelembapan tanah, relay, pompa bekas, reservoir, dan baterai AA. Total di bawah batas Rp100.000 yang diizinkan panitia.</a:t>
            </a:r>
            <a:endParaRPr lang="en-US" sz="950" dirty="0"/>
          </a:p>
        </p:txBody>
      </p:sp>
      <p:sp>
        <p:nvSpPr>
          <p:cNvPr id="39" name="Shape 36"/>
          <p:cNvSpPr/>
          <p:nvPr/>
        </p:nvSpPr>
        <p:spPr>
          <a:xfrm>
            <a:off x="6309360" y="5669280"/>
            <a:ext cx="5349240" cy="658368"/>
          </a:xfrm>
          <a:prstGeom prst="roundRect">
            <a:avLst>
              <a:gd name="adj" fmla="val 9722"/>
            </a:avLst>
          </a:prstGeom>
          <a:solidFill>
            <a:srgbClr val="F3E3DB"/>
          </a:solidFill>
          <a:ln/>
        </p:spPr>
      </p:sp>
      <p:sp>
        <p:nvSpPr>
          <p:cNvPr id="40" name="Text 37"/>
          <p:cNvSpPr txBox="1"/>
          <p:nvPr/>
        </p:nvSpPr>
        <p:spPr>
          <a:xfrm>
            <a:off x="6510528" y="5760720"/>
            <a:ext cx="4937760" cy="228600"/>
          </a:xfrm>
          <a:prstGeom prst="rect">
            <a:avLst/>
          </a:prstGeom>
          <a:noFill/>
          <a:ln/>
        </p:spPr>
        <p:txBody>
          <a:bodyPr wrap="square" lIns="0" tIns="0" rIns="0" bIns="0" rtlCol="0" anchor="ctr"/>
          <a:lstStyle/>
          <a:p>
            <a:pPr indent="0" marL="0">
              <a:buNone/>
            </a:pPr>
            <a:r>
              <a:rPr lang="en-US" sz="1050" b="1" dirty="0">
                <a:solidFill>
                  <a:srgbClr val="C2603F"/>
                </a:solidFill>
                <a:latin typeface="Segoe UI" pitchFamily="34" charset="0"/>
                <a:ea typeface="Segoe UI" pitchFamily="34" charset="-122"/>
                <a:cs typeface="Segoe UI" pitchFamily="34" charset="-120"/>
              </a:rPr>
              <a:t>Masalah nyata yang kami temui</a:t>
            </a:r>
            <a:endParaRPr lang="en-US" sz="1050" dirty="0"/>
          </a:p>
        </p:txBody>
      </p:sp>
      <p:sp>
        <p:nvSpPr>
          <p:cNvPr id="41" name="Text 38"/>
          <p:cNvSpPr txBox="1"/>
          <p:nvPr/>
        </p:nvSpPr>
        <p:spPr>
          <a:xfrm>
            <a:off x="6510528" y="5989320"/>
            <a:ext cx="4937760" cy="274320"/>
          </a:xfrm>
          <a:prstGeom prst="rect">
            <a:avLst/>
          </a:prstGeom>
          <a:noFill/>
          <a:ln/>
        </p:spPr>
        <p:txBody>
          <a:bodyPr wrap="square" lIns="0" tIns="0" rIns="0" bIns="0" rtlCol="0" anchor="t"/>
          <a:lstStyle/>
          <a:p>
            <a:pPr indent="0" marL="0">
              <a:lnSpc>
                <a:spcPts val="1283"/>
              </a:lnSpc>
              <a:buNone/>
            </a:pPr>
            <a:r>
              <a:rPr lang="en-US" sz="950" dirty="0">
                <a:solidFill>
                  <a:srgbClr val="1C2B24"/>
                </a:solidFill>
                <a:latin typeface="Segoe UI" pitchFamily="34" charset="0"/>
                <a:ea typeface="Segoe UI" pitchFamily="34" charset="-122"/>
                <a:cs typeface="Segoe UI" pitchFamily="34" charset="-120"/>
              </a:rPr>
              <a:t>Pompa yang disambung ke jalur ESP32 menyebabkan brownout dan boot-loop. Solusinya pompa diberi catu daya terpisah 4 baterai AA lewat relay.</a:t>
            </a:r>
            <a:endParaRPr lang="en-US" sz="950" dirty="0"/>
          </a:p>
        </p:txBody>
      </p:sp>
      <p:sp>
        <p:nvSpPr>
          <p:cNvPr id="42" name="Text 39"/>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5E6F66"/>
                </a:solidFill>
                <a:latin typeface="Segoe UI" pitchFamily="34" charset="0"/>
                <a:ea typeface="Segoe UI" pitchFamily="34" charset="-122"/>
                <a:cs typeface="Segoe UI" pitchFamily="34" charset="-120"/>
              </a:rPr>
              <a:t>Flora-Gotchi  |  Tim Gerbang Logika</a:t>
            </a:r>
            <a:endParaRPr lang="en-US" sz="900" dirty="0"/>
          </a:p>
        </p:txBody>
      </p:sp>
      <p:sp>
        <p:nvSpPr>
          <p:cNvPr id="43" name="Text 40"/>
          <p:cNvSpPr txBox="1"/>
          <p:nvPr/>
        </p:nvSpPr>
        <p:spPr>
          <a:xfrm>
            <a:off x="11155680" y="6419088"/>
            <a:ext cx="548640" cy="228600"/>
          </a:xfrm>
          <a:prstGeom prst="rect">
            <a:avLst/>
          </a:prstGeom>
          <a:noFill/>
          <a:ln/>
        </p:spPr>
        <p:txBody>
          <a:bodyPr wrap="square" lIns="0" tIns="0" rIns="0" bIns="0" rtlCol="0" anchor="ctr"/>
          <a:lstStyle/>
          <a:p>
            <a:pPr algn="r" indent="0" marL="0">
              <a:buNone/>
            </a:pPr>
            <a:r>
              <a:rPr lang="en-US" sz="900" dirty="0">
                <a:solidFill>
                  <a:srgbClr val="5E6F66"/>
                </a:solidFill>
                <a:latin typeface="Segoe UI" pitchFamily="34" charset="0"/>
                <a:ea typeface="Segoe UI" pitchFamily="34" charset="-122"/>
                <a:cs typeface="Segoe U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51C"/>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8FC79A"/>
                </a:solidFill>
                <a:latin typeface="Segoe UI" pitchFamily="34" charset="0"/>
                <a:ea typeface="Segoe UI" pitchFamily="34" charset="-122"/>
                <a:cs typeface="Segoe UI" pitchFamily="34" charset="-120"/>
              </a:rPr>
              <a:t>LOGIKA PROGRAM</a:t>
            </a:r>
            <a:endParaRPr lang="en-US" sz="1100" dirty="0"/>
          </a:p>
        </p:txBody>
      </p:sp>
      <p:sp>
        <p:nvSpPr>
          <p:cNvPr id="3" name="Text 1"/>
          <p:cNvSpPr txBox="1"/>
          <p:nvPr/>
        </p:nvSpPr>
        <p:spPr>
          <a:xfrm>
            <a:off x="548640" y="603504"/>
            <a:ext cx="11155680" cy="566928"/>
          </a:xfrm>
          <a:prstGeom prst="rect">
            <a:avLst/>
          </a:prstGeom>
          <a:noFill/>
          <a:ln/>
        </p:spPr>
        <p:txBody>
          <a:bodyPr wrap="square" lIns="0" tIns="0" rIns="0" bIns="0" rtlCol="0" anchor="ctr"/>
          <a:lstStyle/>
          <a:p>
            <a:pPr indent="0" marL="0">
              <a:buNone/>
            </a:pPr>
            <a:r>
              <a:rPr lang="en-US" sz="2600" b="1" dirty="0">
                <a:solidFill>
                  <a:srgbClr val="F7F4E9"/>
                </a:solidFill>
                <a:latin typeface="Georgia" pitchFamily="34" charset="0"/>
                <a:ea typeface="Georgia" pitchFamily="34" charset="-122"/>
                <a:cs typeface="Georgia" pitchFamily="34" charset="-120"/>
              </a:rPr>
              <a:t>State machine yang menolak salah siram</a:t>
            </a:r>
            <a:endParaRPr lang="en-US" sz="2600" dirty="0"/>
          </a:p>
        </p:txBody>
      </p:sp>
      <p:sp>
        <p:nvSpPr>
          <p:cNvPr id="4" name="Shape 2"/>
          <p:cNvSpPr/>
          <p:nvPr/>
        </p:nvSpPr>
        <p:spPr>
          <a:xfrm>
            <a:off x="548640" y="1261872"/>
            <a:ext cx="822960" cy="41148"/>
          </a:xfrm>
          <a:prstGeom prst="rect">
            <a:avLst/>
          </a:prstGeom>
          <a:solidFill>
            <a:srgbClr val="8FC79A"/>
          </a:solidFill>
          <a:ln/>
        </p:spPr>
      </p:sp>
      <p:sp>
        <p:nvSpPr>
          <p:cNvPr id="5" name="Shape 3"/>
          <p:cNvSpPr/>
          <p:nvPr/>
        </p:nvSpPr>
        <p:spPr>
          <a:xfrm>
            <a:off x="548640" y="1691640"/>
            <a:ext cx="3520440" cy="1783080"/>
          </a:xfrm>
          <a:prstGeom prst="roundRect">
            <a:avLst>
              <a:gd name="adj" fmla="val 4615"/>
            </a:avLst>
          </a:prstGeom>
          <a:solidFill>
            <a:srgbClr val="16332A"/>
          </a:solidFill>
          <a:ln w="9525">
            <a:solidFill>
              <a:srgbClr val="2A4A3B"/>
            </a:solidFill>
            <a:prstDash val="solid"/>
          </a:ln>
        </p:spPr>
      </p:sp>
      <p:sp>
        <p:nvSpPr>
          <p:cNvPr id="6" name="Shape 4"/>
          <p:cNvSpPr/>
          <p:nvPr/>
        </p:nvSpPr>
        <p:spPr>
          <a:xfrm>
            <a:off x="548640" y="1691640"/>
            <a:ext cx="3520440" cy="64008"/>
          </a:xfrm>
          <a:prstGeom prst="rect">
            <a:avLst/>
          </a:prstGeom>
          <a:solidFill>
            <a:srgbClr val="4E9A63"/>
          </a:solidFill>
          <a:ln/>
        </p:spPr>
      </p:sp>
      <p:sp>
        <p:nvSpPr>
          <p:cNvPr id="7" name="Text 5"/>
          <p:cNvSpPr txBox="1"/>
          <p:nvPr/>
        </p:nvSpPr>
        <p:spPr>
          <a:xfrm>
            <a:off x="804672" y="1901952"/>
            <a:ext cx="3017520" cy="320040"/>
          </a:xfrm>
          <a:prstGeom prst="rect">
            <a:avLst/>
          </a:prstGeom>
          <a:noFill/>
          <a:ln/>
        </p:spPr>
        <p:txBody>
          <a:bodyPr wrap="square" lIns="0" tIns="0" rIns="0" bIns="0" rtlCol="0" anchor="ctr"/>
          <a:lstStyle/>
          <a:p>
            <a:pPr indent="0" marL="0">
              <a:buNone/>
            </a:pPr>
            <a:r>
              <a:rPr lang="en-US" sz="1500" b="1" spc="100" kern="0" dirty="0">
                <a:solidFill>
                  <a:srgbClr val="F7F4E9"/>
                </a:solidFill>
                <a:latin typeface="Segoe UI" pitchFamily="34" charset="0"/>
                <a:ea typeface="Segoe UI" pitchFamily="34" charset="-122"/>
                <a:cs typeface="Segoe UI" pitchFamily="34" charset="-120"/>
              </a:rPr>
              <a:t>IDLE</a:t>
            </a:r>
            <a:endParaRPr lang="en-US" sz="1500" dirty="0"/>
          </a:p>
        </p:txBody>
      </p:sp>
      <p:sp>
        <p:nvSpPr>
          <p:cNvPr id="8" name="Text 6"/>
          <p:cNvSpPr txBox="1"/>
          <p:nvPr/>
        </p:nvSpPr>
        <p:spPr>
          <a:xfrm>
            <a:off x="804672" y="2286000"/>
            <a:ext cx="3017520" cy="274320"/>
          </a:xfrm>
          <a:prstGeom prst="rect">
            <a:avLst/>
          </a:prstGeom>
          <a:noFill/>
          <a:ln/>
        </p:spPr>
        <p:txBody>
          <a:bodyPr wrap="square" lIns="0" tIns="0" rIns="0" bIns="0" rtlCol="0" anchor="t"/>
          <a:lstStyle/>
          <a:p>
            <a:pPr indent="0" marL="0">
              <a:lnSpc>
                <a:spcPts val="1485"/>
              </a:lnSpc>
              <a:buNone/>
            </a:pPr>
            <a:r>
              <a:rPr lang="en-US" sz="1100" dirty="0">
                <a:solidFill>
                  <a:srgbClr val="AFC2B4"/>
                </a:solidFill>
                <a:latin typeface="Segoe UI" pitchFamily="34" charset="0"/>
                <a:ea typeface="Segoe UI" pitchFamily="34" charset="-122"/>
                <a:cs typeface="Segoe UI" pitchFamily="34" charset="-120"/>
              </a:rPr>
              <a:t>Baca sensor tiap 2 detik. Pompa hanya dipicu bila kelembapan di bawah 40 persen dua kali berturut-turut dan cooldown 30 detik sudah lewat.</a:t>
            </a:r>
            <a:endParaRPr lang="en-US" sz="1100" dirty="0"/>
          </a:p>
        </p:txBody>
      </p:sp>
      <p:sp>
        <p:nvSpPr>
          <p:cNvPr id="9" name="Text 7"/>
          <p:cNvSpPr txBox="1"/>
          <p:nvPr/>
        </p:nvSpPr>
        <p:spPr>
          <a:xfrm>
            <a:off x="4041648" y="2377440"/>
            <a:ext cx="274320" cy="365760"/>
          </a:xfrm>
          <a:prstGeom prst="rect">
            <a:avLst/>
          </a:prstGeom>
          <a:noFill/>
          <a:ln/>
        </p:spPr>
        <p:txBody>
          <a:bodyPr wrap="square" lIns="0" tIns="0" rIns="0" bIns="0" rtlCol="0" anchor="ctr"/>
          <a:lstStyle/>
          <a:p>
            <a:pPr algn="ctr" indent="0" marL="0">
              <a:buNone/>
            </a:pPr>
            <a:r>
              <a:rPr lang="en-US" sz="2000" b="1" dirty="0">
                <a:solidFill>
                  <a:srgbClr val="8FC79A"/>
                </a:solidFill>
                <a:latin typeface="Segoe UI" pitchFamily="34" charset="0"/>
                <a:ea typeface="Segoe UI" pitchFamily="34" charset="-122"/>
                <a:cs typeface="Segoe UI" pitchFamily="34" charset="-120"/>
              </a:rPr>
              <a:t>›</a:t>
            </a:r>
            <a:endParaRPr lang="en-US" sz="2000" dirty="0"/>
          </a:p>
        </p:txBody>
      </p:sp>
      <p:sp>
        <p:nvSpPr>
          <p:cNvPr id="10" name="Shape 8"/>
          <p:cNvSpPr/>
          <p:nvPr/>
        </p:nvSpPr>
        <p:spPr>
          <a:xfrm>
            <a:off x="4315968" y="1691640"/>
            <a:ext cx="3520440" cy="1783080"/>
          </a:xfrm>
          <a:prstGeom prst="roundRect">
            <a:avLst>
              <a:gd name="adj" fmla="val 4615"/>
            </a:avLst>
          </a:prstGeom>
          <a:solidFill>
            <a:srgbClr val="16332A"/>
          </a:solidFill>
          <a:ln w="9525">
            <a:solidFill>
              <a:srgbClr val="2A4A3B"/>
            </a:solidFill>
            <a:prstDash val="solid"/>
          </a:ln>
        </p:spPr>
      </p:sp>
      <p:sp>
        <p:nvSpPr>
          <p:cNvPr id="11" name="Shape 9"/>
          <p:cNvSpPr/>
          <p:nvPr/>
        </p:nvSpPr>
        <p:spPr>
          <a:xfrm>
            <a:off x="4315968" y="1691640"/>
            <a:ext cx="3520440" cy="64008"/>
          </a:xfrm>
          <a:prstGeom prst="rect">
            <a:avLst/>
          </a:prstGeom>
          <a:solidFill>
            <a:srgbClr val="B07C2E"/>
          </a:solidFill>
          <a:ln/>
        </p:spPr>
      </p:sp>
      <p:sp>
        <p:nvSpPr>
          <p:cNvPr id="12" name="Text 10"/>
          <p:cNvSpPr txBox="1"/>
          <p:nvPr/>
        </p:nvSpPr>
        <p:spPr>
          <a:xfrm>
            <a:off x="4572000" y="1901952"/>
            <a:ext cx="3017520" cy="320040"/>
          </a:xfrm>
          <a:prstGeom prst="rect">
            <a:avLst/>
          </a:prstGeom>
          <a:noFill/>
          <a:ln/>
        </p:spPr>
        <p:txBody>
          <a:bodyPr wrap="square" lIns="0" tIns="0" rIns="0" bIns="0" rtlCol="0" anchor="ctr"/>
          <a:lstStyle/>
          <a:p>
            <a:pPr indent="0" marL="0">
              <a:buNone/>
            </a:pPr>
            <a:r>
              <a:rPr lang="en-US" sz="1500" b="1" spc="100" kern="0" dirty="0">
                <a:solidFill>
                  <a:srgbClr val="F7F4E9"/>
                </a:solidFill>
                <a:latin typeface="Segoe UI" pitchFamily="34" charset="0"/>
                <a:ea typeface="Segoe UI" pitchFamily="34" charset="-122"/>
                <a:cs typeface="Segoe UI" pitchFamily="34" charset="-120"/>
              </a:rPr>
              <a:t>WATERING</a:t>
            </a:r>
            <a:endParaRPr lang="en-US" sz="1500" dirty="0"/>
          </a:p>
        </p:txBody>
      </p:sp>
      <p:sp>
        <p:nvSpPr>
          <p:cNvPr id="13" name="Text 11"/>
          <p:cNvSpPr txBox="1"/>
          <p:nvPr/>
        </p:nvSpPr>
        <p:spPr>
          <a:xfrm>
            <a:off x="4572000" y="2286000"/>
            <a:ext cx="3017520" cy="274320"/>
          </a:xfrm>
          <a:prstGeom prst="rect">
            <a:avLst/>
          </a:prstGeom>
          <a:noFill/>
          <a:ln/>
        </p:spPr>
        <p:txBody>
          <a:bodyPr wrap="square" lIns="0" tIns="0" rIns="0" bIns="0" rtlCol="0" anchor="t"/>
          <a:lstStyle/>
          <a:p>
            <a:pPr indent="0" marL="0">
              <a:lnSpc>
                <a:spcPts val="1485"/>
              </a:lnSpc>
              <a:buNone/>
            </a:pPr>
            <a:r>
              <a:rPr lang="en-US" sz="1100" dirty="0">
                <a:solidFill>
                  <a:srgbClr val="AFC2B4"/>
                </a:solidFill>
                <a:latin typeface="Segoe UI" pitchFamily="34" charset="0"/>
                <a:ea typeface="Segoe UI" pitchFamily="34" charset="-122"/>
                <a:cs typeface="Segoe UI" pitchFamily="34" charset="-120"/>
              </a:rPr>
              <a:t>Relay aktif 4 detik. Ada pengaman keras yang mematikan pompa paksa bila menyala melebihi durasi aman.</a:t>
            </a:r>
            <a:endParaRPr lang="en-US" sz="1100" dirty="0"/>
          </a:p>
        </p:txBody>
      </p:sp>
      <p:sp>
        <p:nvSpPr>
          <p:cNvPr id="14" name="Text 12"/>
          <p:cNvSpPr txBox="1"/>
          <p:nvPr/>
        </p:nvSpPr>
        <p:spPr>
          <a:xfrm>
            <a:off x="7808976" y="2377440"/>
            <a:ext cx="274320" cy="365760"/>
          </a:xfrm>
          <a:prstGeom prst="rect">
            <a:avLst/>
          </a:prstGeom>
          <a:noFill/>
          <a:ln/>
        </p:spPr>
        <p:txBody>
          <a:bodyPr wrap="square" lIns="0" tIns="0" rIns="0" bIns="0" rtlCol="0" anchor="ctr"/>
          <a:lstStyle/>
          <a:p>
            <a:pPr algn="ctr" indent="0" marL="0">
              <a:buNone/>
            </a:pPr>
            <a:r>
              <a:rPr lang="en-US" sz="2000" b="1" dirty="0">
                <a:solidFill>
                  <a:srgbClr val="8FC79A"/>
                </a:solidFill>
                <a:latin typeface="Segoe UI" pitchFamily="34" charset="0"/>
                <a:ea typeface="Segoe UI" pitchFamily="34" charset="-122"/>
                <a:cs typeface="Segoe UI" pitchFamily="34" charset="-120"/>
              </a:rPr>
              <a:t>›</a:t>
            </a:r>
            <a:endParaRPr lang="en-US" sz="2000" dirty="0"/>
          </a:p>
        </p:txBody>
      </p:sp>
      <p:sp>
        <p:nvSpPr>
          <p:cNvPr id="15" name="Shape 13"/>
          <p:cNvSpPr/>
          <p:nvPr/>
        </p:nvSpPr>
        <p:spPr>
          <a:xfrm>
            <a:off x="8083296" y="1691640"/>
            <a:ext cx="3520440" cy="1783080"/>
          </a:xfrm>
          <a:prstGeom prst="roundRect">
            <a:avLst>
              <a:gd name="adj" fmla="val 4615"/>
            </a:avLst>
          </a:prstGeom>
          <a:solidFill>
            <a:srgbClr val="16332A"/>
          </a:solidFill>
          <a:ln w="9525">
            <a:solidFill>
              <a:srgbClr val="2A4A3B"/>
            </a:solidFill>
            <a:prstDash val="solid"/>
          </a:ln>
        </p:spPr>
      </p:sp>
      <p:sp>
        <p:nvSpPr>
          <p:cNvPr id="16" name="Shape 14"/>
          <p:cNvSpPr/>
          <p:nvPr/>
        </p:nvSpPr>
        <p:spPr>
          <a:xfrm>
            <a:off x="8083296" y="1691640"/>
            <a:ext cx="3520440" cy="64008"/>
          </a:xfrm>
          <a:prstGeom prst="rect">
            <a:avLst/>
          </a:prstGeom>
          <a:solidFill>
            <a:srgbClr val="2E6B7C"/>
          </a:solidFill>
          <a:ln/>
        </p:spPr>
      </p:sp>
      <p:sp>
        <p:nvSpPr>
          <p:cNvPr id="17" name="Text 15"/>
          <p:cNvSpPr txBox="1"/>
          <p:nvPr/>
        </p:nvSpPr>
        <p:spPr>
          <a:xfrm>
            <a:off x="8339328" y="1901952"/>
            <a:ext cx="3017520" cy="320040"/>
          </a:xfrm>
          <a:prstGeom prst="rect">
            <a:avLst/>
          </a:prstGeom>
          <a:noFill/>
          <a:ln/>
        </p:spPr>
        <p:txBody>
          <a:bodyPr wrap="square" lIns="0" tIns="0" rIns="0" bIns="0" rtlCol="0" anchor="ctr"/>
          <a:lstStyle/>
          <a:p>
            <a:pPr indent="0" marL="0">
              <a:buNone/>
            </a:pPr>
            <a:r>
              <a:rPr lang="en-US" sz="1500" b="1" spc="100" kern="0" dirty="0">
                <a:solidFill>
                  <a:srgbClr val="F7F4E9"/>
                </a:solidFill>
                <a:latin typeface="Segoe UI" pitchFamily="34" charset="0"/>
                <a:ea typeface="Segoe UI" pitchFamily="34" charset="-122"/>
                <a:cs typeface="Segoe UI" pitchFamily="34" charset="-120"/>
              </a:rPr>
              <a:t>SOAK_CHECK</a:t>
            </a:r>
            <a:endParaRPr lang="en-US" sz="1500" dirty="0"/>
          </a:p>
        </p:txBody>
      </p:sp>
      <p:sp>
        <p:nvSpPr>
          <p:cNvPr id="18" name="Text 16"/>
          <p:cNvSpPr txBox="1"/>
          <p:nvPr/>
        </p:nvSpPr>
        <p:spPr>
          <a:xfrm>
            <a:off x="8339328" y="2286000"/>
            <a:ext cx="3017520" cy="274320"/>
          </a:xfrm>
          <a:prstGeom prst="rect">
            <a:avLst/>
          </a:prstGeom>
          <a:noFill/>
          <a:ln/>
        </p:spPr>
        <p:txBody>
          <a:bodyPr wrap="square" lIns="0" tIns="0" rIns="0" bIns="0" rtlCol="0" anchor="t"/>
          <a:lstStyle/>
          <a:p>
            <a:pPr indent="0" marL="0">
              <a:lnSpc>
                <a:spcPts val="1485"/>
              </a:lnSpc>
              <a:buNone/>
            </a:pPr>
            <a:r>
              <a:rPr lang="en-US" sz="1100" dirty="0">
                <a:solidFill>
                  <a:srgbClr val="AFC2B4"/>
                </a:solidFill>
                <a:latin typeface="Segoe UI" pitchFamily="34" charset="0"/>
                <a:ea typeface="Segoe UI" pitchFamily="34" charset="-122"/>
                <a:cs typeface="Segoe UI" pitchFamily="34" charset="-120"/>
              </a:rPr>
              <a:t>Tunggu 6 detik, baca ulang rata-rata 3 kali. Bila kelembapan tidak naik minimal 8 persen, sistem menyimpulkan reservoir kosong.</a:t>
            </a:r>
            <a:endParaRPr lang="en-US" sz="1100" dirty="0"/>
          </a:p>
        </p:txBody>
      </p:sp>
      <p:sp>
        <p:nvSpPr>
          <p:cNvPr id="19" name="Shape 17"/>
          <p:cNvSpPr/>
          <p:nvPr/>
        </p:nvSpPr>
        <p:spPr>
          <a:xfrm>
            <a:off x="548640" y="3703320"/>
            <a:ext cx="5349240" cy="1051560"/>
          </a:xfrm>
          <a:prstGeom prst="roundRect">
            <a:avLst>
              <a:gd name="adj" fmla="val 6957"/>
            </a:avLst>
          </a:prstGeom>
          <a:solidFill>
            <a:srgbClr val="16332A"/>
          </a:solidFill>
          <a:ln w="9525">
            <a:solidFill>
              <a:srgbClr val="2A4A3B"/>
            </a:solidFill>
            <a:prstDash val="solid"/>
          </a:ln>
        </p:spPr>
      </p:sp>
      <p:sp>
        <p:nvSpPr>
          <p:cNvPr id="20" name="Text 18"/>
          <p:cNvSpPr txBox="1"/>
          <p:nvPr/>
        </p:nvSpPr>
        <p:spPr>
          <a:xfrm>
            <a:off x="777240" y="3840480"/>
            <a:ext cx="4846320" cy="256032"/>
          </a:xfrm>
          <a:prstGeom prst="rect">
            <a:avLst/>
          </a:prstGeom>
          <a:noFill/>
          <a:ln/>
        </p:spPr>
        <p:txBody>
          <a:bodyPr wrap="square" lIns="0" tIns="0" rIns="0" bIns="0" rtlCol="0" anchor="ctr"/>
          <a:lstStyle/>
          <a:p>
            <a:pPr indent="0" marL="0">
              <a:buNone/>
            </a:pPr>
            <a:r>
              <a:rPr lang="en-US" sz="1200" b="1" dirty="0">
                <a:solidFill>
                  <a:srgbClr val="8FC79A"/>
                </a:solidFill>
                <a:latin typeface="Segoe UI" pitchFamily="34" charset="0"/>
                <a:ea typeface="Segoe UI" pitchFamily="34" charset="-122"/>
                <a:cs typeface="Segoe UI" pitchFamily="34" charset="-120"/>
              </a:rPr>
              <a:t>Anti noise</a:t>
            </a:r>
            <a:endParaRPr lang="en-US" sz="1200" dirty="0"/>
          </a:p>
        </p:txBody>
      </p:sp>
      <p:sp>
        <p:nvSpPr>
          <p:cNvPr id="21" name="Text 19"/>
          <p:cNvSpPr txBox="1"/>
          <p:nvPr/>
        </p:nvSpPr>
        <p:spPr>
          <a:xfrm>
            <a:off x="777240" y="4114800"/>
            <a:ext cx="4846320" cy="274320"/>
          </a:xfrm>
          <a:prstGeom prst="rect">
            <a:avLst/>
          </a:prstGeom>
          <a:noFill/>
          <a:ln/>
        </p:spPr>
        <p:txBody>
          <a:bodyPr wrap="square" lIns="0" tIns="0" rIns="0" bIns="0" rtlCol="0" anchor="t"/>
          <a:lstStyle/>
          <a:p>
            <a:pPr indent="0" marL="0">
              <a:lnSpc>
                <a:spcPts val="1418"/>
              </a:lnSpc>
              <a:buNone/>
            </a:pPr>
            <a:r>
              <a:rPr lang="en-US" sz="1050" dirty="0">
                <a:solidFill>
                  <a:srgbClr val="AFC2B4"/>
                </a:solidFill>
                <a:latin typeface="Segoe UI" pitchFamily="34" charset="0"/>
                <a:ea typeface="Segoe UI" pitchFamily="34" charset="-122"/>
                <a:cs typeface="Segoe UI" pitchFamily="34" charset="-120"/>
              </a:rPr>
              <a:t>8 sampel dirata-rata setiap pembacaan, dan status kering harus muncul 2 kali berturut-turut sebelum pompa dipicu.</a:t>
            </a:r>
            <a:endParaRPr lang="en-US" sz="1050" dirty="0"/>
          </a:p>
        </p:txBody>
      </p:sp>
      <p:sp>
        <p:nvSpPr>
          <p:cNvPr id="22" name="Shape 20"/>
          <p:cNvSpPr/>
          <p:nvPr/>
        </p:nvSpPr>
        <p:spPr>
          <a:xfrm>
            <a:off x="6309360" y="3703320"/>
            <a:ext cx="5349240" cy="1051560"/>
          </a:xfrm>
          <a:prstGeom prst="roundRect">
            <a:avLst>
              <a:gd name="adj" fmla="val 6957"/>
            </a:avLst>
          </a:prstGeom>
          <a:solidFill>
            <a:srgbClr val="16332A"/>
          </a:solidFill>
          <a:ln w="9525">
            <a:solidFill>
              <a:srgbClr val="2A4A3B"/>
            </a:solidFill>
            <a:prstDash val="solid"/>
          </a:ln>
        </p:spPr>
      </p:sp>
      <p:sp>
        <p:nvSpPr>
          <p:cNvPr id="23" name="Text 21"/>
          <p:cNvSpPr txBox="1"/>
          <p:nvPr/>
        </p:nvSpPr>
        <p:spPr>
          <a:xfrm>
            <a:off x="6537960" y="3840480"/>
            <a:ext cx="4846320" cy="256032"/>
          </a:xfrm>
          <a:prstGeom prst="rect">
            <a:avLst/>
          </a:prstGeom>
          <a:noFill/>
          <a:ln/>
        </p:spPr>
        <p:txBody>
          <a:bodyPr wrap="square" lIns="0" tIns="0" rIns="0" bIns="0" rtlCol="0" anchor="ctr"/>
          <a:lstStyle/>
          <a:p>
            <a:pPr indent="0" marL="0">
              <a:buNone/>
            </a:pPr>
            <a:r>
              <a:rPr lang="en-US" sz="1200" b="1" dirty="0">
                <a:solidFill>
                  <a:srgbClr val="8FC79A"/>
                </a:solidFill>
                <a:latin typeface="Segoe UI" pitchFamily="34" charset="0"/>
                <a:ea typeface="Segoe UI" pitchFamily="34" charset="-122"/>
                <a:cs typeface="Segoe UI" pitchFamily="34" charset="-120"/>
              </a:rPr>
              <a:t>Anti brownout</a:t>
            </a:r>
            <a:endParaRPr lang="en-US" sz="1200" dirty="0"/>
          </a:p>
        </p:txBody>
      </p:sp>
      <p:sp>
        <p:nvSpPr>
          <p:cNvPr id="24" name="Text 22"/>
          <p:cNvSpPr txBox="1"/>
          <p:nvPr/>
        </p:nvSpPr>
        <p:spPr>
          <a:xfrm>
            <a:off x="6537960" y="4114800"/>
            <a:ext cx="4846320" cy="274320"/>
          </a:xfrm>
          <a:prstGeom prst="rect">
            <a:avLst/>
          </a:prstGeom>
          <a:noFill/>
          <a:ln/>
        </p:spPr>
        <p:txBody>
          <a:bodyPr wrap="square" lIns="0" tIns="0" rIns="0" bIns="0" rtlCol="0" anchor="t"/>
          <a:lstStyle/>
          <a:p>
            <a:pPr indent="0" marL="0">
              <a:lnSpc>
                <a:spcPts val="1418"/>
              </a:lnSpc>
              <a:buNone/>
            </a:pPr>
            <a:r>
              <a:rPr lang="en-US" sz="1050" dirty="0">
                <a:solidFill>
                  <a:srgbClr val="AFC2B4"/>
                </a:solidFill>
                <a:latin typeface="Segoe UI" pitchFamily="34" charset="0"/>
                <a:ea typeface="Segoe UI" pitchFamily="34" charset="-122"/>
                <a:cs typeface="Segoe UI" pitchFamily="34" charset="-120"/>
              </a:rPr>
              <a:t>Firmware membaca esp_reset_reason saat boot. Tiga reset beruntun tanpa power-on bersih akan mengunci pompa dan membunyikan alarm.</a:t>
            </a:r>
            <a:endParaRPr lang="en-US" sz="1050" dirty="0"/>
          </a:p>
        </p:txBody>
      </p:sp>
      <p:sp>
        <p:nvSpPr>
          <p:cNvPr id="25" name="Shape 23"/>
          <p:cNvSpPr/>
          <p:nvPr/>
        </p:nvSpPr>
        <p:spPr>
          <a:xfrm>
            <a:off x="548640" y="4910328"/>
            <a:ext cx="5349240" cy="1051560"/>
          </a:xfrm>
          <a:prstGeom prst="roundRect">
            <a:avLst>
              <a:gd name="adj" fmla="val 6957"/>
            </a:avLst>
          </a:prstGeom>
          <a:solidFill>
            <a:srgbClr val="16332A"/>
          </a:solidFill>
          <a:ln w="9525">
            <a:solidFill>
              <a:srgbClr val="2A4A3B"/>
            </a:solidFill>
            <a:prstDash val="solid"/>
          </a:ln>
        </p:spPr>
      </p:sp>
      <p:sp>
        <p:nvSpPr>
          <p:cNvPr id="26" name="Text 24"/>
          <p:cNvSpPr txBox="1"/>
          <p:nvPr/>
        </p:nvSpPr>
        <p:spPr>
          <a:xfrm>
            <a:off x="777240" y="5047488"/>
            <a:ext cx="4846320" cy="256032"/>
          </a:xfrm>
          <a:prstGeom prst="rect">
            <a:avLst/>
          </a:prstGeom>
          <a:noFill/>
          <a:ln/>
        </p:spPr>
        <p:txBody>
          <a:bodyPr wrap="square" lIns="0" tIns="0" rIns="0" bIns="0" rtlCol="0" anchor="ctr"/>
          <a:lstStyle/>
          <a:p>
            <a:pPr indent="0" marL="0">
              <a:buNone/>
            </a:pPr>
            <a:r>
              <a:rPr lang="en-US" sz="1200" b="1" dirty="0">
                <a:solidFill>
                  <a:srgbClr val="8FC79A"/>
                </a:solidFill>
                <a:latin typeface="Segoe UI" pitchFamily="34" charset="0"/>
                <a:ea typeface="Segoe UI" pitchFamily="34" charset="-122"/>
                <a:cs typeface="Segoe UI" pitchFamily="34" charset="-120"/>
              </a:rPr>
              <a:t>Anti banjir</a:t>
            </a:r>
            <a:endParaRPr lang="en-US" sz="1200" dirty="0"/>
          </a:p>
        </p:txBody>
      </p:sp>
      <p:sp>
        <p:nvSpPr>
          <p:cNvPr id="27" name="Text 25"/>
          <p:cNvSpPr txBox="1"/>
          <p:nvPr/>
        </p:nvSpPr>
        <p:spPr>
          <a:xfrm>
            <a:off x="777240" y="5321808"/>
            <a:ext cx="4846320" cy="274320"/>
          </a:xfrm>
          <a:prstGeom prst="rect">
            <a:avLst/>
          </a:prstGeom>
          <a:noFill/>
          <a:ln/>
        </p:spPr>
        <p:txBody>
          <a:bodyPr wrap="square" lIns="0" tIns="0" rIns="0" bIns="0" rtlCol="0" anchor="t"/>
          <a:lstStyle/>
          <a:p>
            <a:pPr indent="0" marL="0">
              <a:lnSpc>
                <a:spcPts val="1418"/>
              </a:lnSpc>
              <a:buNone/>
            </a:pPr>
            <a:r>
              <a:rPr lang="en-US" sz="1050" dirty="0">
                <a:solidFill>
                  <a:srgbClr val="AFC2B4"/>
                </a:solidFill>
                <a:latin typeface="Segoe UI" pitchFamily="34" charset="0"/>
                <a:ea typeface="Segoe UI" pitchFamily="34" charset="-122"/>
                <a:cs typeface="Segoe UI" pitchFamily="34" charset="-120"/>
              </a:rPr>
              <a:t>Relay diabaikan selama 4 detik pertama setelah boot agar pompa tidak ikut menyala saat ESP32 baru menyala.</a:t>
            </a:r>
            <a:endParaRPr lang="en-US" sz="1050" dirty="0"/>
          </a:p>
        </p:txBody>
      </p:sp>
      <p:sp>
        <p:nvSpPr>
          <p:cNvPr id="28" name="Shape 26"/>
          <p:cNvSpPr/>
          <p:nvPr/>
        </p:nvSpPr>
        <p:spPr>
          <a:xfrm>
            <a:off x="6309360" y="4910328"/>
            <a:ext cx="5349240" cy="1051560"/>
          </a:xfrm>
          <a:prstGeom prst="roundRect">
            <a:avLst>
              <a:gd name="adj" fmla="val 6957"/>
            </a:avLst>
          </a:prstGeom>
          <a:solidFill>
            <a:srgbClr val="16332A"/>
          </a:solidFill>
          <a:ln w="9525">
            <a:solidFill>
              <a:srgbClr val="2A4A3B"/>
            </a:solidFill>
            <a:prstDash val="solid"/>
          </a:ln>
        </p:spPr>
      </p:sp>
      <p:sp>
        <p:nvSpPr>
          <p:cNvPr id="29" name="Text 27"/>
          <p:cNvSpPr txBox="1"/>
          <p:nvPr/>
        </p:nvSpPr>
        <p:spPr>
          <a:xfrm>
            <a:off x="6537960" y="5047488"/>
            <a:ext cx="4846320" cy="256032"/>
          </a:xfrm>
          <a:prstGeom prst="rect">
            <a:avLst/>
          </a:prstGeom>
          <a:noFill/>
          <a:ln/>
        </p:spPr>
        <p:txBody>
          <a:bodyPr wrap="square" lIns="0" tIns="0" rIns="0" bIns="0" rtlCol="0" anchor="ctr"/>
          <a:lstStyle/>
          <a:p>
            <a:pPr indent="0" marL="0">
              <a:buNone/>
            </a:pPr>
            <a:r>
              <a:rPr lang="en-US" sz="1200" b="1" dirty="0">
                <a:solidFill>
                  <a:srgbClr val="8FC79A"/>
                </a:solidFill>
                <a:latin typeface="Segoe UI" pitchFamily="34" charset="0"/>
                <a:ea typeface="Segoe UI" pitchFamily="34" charset="-122"/>
                <a:cs typeface="Segoe UI" pitchFamily="34" charset="-120"/>
              </a:rPr>
              <a:t>Verifikasi hasil</a:t>
            </a:r>
            <a:endParaRPr lang="en-US" sz="1200" dirty="0"/>
          </a:p>
        </p:txBody>
      </p:sp>
      <p:sp>
        <p:nvSpPr>
          <p:cNvPr id="30" name="Text 28"/>
          <p:cNvSpPr txBox="1"/>
          <p:nvPr/>
        </p:nvSpPr>
        <p:spPr>
          <a:xfrm>
            <a:off x="6537960" y="5321808"/>
            <a:ext cx="4846320" cy="274320"/>
          </a:xfrm>
          <a:prstGeom prst="rect">
            <a:avLst/>
          </a:prstGeom>
          <a:noFill/>
          <a:ln/>
        </p:spPr>
        <p:txBody>
          <a:bodyPr wrap="square" lIns="0" tIns="0" rIns="0" bIns="0" rtlCol="0" anchor="t"/>
          <a:lstStyle/>
          <a:p>
            <a:pPr indent="0" marL="0">
              <a:lnSpc>
                <a:spcPts val="1418"/>
              </a:lnSpc>
              <a:buNone/>
            </a:pPr>
            <a:r>
              <a:rPr lang="en-US" sz="1050" dirty="0">
                <a:solidFill>
                  <a:srgbClr val="AFC2B4"/>
                </a:solidFill>
                <a:latin typeface="Segoe UI" pitchFamily="34" charset="0"/>
                <a:ea typeface="Segoe UI" pitchFamily="34" charset="-122"/>
                <a:cs typeface="Segoe UI" pitchFamily="34" charset="-120"/>
              </a:rPr>
              <a:t>Penyiraman baru dianggap berhasil bila kelembapan benar-benar naik, bukan sekadar karena pompa sudah menyala.</a:t>
            </a:r>
            <a:endParaRPr lang="en-US" sz="1050" dirty="0"/>
          </a:p>
        </p:txBody>
      </p:sp>
      <p:sp>
        <p:nvSpPr>
          <p:cNvPr id="31" name="Text 29"/>
          <p:cNvSpPr txBox="1"/>
          <p:nvPr/>
        </p:nvSpPr>
        <p:spPr>
          <a:xfrm>
            <a:off x="548640" y="6144768"/>
            <a:ext cx="11109960" cy="228600"/>
          </a:xfrm>
          <a:prstGeom prst="rect">
            <a:avLst/>
          </a:prstGeom>
          <a:noFill/>
          <a:ln/>
        </p:spPr>
        <p:txBody>
          <a:bodyPr wrap="square" lIns="0" tIns="0" rIns="0" bIns="0" rtlCol="0" anchor="ctr"/>
          <a:lstStyle/>
          <a:p>
            <a:pPr indent="0" marL="0">
              <a:buNone/>
            </a:pPr>
            <a:r>
              <a:rPr lang="en-US" sz="900" i="1" dirty="0">
                <a:solidFill>
                  <a:srgbClr val="6E8A7B"/>
                </a:solidFill>
                <a:latin typeface="Segoe UI" pitchFamily="34" charset="0"/>
                <a:ea typeface="Segoe UI" pitchFamily="34" charset="-122"/>
                <a:cs typeface="Segoe UI" pitchFamily="34" charset="-120"/>
              </a:rPr>
              <a:t>Seluruh nilai di atas diambil langsung dari konstanta pada firmware yang kami tulis sendiri.</a:t>
            </a:r>
            <a:endParaRPr lang="en-US" sz="900" dirty="0"/>
          </a:p>
        </p:txBody>
      </p:sp>
      <p:sp>
        <p:nvSpPr>
          <p:cNvPr id="32" name="Text 30"/>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E8A7B"/>
                </a:solidFill>
                <a:latin typeface="Segoe UI" pitchFamily="34" charset="0"/>
                <a:ea typeface="Segoe UI" pitchFamily="34" charset="-122"/>
                <a:cs typeface="Segoe UI" pitchFamily="34" charset="-120"/>
              </a:rPr>
              <a:t>Flora-Gotchi  |  Tim Gerbang Logika</a:t>
            </a:r>
            <a:endParaRPr lang="en-US" sz="900" dirty="0"/>
          </a:p>
        </p:txBody>
      </p:sp>
      <p:sp>
        <p:nvSpPr>
          <p:cNvPr id="33" name="Text 31"/>
          <p:cNvSpPr txBox="1"/>
          <p:nvPr/>
        </p:nvSpPr>
        <p:spPr>
          <a:xfrm>
            <a:off x="11155680" y="6419088"/>
            <a:ext cx="548640" cy="228600"/>
          </a:xfrm>
          <a:prstGeom prst="rect">
            <a:avLst/>
          </a:prstGeom>
          <a:noFill/>
          <a:ln/>
        </p:spPr>
        <p:txBody>
          <a:bodyPr wrap="square" lIns="0" tIns="0" rIns="0" bIns="0" rtlCol="0" anchor="ctr"/>
          <a:lstStyle/>
          <a:p>
            <a:pPr algn="r" indent="0" marL="0">
              <a:buNone/>
            </a:pPr>
            <a:r>
              <a:rPr lang="en-US" sz="900" dirty="0">
                <a:solidFill>
                  <a:srgbClr val="6E8A7B"/>
                </a:solidFill>
                <a:latin typeface="Segoe UI" pitchFamily="34" charset="0"/>
                <a:ea typeface="Segoe UI" pitchFamily="34" charset="-122"/>
                <a:cs typeface="Segoe U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9"/>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E9A63"/>
                </a:solidFill>
                <a:latin typeface="Segoe UI" pitchFamily="34" charset="0"/>
                <a:ea typeface="Segoe UI" pitchFamily="34" charset="-122"/>
                <a:cs typeface="Segoe UI" pitchFamily="34" charset="-120"/>
              </a:rPr>
              <a:t>KECERDASAN BUATAN</a:t>
            </a:r>
            <a:endParaRPr lang="en-US" sz="1100" dirty="0"/>
          </a:p>
        </p:txBody>
      </p:sp>
      <p:sp>
        <p:nvSpPr>
          <p:cNvPr id="3" name="Text 1"/>
          <p:cNvSpPr txBox="1"/>
          <p:nvPr/>
        </p:nvSpPr>
        <p:spPr>
          <a:xfrm>
            <a:off x="548640" y="603504"/>
            <a:ext cx="11155680" cy="566928"/>
          </a:xfrm>
          <a:prstGeom prst="rect">
            <a:avLst/>
          </a:prstGeom>
          <a:noFill/>
          <a:ln/>
        </p:spPr>
        <p:txBody>
          <a:bodyPr wrap="square" lIns="0" tIns="0" rIns="0" bIns="0" rtlCol="0" anchor="ctr"/>
          <a:lstStyle/>
          <a:p>
            <a:pPr indent="0" marL="0">
              <a:buNone/>
            </a:pPr>
            <a:r>
              <a:rPr lang="en-US" sz="2600" b="1" dirty="0">
                <a:solidFill>
                  <a:srgbClr val="1C2B24"/>
                </a:solidFill>
                <a:latin typeface="Georgia" pitchFamily="34" charset="0"/>
                <a:ea typeface="Georgia" pitchFamily="34" charset="-122"/>
                <a:cs typeface="Georgia" pitchFamily="34" charset="-120"/>
              </a:rPr>
              <a:t>Teachable Machine, 8 kelas, jalan di browser HP</a:t>
            </a:r>
            <a:endParaRPr lang="en-US" sz="2600" dirty="0"/>
          </a:p>
        </p:txBody>
      </p:sp>
      <p:sp>
        <p:nvSpPr>
          <p:cNvPr id="4" name="Shape 2"/>
          <p:cNvSpPr/>
          <p:nvPr/>
        </p:nvSpPr>
        <p:spPr>
          <a:xfrm>
            <a:off x="548640" y="1261872"/>
            <a:ext cx="822960" cy="41148"/>
          </a:xfrm>
          <a:prstGeom prst="rect">
            <a:avLst/>
          </a:prstGeom>
          <a:solidFill>
            <a:srgbClr val="4E9A63"/>
          </a:solidFill>
          <a:ln/>
        </p:spPr>
      </p:sp>
      <p:pic>
        <p:nvPicPr>
          <p:cNvPr id="5" name="Image 0" descr="deck/tm.png">    </p:cNvPr>
          <p:cNvPicPr>
            <a:picLocks noChangeAspect="1"/>
          </p:cNvPicPr>
          <p:nvPr/>
        </p:nvPicPr>
        <p:blipFill>
          <a:blip r:embed="rId1"/>
          <a:stretch>
            <a:fillRect/>
          </a:stretch>
        </p:blipFill>
        <p:spPr>
          <a:xfrm>
            <a:off x="548640" y="1645920"/>
            <a:ext cx="3108960" cy="3767328"/>
          </a:xfrm>
          <a:prstGeom prst="rect">
            <a:avLst/>
          </a:prstGeom>
        </p:spPr>
      </p:pic>
      <p:sp>
        <p:nvSpPr>
          <p:cNvPr id="6" name="Text 3"/>
          <p:cNvSpPr txBox="1"/>
          <p:nvPr/>
        </p:nvSpPr>
        <p:spPr>
          <a:xfrm>
            <a:off x="548640" y="5468112"/>
            <a:ext cx="3108960" cy="457200"/>
          </a:xfrm>
          <a:prstGeom prst="rect">
            <a:avLst/>
          </a:prstGeom>
          <a:noFill/>
          <a:ln/>
        </p:spPr>
        <p:txBody>
          <a:bodyPr wrap="square" lIns="0" tIns="0" rIns="0" bIns="0" rtlCol="0" anchor="ctr"/>
          <a:lstStyle/>
          <a:p>
            <a:pPr indent="0" marL="0">
              <a:lnSpc>
                <a:spcPts val="1200"/>
              </a:lnSpc>
              <a:buNone/>
            </a:pPr>
            <a:r>
              <a:rPr lang="en-US" sz="900" i="1" dirty="0">
                <a:solidFill>
                  <a:srgbClr val="5E6F66"/>
                </a:solidFill>
                <a:latin typeface="Segoe UI" pitchFamily="34" charset="0"/>
                <a:ea typeface="Segoe UI" pitchFamily="34" charset="-122"/>
                <a:cs typeface="Segoe UI" pitchFamily="34" charset="-120"/>
              </a:rPr>
              <a:t>Dataset dan proses pelatihan di Google Teachable Machine, status Model Trained.</a:t>
            </a:r>
            <a:endParaRPr lang="en-US" sz="900" dirty="0"/>
          </a:p>
        </p:txBody>
      </p:sp>
      <p:sp>
        <p:nvSpPr>
          <p:cNvPr id="7" name="Shape 4"/>
          <p:cNvSpPr/>
          <p:nvPr/>
        </p:nvSpPr>
        <p:spPr>
          <a:xfrm>
            <a:off x="3886200" y="1645920"/>
            <a:ext cx="3794760" cy="3767328"/>
          </a:xfrm>
          <a:prstGeom prst="roundRect">
            <a:avLst>
              <a:gd name="adj" fmla="val 2184"/>
            </a:avLst>
          </a:prstGeom>
          <a:solidFill>
            <a:srgbClr val="FFFFFF"/>
          </a:solidFill>
          <a:ln w="9525">
            <a:solidFill>
              <a:srgbClr val="D8D5C4"/>
            </a:solidFill>
            <a:prstDash val="solid"/>
          </a:ln>
        </p:spPr>
      </p:sp>
      <p:sp>
        <p:nvSpPr>
          <p:cNvPr id="8" name="Text 5"/>
          <p:cNvSpPr txBox="1"/>
          <p:nvPr/>
        </p:nvSpPr>
        <p:spPr>
          <a:xfrm>
            <a:off x="4114800" y="1810512"/>
            <a:ext cx="3383280" cy="274320"/>
          </a:xfrm>
          <a:prstGeom prst="rect">
            <a:avLst/>
          </a:prstGeom>
          <a:noFill/>
          <a:ln/>
        </p:spPr>
        <p:txBody>
          <a:bodyPr wrap="square" lIns="0" tIns="0" rIns="0" bIns="0" rtlCol="0" anchor="ctr"/>
          <a:lstStyle/>
          <a:p>
            <a:pPr indent="0" marL="0">
              <a:buNone/>
            </a:pPr>
            <a:r>
              <a:rPr lang="en-US" sz="1200" b="1" dirty="0">
                <a:solidFill>
                  <a:srgbClr val="1C2B24"/>
                </a:solidFill>
                <a:latin typeface="Segoe UI" pitchFamily="34" charset="0"/>
                <a:ea typeface="Segoe UI" pitchFamily="34" charset="-122"/>
                <a:cs typeface="Segoe UI" pitchFamily="34" charset="-120"/>
              </a:rPr>
              <a:t>Delapan kelas yang dikenali</a:t>
            </a:r>
            <a:endParaRPr lang="en-US" sz="1200" dirty="0"/>
          </a:p>
        </p:txBody>
      </p:sp>
      <p:sp>
        <p:nvSpPr>
          <p:cNvPr id="9" name="Shape 6"/>
          <p:cNvSpPr/>
          <p:nvPr/>
        </p:nvSpPr>
        <p:spPr>
          <a:xfrm>
            <a:off x="4114800" y="2212848"/>
            <a:ext cx="54864" cy="274320"/>
          </a:xfrm>
          <a:prstGeom prst="rect">
            <a:avLst/>
          </a:prstGeom>
          <a:solidFill>
            <a:srgbClr val="4E9A63"/>
          </a:solidFill>
          <a:ln/>
        </p:spPr>
      </p:sp>
      <p:sp>
        <p:nvSpPr>
          <p:cNvPr id="10" name="Text 7"/>
          <p:cNvSpPr txBox="1"/>
          <p:nvPr/>
        </p:nvSpPr>
        <p:spPr>
          <a:xfrm>
            <a:off x="4279392" y="2176272"/>
            <a:ext cx="1737360" cy="256032"/>
          </a:xfrm>
          <a:prstGeom prst="rect">
            <a:avLst/>
          </a:prstGeom>
          <a:noFill/>
          <a:ln/>
        </p:spPr>
        <p:txBody>
          <a:bodyPr wrap="square" lIns="0" tIns="0" rIns="0" bIns="0" rtlCol="0" anchor="ctr"/>
          <a:lstStyle/>
          <a:p>
            <a:pPr indent="0" marL="0">
              <a:buNone/>
            </a:pPr>
            <a:r>
              <a:rPr lang="en-US" sz="1100" b="1" dirty="0">
                <a:solidFill>
                  <a:srgbClr val="1C2B24"/>
                </a:solidFill>
                <a:latin typeface="Segoe UI" pitchFamily="34" charset="0"/>
                <a:ea typeface="Segoe UI" pitchFamily="34" charset="-122"/>
                <a:cs typeface="Segoe UI" pitchFamily="34" charset="-120"/>
              </a:rPr>
              <a:t>healthy_leaf</a:t>
            </a:r>
            <a:endParaRPr lang="en-US" sz="1100" dirty="0"/>
          </a:p>
        </p:txBody>
      </p:sp>
      <p:sp>
        <p:nvSpPr>
          <p:cNvPr id="11" name="Text 8"/>
          <p:cNvSpPr txBox="1"/>
          <p:nvPr/>
        </p:nvSpPr>
        <p:spPr>
          <a:xfrm>
            <a:off x="5943600" y="2176272"/>
            <a:ext cx="1600200" cy="256032"/>
          </a:xfrm>
          <a:prstGeom prst="rect">
            <a:avLst/>
          </a:prstGeom>
          <a:noFill/>
          <a:ln/>
        </p:spPr>
        <p:txBody>
          <a:bodyPr wrap="square" lIns="0" tIns="0" rIns="0" bIns="0" rtlCol="0" anchor="ctr"/>
          <a:lstStyle/>
          <a:p>
            <a:pPr indent="0" marL="0">
              <a:buNone/>
            </a:pPr>
            <a:r>
              <a:rPr lang="en-US" sz="1000" dirty="0">
                <a:solidFill>
                  <a:srgbClr val="5E6F66"/>
                </a:solidFill>
                <a:latin typeface="Segoe UI" pitchFamily="34" charset="0"/>
                <a:ea typeface="Segoe UI" pitchFamily="34" charset="-122"/>
                <a:cs typeface="Segoe UI" pitchFamily="34" charset="-120"/>
              </a:rPr>
              <a:t>Daun sehat</a:t>
            </a:r>
            <a:endParaRPr lang="en-US" sz="1000" dirty="0"/>
          </a:p>
        </p:txBody>
      </p:sp>
      <p:sp>
        <p:nvSpPr>
          <p:cNvPr id="12" name="Shape 9"/>
          <p:cNvSpPr/>
          <p:nvPr/>
        </p:nvSpPr>
        <p:spPr>
          <a:xfrm>
            <a:off x="4114800" y="2578608"/>
            <a:ext cx="54864" cy="274320"/>
          </a:xfrm>
          <a:prstGeom prst="rect">
            <a:avLst/>
          </a:prstGeom>
          <a:solidFill>
            <a:srgbClr val="B07C2E"/>
          </a:solidFill>
          <a:ln/>
        </p:spPr>
      </p:sp>
      <p:sp>
        <p:nvSpPr>
          <p:cNvPr id="13" name="Text 10"/>
          <p:cNvSpPr txBox="1"/>
          <p:nvPr/>
        </p:nvSpPr>
        <p:spPr>
          <a:xfrm>
            <a:off x="4279392" y="2542032"/>
            <a:ext cx="1737360" cy="256032"/>
          </a:xfrm>
          <a:prstGeom prst="rect">
            <a:avLst/>
          </a:prstGeom>
          <a:noFill/>
          <a:ln/>
        </p:spPr>
        <p:txBody>
          <a:bodyPr wrap="square" lIns="0" tIns="0" rIns="0" bIns="0" rtlCol="0" anchor="ctr"/>
          <a:lstStyle/>
          <a:p>
            <a:pPr indent="0" marL="0">
              <a:buNone/>
            </a:pPr>
            <a:r>
              <a:rPr lang="en-US" sz="1100" b="1" dirty="0">
                <a:solidFill>
                  <a:srgbClr val="1C2B24"/>
                </a:solidFill>
                <a:latin typeface="Segoe UI" pitchFamily="34" charset="0"/>
                <a:ea typeface="Segoe UI" pitchFamily="34" charset="-122"/>
                <a:cs typeface="Segoe UI" pitchFamily="34" charset="-120"/>
              </a:rPr>
              <a:t>yellow_leaf</a:t>
            </a:r>
            <a:endParaRPr lang="en-US" sz="1100" dirty="0"/>
          </a:p>
        </p:txBody>
      </p:sp>
      <p:sp>
        <p:nvSpPr>
          <p:cNvPr id="14" name="Text 11"/>
          <p:cNvSpPr txBox="1"/>
          <p:nvPr/>
        </p:nvSpPr>
        <p:spPr>
          <a:xfrm>
            <a:off x="5943600" y="2542032"/>
            <a:ext cx="1600200" cy="256032"/>
          </a:xfrm>
          <a:prstGeom prst="rect">
            <a:avLst/>
          </a:prstGeom>
          <a:noFill/>
          <a:ln/>
        </p:spPr>
        <p:txBody>
          <a:bodyPr wrap="square" lIns="0" tIns="0" rIns="0" bIns="0" rtlCol="0" anchor="ctr"/>
          <a:lstStyle/>
          <a:p>
            <a:pPr indent="0" marL="0">
              <a:buNone/>
            </a:pPr>
            <a:r>
              <a:rPr lang="en-US" sz="1000" dirty="0">
                <a:solidFill>
                  <a:srgbClr val="5E6F66"/>
                </a:solidFill>
                <a:latin typeface="Segoe UI" pitchFamily="34" charset="0"/>
                <a:ea typeface="Segoe UI" pitchFamily="34" charset="-122"/>
                <a:cs typeface="Segoe UI" pitchFamily="34" charset="-120"/>
              </a:rPr>
              <a:t>Daun menguning</a:t>
            </a:r>
            <a:endParaRPr lang="en-US" sz="1000" dirty="0"/>
          </a:p>
        </p:txBody>
      </p:sp>
      <p:sp>
        <p:nvSpPr>
          <p:cNvPr id="15" name="Shape 12"/>
          <p:cNvSpPr/>
          <p:nvPr/>
        </p:nvSpPr>
        <p:spPr>
          <a:xfrm>
            <a:off x="4114800" y="2944368"/>
            <a:ext cx="54864" cy="274320"/>
          </a:xfrm>
          <a:prstGeom prst="rect">
            <a:avLst/>
          </a:prstGeom>
          <a:solidFill>
            <a:srgbClr val="C2603F"/>
          </a:solidFill>
          <a:ln/>
        </p:spPr>
      </p:sp>
      <p:sp>
        <p:nvSpPr>
          <p:cNvPr id="16" name="Text 13"/>
          <p:cNvSpPr txBox="1"/>
          <p:nvPr/>
        </p:nvSpPr>
        <p:spPr>
          <a:xfrm>
            <a:off x="4279392" y="2907792"/>
            <a:ext cx="1737360" cy="256032"/>
          </a:xfrm>
          <a:prstGeom prst="rect">
            <a:avLst/>
          </a:prstGeom>
          <a:noFill/>
          <a:ln/>
        </p:spPr>
        <p:txBody>
          <a:bodyPr wrap="square" lIns="0" tIns="0" rIns="0" bIns="0" rtlCol="0" anchor="ctr"/>
          <a:lstStyle/>
          <a:p>
            <a:pPr indent="0" marL="0">
              <a:buNone/>
            </a:pPr>
            <a:r>
              <a:rPr lang="en-US" sz="1100" b="1" dirty="0">
                <a:solidFill>
                  <a:srgbClr val="1C2B24"/>
                </a:solidFill>
                <a:latin typeface="Segoe UI" pitchFamily="34" charset="0"/>
                <a:ea typeface="Segoe UI" pitchFamily="34" charset="-122"/>
                <a:cs typeface="Segoe UI" pitchFamily="34" charset="-120"/>
              </a:rPr>
              <a:t>dry_leaf</a:t>
            </a:r>
            <a:endParaRPr lang="en-US" sz="1100" dirty="0"/>
          </a:p>
        </p:txBody>
      </p:sp>
      <p:sp>
        <p:nvSpPr>
          <p:cNvPr id="17" name="Text 14"/>
          <p:cNvSpPr txBox="1"/>
          <p:nvPr/>
        </p:nvSpPr>
        <p:spPr>
          <a:xfrm>
            <a:off x="5943600" y="2907792"/>
            <a:ext cx="1600200" cy="256032"/>
          </a:xfrm>
          <a:prstGeom prst="rect">
            <a:avLst/>
          </a:prstGeom>
          <a:noFill/>
          <a:ln/>
        </p:spPr>
        <p:txBody>
          <a:bodyPr wrap="square" lIns="0" tIns="0" rIns="0" bIns="0" rtlCol="0" anchor="ctr"/>
          <a:lstStyle/>
          <a:p>
            <a:pPr indent="0" marL="0">
              <a:buNone/>
            </a:pPr>
            <a:r>
              <a:rPr lang="en-US" sz="1000" dirty="0">
                <a:solidFill>
                  <a:srgbClr val="5E6F66"/>
                </a:solidFill>
                <a:latin typeface="Segoe UI" pitchFamily="34" charset="0"/>
                <a:ea typeface="Segoe UI" pitchFamily="34" charset="-122"/>
                <a:cs typeface="Segoe UI" pitchFamily="34" charset="-120"/>
              </a:rPr>
              <a:t>Daun kering</a:t>
            </a:r>
            <a:endParaRPr lang="en-US" sz="1000" dirty="0"/>
          </a:p>
        </p:txBody>
      </p:sp>
      <p:sp>
        <p:nvSpPr>
          <p:cNvPr id="18" name="Shape 15"/>
          <p:cNvSpPr/>
          <p:nvPr/>
        </p:nvSpPr>
        <p:spPr>
          <a:xfrm>
            <a:off x="4114800" y="3310128"/>
            <a:ext cx="54864" cy="274320"/>
          </a:xfrm>
          <a:prstGeom prst="rect">
            <a:avLst/>
          </a:prstGeom>
          <a:solidFill>
            <a:srgbClr val="2E6B7C"/>
          </a:solidFill>
          <a:ln/>
        </p:spPr>
      </p:sp>
      <p:sp>
        <p:nvSpPr>
          <p:cNvPr id="19" name="Text 16"/>
          <p:cNvSpPr txBox="1"/>
          <p:nvPr/>
        </p:nvSpPr>
        <p:spPr>
          <a:xfrm>
            <a:off x="4279392" y="3273552"/>
            <a:ext cx="1737360" cy="256032"/>
          </a:xfrm>
          <a:prstGeom prst="rect">
            <a:avLst/>
          </a:prstGeom>
          <a:noFill/>
          <a:ln/>
        </p:spPr>
        <p:txBody>
          <a:bodyPr wrap="square" lIns="0" tIns="0" rIns="0" bIns="0" rtlCol="0" anchor="ctr"/>
          <a:lstStyle/>
          <a:p>
            <a:pPr indent="0" marL="0">
              <a:buNone/>
            </a:pPr>
            <a:r>
              <a:rPr lang="en-US" sz="1100" b="1" dirty="0">
                <a:solidFill>
                  <a:srgbClr val="1C2B24"/>
                </a:solidFill>
                <a:latin typeface="Segoe UI" pitchFamily="34" charset="0"/>
                <a:ea typeface="Segoe UI" pitchFamily="34" charset="-122"/>
                <a:cs typeface="Segoe UI" pitchFamily="34" charset="-120"/>
              </a:rPr>
              <a:t>aphid</a:t>
            </a:r>
            <a:endParaRPr lang="en-US" sz="1100" dirty="0"/>
          </a:p>
        </p:txBody>
      </p:sp>
      <p:sp>
        <p:nvSpPr>
          <p:cNvPr id="20" name="Text 17"/>
          <p:cNvSpPr txBox="1"/>
          <p:nvPr/>
        </p:nvSpPr>
        <p:spPr>
          <a:xfrm>
            <a:off x="5943600" y="3273552"/>
            <a:ext cx="1600200" cy="256032"/>
          </a:xfrm>
          <a:prstGeom prst="rect">
            <a:avLst/>
          </a:prstGeom>
          <a:noFill/>
          <a:ln/>
        </p:spPr>
        <p:txBody>
          <a:bodyPr wrap="square" lIns="0" tIns="0" rIns="0" bIns="0" rtlCol="0" anchor="ctr"/>
          <a:lstStyle/>
          <a:p>
            <a:pPr indent="0" marL="0">
              <a:buNone/>
            </a:pPr>
            <a:r>
              <a:rPr lang="en-US" sz="1000" dirty="0">
                <a:solidFill>
                  <a:srgbClr val="5E6F66"/>
                </a:solidFill>
                <a:latin typeface="Segoe UI" pitchFamily="34" charset="0"/>
                <a:ea typeface="Segoe UI" pitchFamily="34" charset="-122"/>
                <a:cs typeface="Segoe UI" pitchFamily="34" charset="-120"/>
              </a:rPr>
              <a:t>Kutu daun</a:t>
            </a:r>
            <a:endParaRPr lang="en-US" sz="1000" dirty="0"/>
          </a:p>
        </p:txBody>
      </p:sp>
      <p:sp>
        <p:nvSpPr>
          <p:cNvPr id="21" name="Shape 18"/>
          <p:cNvSpPr/>
          <p:nvPr/>
        </p:nvSpPr>
        <p:spPr>
          <a:xfrm>
            <a:off x="4114800" y="3675888"/>
            <a:ext cx="54864" cy="274320"/>
          </a:xfrm>
          <a:prstGeom prst="rect">
            <a:avLst/>
          </a:prstGeom>
          <a:solidFill>
            <a:srgbClr val="2E6B7C"/>
          </a:solidFill>
          <a:ln/>
        </p:spPr>
      </p:sp>
      <p:sp>
        <p:nvSpPr>
          <p:cNvPr id="22" name="Text 19"/>
          <p:cNvSpPr txBox="1"/>
          <p:nvPr/>
        </p:nvSpPr>
        <p:spPr>
          <a:xfrm>
            <a:off x="4279392" y="3639312"/>
            <a:ext cx="1737360" cy="256032"/>
          </a:xfrm>
          <a:prstGeom prst="rect">
            <a:avLst/>
          </a:prstGeom>
          <a:noFill/>
          <a:ln/>
        </p:spPr>
        <p:txBody>
          <a:bodyPr wrap="square" lIns="0" tIns="0" rIns="0" bIns="0" rtlCol="0" anchor="ctr"/>
          <a:lstStyle/>
          <a:p>
            <a:pPr indent="0" marL="0">
              <a:buNone/>
            </a:pPr>
            <a:r>
              <a:rPr lang="en-US" sz="1100" b="1" dirty="0">
                <a:solidFill>
                  <a:srgbClr val="1C2B24"/>
                </a:solidFill>
                <a:latin typeface="Segoe UI" pitchFamily="34" charset="0"/>
                <a:ea typeface="Segoe UI" pitchFamily="34" charset="-122"/>
                <a:cs typeface="Segoe UI" pitchFamily="34" charset="-120"/>
              </a:rPr>
              <a:t>caterpillar</a:t>
            </a:r>
            <a:endParaRPr lang="en-US" sz="1100" dirty="0"/>
          </a:p>
        </p:txBody>
      </p:sp>
      <p:sp>
        <p:nvSpPr>
          <p:cNvPr id="23" name="Text 20"/>
          <p:cNvSpPr txBox="1"/>
          <p:nvPr/>
        </p:nvSpPr>
        <p:spPr>
          <a:xfrm>
            <a:off x="5943600" y="3639312"/>
            <a:ext cx="1600200" cy="256032"/>
          </a:xfrm>
          <a:prstGeom prst="rect">
            <a:avLst/>
          </a:prstGeom>
          <a:noFill/>
          <a:ln/>
        </p:spPr>
        <p:txBody>
          <a:bodyPr wrap="square" lIns="0" tIns="0" rIns="0" bIns="0" rtlCol="0" anchor="ctr"/>
          <a:lstStyle/>
          <a:p>
            <a:pPr indent="0" marL="0">
              <a:buNone/>
            </a:pPr>
            <a:r>
              <a:rPr lang="en-US" sz="1000" dirty="0">
                <a:solidFill>
                  <a:srgbClr val="5E6F66"/>
                </a:solidFill>
                <a:latin typeface="Segoe UI" pitchFamily="34" charset="0"/>
                <a:ea typeface="Segoe UI" pitchFamily="34" charset="-122"/>
                <a:cs typeface="Segoe UI" pitchFamily="34" charset="-120"/>
              </a:rPr>
              <a:t>Ulat</a:t>
            </a:r>
            <a:endParaRPr lang="en-US" sz="1000" dirty="0"/>
          </a:p>
        </p:txBody>
      </p:sp>
      <p:sp>
        <p:nvSpPr>
          <p:cNvPr id="24" name="Shape 21"/>
          <p:cNvSpPr/>
          <p:nvPr/>
        </p:nvSpPr>
        <p:spPr>
          <a:xfrm>
            <a:off x="4114800" y="4041648"/>
            <a:ext cx="54864" cy="274320"/>
          </a:xfrm>
          <a:prstGeom prst="rect">
            <a:avLst/>
          </a:prstGeom>
          <a:solidFill>
            <a:srgbClr val="2E6B7C"/>
          </a:solidFill>
          <a:ln/>
        </p:spPr>
      </p:sp>
      <p:sp>
        <p:nvSpPr>
          <p:cNvPr id="25" name="Text 22"/>
          <p:cNvSpPr txBox="1"/>
          <p:nvPr/>
        </p:nvSpPr>
        <p:spPr>
          <a:xfrm>
            <a:off x="4279392" y="4005072"/>
            <a:ext cx="1737360" cy="256032"/>
          </a:xfrm>
          <a:prstGeom prst="rect">
            <a:avLst/>
          </a:prstGeom>
          <a:noFill/>
          <a:ln/>
        </p:spPr>
        <p:txBody>
          <a:bodyPr wrap="square" lIns="0" tIns="0" rIns="0" bIns="0" rtlCol="0" anchor="ctr"/>
          <a:lstStyle/>
          <a:p>
            <a:pPr indent="0" marL="0">
              <a:buNone/>
            </a:pPr>
            <a:r>
              <a:rPr lang="en-US" sz="1100" b="1" dirty="0">
                <a:solidFill>
                  <a:srgbClr val="1C2B24"/>
                </a:solidFill>
                <a:latin typeface="Segoe UI" pitchFamily="34" charset="0"/>
                <a:ea typeface="Segoe UI" pitchFamily="34" charset="-122"/>
                <a:cs typeface="Segoe UI" pitchFamily="34" charset="-120"/>
              </a:rPr>
              <a:t>snail</a:t>
            </a:r>
            <a:endParaRPr lang="en-US" sz="1100" dirty="0"/>
          </a:p>
        </p:txBody>
      </p:sp>
      <p:sp>
        <p:nvSpPr>
          <p:cNvPr id="26" name="Text 23"/>
          <p:cNvSpPr txBox="1"/>
          <p:nvPr/>
        </p:nvSpPr>
        <p:spPr>
          <a:xfrm>
            <a:off x="5943600" y="4005072"/>
            <a:ext cx="1600200" cy="256032"/>
          </a:xfrm>
          <a:prstGeom prst="rect">
            <a:avLst/>
          </a:prstGeom>
          <a:noFill/>
          <a:ln/>
        </p:spPr>
        <p:txBody>
          <a:bodyPr wrap="square" lIns="0" tIns="0" rIns="0" bIns="0" rtlCol="0" anchor="ctr"/>
          <a:lstStyle/>
          <a:p>
            <a:pPr indent="0" marL="0">
              <a:buNone/>
            </a:pPr>
            <a:r>
              <a:rPr lang="en-US" sz="1000" dirty="0">
                <a:solidFill>
                  <a:srgbClr val="5E6F66"/>
                </a:solidFill>
                <a:latin typeface="Segoe UI" pitchFamily="34" charset="0"/>
                <a:ea typeface="Segoe UI" pitchFamily="34" charset="-122"/>
                <a:cs typeface="Segoe UI" pitchFamily="34" charset="-120"/>
              </a:rPr>
              <a:t>Siput</a:t>
            </a:r>
            <a:endParaRPr lang="en-US" sz="1000" dirty="0"/>
          </a:p>
        </p:txBody>
      </p:sp>
      <p:sp>
        <p:nvSpPr>
          <p:cNvPr id="27" name="Shape 24"/>
          <p:cNvSpPr/>
          <p:nvPr/>
        </p:nvSpPr>
        <p:spPr>
          <a:xfrm>
            <a:off x="4114800" y="4407408"/>
            <a:ext cx="54864" cy="274320"/>
          </a:xfrm>
          <a:prstGeom prst="rect">
            <a:avLst/>
          </a:prstGeom>
          <a:solidFill>
            <a:srgbClr val="2E6B7C"/>
          </a:solidFill>
          <a:ln/>
        </p:spPr>
      </p:sp>
      <p:sp>
        <p:nvSpPr>
          <p:cNvPr id="28" name="Text 25"/>
          <p:cNvSpPr txBox="1"/>
          <p:nvPr/>
        </p:nvSpPr>
        <p:spPr>
          <a:xfrm>
            <a:off x="4279392" y="4370832"/>
            <a:ext cx="1737360" cy="256032"/>
          </a:xfrm>
          <a:prstGeom prst="rect">
            <a:avLst/>
          </a:prstGeom>
          <a:noFill/>
          <a:ln/>
        </p:spPr>
        <p:txBody>
          <a:bodyPr wrap="square" lIns="0" tIns="0" rIns="0" bIns="0" rtlCol="0" anchor="ctr"/>
          <a:lstStyle/>
          <a:p>
            <a:pPr indent="0" marL="0">
              <a:buNone/>
            </a:pPr>
            <a:r>
              <a:rPr lang="en-US" sz="1100" b="1" dirty="0">
                <a:solidFill>
                  <a:srgbClr val="1C2B24"/>
                </a:solidFill>
                <a:latin typeface="Segoe UI" pitchFamily="34" charset="0"/>
                <a:ea typeface="Segoe UI" pitchFamily="34" charset="-122"/>
                <a:cs typeface="Segoe UI" pitchFamily="34" charset="-120"/>
              </a:rPr>
              <a:t>whitefly</a:t>
            </a:r>
            <a:endParaRPr lang="en-US" sz="1100" dirty="0"/>
          </a:p>
        </p:txBody>
      </p:sp>
      <p:sp>
        <p:nvSpPr>
          <p:cNvPr id="29" name="Text 26"/>
          <p:cNvSpPr txBox="1"/>
          <p:nvPr/>
        </p:nvSpPr>
        <p:spPr>
          <a:xfrm>
            <a:off x="5943600" y="4370832"/>
            <a:ext cx="1600200" cy="256032"/>
          </a:xfrm>
          <a:prstGeom prst="rect">
            <a:avLst/>
          </a:prstGeom>
          <a:noFill/>
          <a:ln/>
        </p:spPr>
        <p:txBody>
          <a:bodyPr wrap="square" lIns="0" tIns="0" rIns="0" bIns="0" rtlCol="0" anchor="ctr"/>
          <a:lstStyle/>
          <a:p>
            <a:pPr indent="0" marL="0">
              <a:buNone/>
            </a:pPr>
            <a:r>
              <a:rPr lang="en-US" sz="1000" dirty="0">
                <a:solidFill>
                  <a:srgbClr val="5E6F66"/>
                </a:solidFill>
                <a:latin typeface="Segoe UI" pitchFamily="34" charset="0"/>
                <a:ea typeface="Segoe UI" pitchFamily="34" charset="-122"/>
                <a:cs typeface="Segoe UI" pitchFamily="34" charset="-120"/>
              </a:rPr>
              <a:t>Kutu kebul</a:t>
            </a:r>
            <a:endParaRPr lang="en-US" sz="1000" dirty="0"/>
          </a:p>
        </p:txBody>
      </p:sp>
      <p:sp>
        <p:nvSpPr>
          <p:cNvPr id="30" name="Shape 27"/>
          <p:cNvSpPr/>
          <p:nvPr/>
        </p:nvSpPr>
        <p:spPr>
          <a:xfrm>
            <a:off x="4114800" y="4773168"/>
            <a:ext cx="54864" cy="274320"/>
          </a:xfrm>
          <a:prstGeom prst="rect">
            <a:avLst/>
          </a:prstGeom>
          <a:solidFill>
            <a:srgbClr val="2E6B7C"/>
          </a:solidFill>
          <a:ln/>
        </p:spPr>
      </p:sp>
      <p:sp>
        <p:nvSpPr>
          <p:cNvPr id="31" name="Text 28"/>
          <p:cNvSpPr txBox="1"/>
          <p:nvPr/>
        </p:nvSpPr>
        <p:spPr>
          <a:xfrm>
            <a:off x="4279392" y="4736592"/>
            <a:ext cx="1737360" cy="256032"/>
          </a:xfrm>
          <a:prstGeom prst="rect">
            <a:avLst/>
          </a:prstGeom>
          <a:noFill/>
          <a:ln/>
        </p:spPr>
        <p:txBody>
          <a:bodyPr wrap="square" lIns="0" tIns="0" rIns="0" bIns="0" rtlCol="0" anchor="ctr"/>
          <a:lstStyle/>
          <a:p>
            <a:pPr indent="0" marL="0">
              <a:buNone/>
            </a:pPr>
            <a:r>
              <a:rPr lang="en-US" sz="1100" b="1" dirty="0">
                <a:solidFill>
                  <a:srgbClr val="1C2B24"/>
                </a:solidFill>
                <a:latin typeface="Segoe UI" pitchFamily="34" charset="0"/>
                <a:ea typeface="Segoe UI" pitchFamily="34" charset="-122"/>
                <a:cs typeface="Segoe UI" pitchFamily="34" charset="-120"/>
              </a:rPr>
              <a:t>spider_mite</a:t>
            </a:r>
            <a:endParaRPr lang="en-US" sz="1100" dirty="0"/>
          </a:p>
        </p:txBody>
      </p:sp>
      <p:sp>
        <p:nvSpPr>
          <p:cNvPr id="32" name="Text 29"/>
          <p:cNvSpPr txBox="1"/>
          <p:nvPr/>
        </p:nvSpPr>
        <p:spPr>
          <a:xfrm>
            <a:off x="5943600" y="4736592"/>
            <a:ext cx="1600200" cy="256032"/>
          </a:xfrm>
          <a:prstGeom prst="rect">
            <a:avLst/>
          </a:prstGeom>
          <a:noFill/>
          <a:ln/>
        </p:spPr>
        <p:txBody>
          <a:bodyPr wrap="square" lIns="0" tIns="0" rIns="0" bIns="0" rtlCol="0" anchor="ctr"/>
          <a:lstStyle/>
          <a:p>
            <a:pPr indent="0" marL="0">
              <a:buNone/>
            </a:pPr>
            <a:r>
              <a:rPr lang="en-US" sz="1000" dirty="0">
                <a:solidFill>
                  <a:srgbClr val="5E6F66"/>
                </a:solidFill>
                <a:latin typeface="Segoe UI" pitchFamily="34" charset="0"/>
                <a:ea typeface="Segoe UI" pitchFamily="34" charset="-122"/>
                <a:cs typeface="Segoe UI" pitchFamily="34" charset="-120"/>
              </a:rPr>
              <a:t>Tungau laba-laba</a:t>
            </a:r>
            <a:endParaRPr lang="en-US" sz="1000" dirty="0"/>
          </a:p>
        </p:txBody>
      </p:sp>
      <p:sp>
        <p:nvSpPr>
          <p:cNvPr id="33" name="Text 30"/>
          <p:cNvSpPr txBox="1"/>
          <p:nvPr/>
        </p:nvSpPr>
        <p:spPr>
          <a:xfrm>
            <a:off x="4114800" y="5084064"/>
            <a:ext cx="3383280" cy="274320"/>
          </a:xfrm>
          <a:prstGeom prst="rect">
            <a:avLst/>
          </a:prstGeom>
          <a:noFill/>
          <a:ln/>
        </p:spPr>
        <p:txBody>
          <a:bodyPr wrap="square" lIns="0" tIns="0" rIns="0" bIns="0" rtlCol="0" anchor="ctr"/>
          <a:lstStyle/>
          <a:p>
            <a:pPr indent="0" marL="0">
              <a:buNone/>
            </a:pPr>
            <a:r>
              <a:rPr lang="en-US" sz="900" i="1" dirty="0">
                <a:solidFill>
                  <a:srgbClr val="5E6F66"/>
                </a:solidFill>
                <a:latin typeface="Segoe UI" pitchFamily="34" charset="0"/>
                <a:ea typeface="Segoe UI" pitchFamily="34" charset="-122"/>
                <a:cs typeface="Segoe UI" pitchFamily="34" charset="-120"/>
              </a:rPr>
              <a:t>Total 303 gambar sampel, dikumpulkan dan dilabeli sendiri oleh tim.</a:t>
            </a:r>
            <a:endParaRPr lang="en-US" sz="900" dirty="0"/>
          </a:p>
        </p:txBody>
      </p:sp>
      <p:sp>
        <p:nvSpPr>
          <p:cNvPr id="34" name="Shape 31"/>
          <p:cNvSpPr/>
          <p:nvPr/>
        </p:nvSpPr>
        <p:spPr>
          <a:xfrm>
            <a:off x="7909560" y="1645920"/>
            <a:ext cx="3749040" cy="1143000"/>
          </a:xfrm>
          <a:prstGeom prst="roundRect">
            <a:avLst>
              <a:gd name="adj" fmla="val 6400"/>
            </a:avLst>
          </a:prstGeom>
          <a:solidFill>
            <a:srgbClr val="ECEEE2"/>
          </a:solidFill>
          <a:ln/>
        </p:spPr>
      </p:sp>
      <p:sp>
        <p:nvSpPr>
          <p:cNvPr id="35" name="Text 32"/>
          <p:cNvSpPr txBox="1"/>
          <p:nvPr/>
        </p:nvSpPr>
        <p:spPr>
          <a:xfrm>
            <a:off x="8119872" y="1764792"/>
            <a:ext cx="3337560" cy="256032"/>
          </a:xfrm>
          <a:prstGeom prst="rect">
            <a:avLst/>
          </a:prstGeom>
          <a:noFill/>
          <a:ln/>
        </p:spPr>
        <p:txBody>
          <a:bodyPr wrap="square" lIns="0" tIns="0" rIns="0" bIns="0" rtlCol="0" anchor="ctr"/>
          <a:lstStyle/>
          <a:p>
            <a:pPr indent="0" marL="0">
              <a:buNone/>
            </a:pPr>
            <a:r>
              <a:rPr lang="en-US" sz="1150" b="1" dirty="0">
                <a:solidFill>
                  <a:srgbClr val="4E9A63"/>
                </a:solidFill>
                <a:latin typeface="Segoe UI" pitchFamily="34" charset="0"/>
                <a:ea typeface="Segoe UI" pitchFamily="34" charset="-122"/>
                <a:cs typeface="Segoe UI" pitchFamily="34" charset="-120"/>
              </a:rPr>
              <a:t>Kenapa image classification</a:t>
            </a:r>
            <a:endParaRPr lang="en-US" sz="1150" dirty="0"/>
          </a:p>
        </p:txBody>
      </p:sp>
      <p:sp>
        <p:nvSpPr>
          <p:cNvPr id="36" name="Text 33"/>
          <p:cNvSpPr txBox="1"/>
          <p:nvPr/>
        </p:nvSpPr>
        <p:spPr>
          <a:xfrm>
            <a:off x="8119872" y="2039112"/>
            <a:ext cx="3337560" cy="274320"/>
          </a:xfrm>
          <a:prstGeom prst="rect">
            <a:avLst/>
          </a:prstGeom>
          <a:noFill/>
          <a:ln/>
        </p:spPr>
        <p:txBody>
          <a:bodyPr wrap="square" lIns="0" tIns="0" rIns="0" bIns="0" rtlCol="0" anchor="t"/>
          <a:lstStyle/>
          <a:p>
            <a:pPr indent="0" marL="0">
              <a:lnSpc>
                <a:spcPts val="1283"/>
              </a:lnSpc>
              <a:buNone/>
            </a:pPr>
            <a:r>
              <a:rPr lang="en-US" sz="950" dirty="0">
                <a:solidFill>
                  <a:srgbClr val="1C2B24"/>
                </a:solidFill>
                <a:latin typeface="Segoe UI" pitchFamily="34" charset="0"/>
                <a:ea typeface="Segoe UI" pitchFamily="34" charset="-122"/>
                <a:cs typeface="Segoe UI" pitchFamily="34" charset="-120"/>
              </a:rPr>
              <a:t>Satu bidikan kamera pada satu daun hanya perlu satu jawaban yang tegas. Pendekatan ini membuat model tetap ringan sehingga bisa berjalan di HP kelas menengah tanpa aplikasi tambahan.</a:t>
            </a:r>
            <a:endParaRPr lang="en-US" sz="950" dirty="0"/>
          </a:p>
        </p:txBody>
      </p:sp>
      <p:sp>
        <p:nvSpPr>
          <p:cNvPr id="37" name="Shape 34"/>
          <p:cNvSpPr/>
          <p:nvPr/>
        </p:nvSpPr>
        <p:spPr>
          <a:xfrm>
            <a:off x="7909560" y="2926080"/>
            <a:ext cx="3749040" cy="1143000"/>
          </a:xfrm>
          <a:prstGeom prst="roundRect">
            <a:avLst>
              <a:gd name="adj" fmla="val 6400"/>
            </a:avLst>
          </a:prstGeom>
          <a:solidFill>
            <a:srgbClr val="ECEEE2"/>
          </a:solidFill>
          <a:ln/>
        </p:spPr>
      </p:sp>
      <p:sp>
        <p:nvSpPr>
          <p:cNvPr id="38" name="Text 35"/>
          <p:cNvSpPr txBox="1"/>
          <p:nvPr/>
        </p:nvSpPr>
        <p:spPr>
          <a:xfrm>
            <a:off x="8119872" y="3044952"/>
            <a:ext cx="3337560" cy="256032"/>
          </a:xfrm>
          <a:prstGeom prst="rect">
            <a:avLst/>
          </a:prstGeom>
          <a:noFill/>
          <a:ln/>
        </p:spPr>
        <p:txBody>
          <a:bodyPr wrap="square" lIns="0" tIns="0" rIns="0" bIns="0" rtlCol="0" anchor="ctr"/>
          <a:lstStyle/>
          <a:p>
            <a:pPr indent="0" marL="0">
              <a:buNone/>
            </a:pPr>
            <a:r>
              <a:rPr lang="en-US" sz="1150" b="1" dirty="0">
                <a:solidFill>
                  <a:srgbClr val="4E9A63"/>
                </a:solidFill>
                <a:latin typeface="Segoe UI" pitchFamily="34" charset="0"/>
                <a:ea typeface="Segoe UI" pitchFamily="34" charset="-122"/>
                <a:cs typeface="Segoe UI" pitchFamily="34" charset="-120"/>
              </a:rPr>
              <a:t>Kenapa dipecah jadi 8 kelas</a:t>
            </a:r>
            <a:endParaRPr lang="en-US" sz="1150" dirty="0"/>
          </a:p>
        </p:txBody>
      </p:sp>
      <p:sp>
        <p:nvSpPr>
          <p:cNvPr id="39" name="Text 36"/>
          <p:cNvSpPr txBox="1"/>
          <p:nvPr/>
        </p:nvSpPr>
        <p:spPr>
          <a:xfrm>
            <a:off x="8119872" y="3319272"/>
            <a:ext cx="3337560" cy="274320"/>
          </a:xfrm>
          <a:prstGeom prst="rect">
            <a:avLst/>
          </a:prstGeom>
          <a:noFill/>
          <a:ln/>
        </p:spPr>
        <p:txBody>
          <a:bodyPr wrap="square" lIns="0" tIns="0" rIns="0" bIns="0" rtlCol="0" anchor="t"/>
          <a:lstStyle/>
          <a:p>
            <a:pPr indent="0" marL="0">
              <a:lnSpc>
                <a:spcPts val="1283"/>
              </a:lnSpc>
              <a:buNone/>
            </a:pPr>
            <a:r>
              <a:rPr lang="en-US" sz="950" dirty="0">
                <a:solidFill>
                  <a:srgbClr val="1C2B24"/>
                </a:solidFill>
                <a:latin typeface="Segoe UI" pitchFamily="34" charset="0"/>
                <a:ea typeface="Segoe UI" pitchFamily="34" charset="-122"/>
                <a:cs typeface="Segoe UI" pitchFamily="34" charset="-120"/>
              </a:rPr>
              <a:t>Daun menguning biasanya soal air atau nutrisi, daun kering soal penyiraman, dan tiap hama butuh penanganan berbeda. Model tidak berhenti di kata bermasalah, tapi menyebut penyebabnya.</a:t>
            </a:r>
            <a:endParaRPr lang="en-US" sz="950" dirty="0"/>
          </a:p>
        </p:txBody>
      </p:sp>
      <p:sp>
        <p:nvSpPr>
          <p:cNvPr id="40" name="Shape 37"/>
          <p:cNvSpPr/>
          <p:nvPr/>
        </p:nvSpPr>
        <p:spPr>
          <a:xfrm>
            <a:off x="7909560" y="4206240"/>
            <a:ext cx="3749040" cy="1143000"/>
          </a:xfrm>
          <a:prstGeom prst="roundRect">
            <a:avLst>
              <a:gd name="adj" fmla="val 6400"/>
            </a:avLst>
          </a:prstGeom>
          <a:solidFill>
            <a:srgbClr val="ECEEE2"/>
          </a:solidFill>
          <a:ln/>
        </p:spPr>
      </p:sp>
      <p:sp>
        <p:nvSpPr>
          <p:cNvPr id="41" name="Text 38"/>
          <p:cNvSpPr txBox="1"/>
          <p:nvPr/>
        </p:nvSpPr>
        <p:spPr>
          <a:xfrm>
            <a:off x="8119872" y="4325112"/>
            <a:ext cx="3337560" cy="256032"/>
          </a:xfrm>
          <a:prstGeom prst="rect">
            <a:avLst/>
          </a:prstGeom>
          <a:noFill/>
          <a:ln/>
        </p:spPr>
        <p:txBody>
          <a:bodyPr wrap="square" lIns="0" tIns="0" rIns="0" bIns="0" rtlCol="0" anchor="ctr"/>
          <a:lstStyle/>
          <a:p>
            <a:pPr indent="0" marL="0">
              <a:buNone/>
            </a:pPr>
            <a:r>
              <a:rPr lang="en-US" sz="1150" b="1" dirty="0">
                <a:solidFill>
                  <a:srgbClr val="4E9A63"/>
                </a:solidFill>
                <a:latin typeface="Segoe UI" pitchFamily="34" charset="0"/>
                <a:ea typeface="Segoe UI" pitchFamily="34" charset="-122"/>
                <a:cs typeface="Segoe UI" pitchFamily="34" charset="-120"/>
              </a:rPr>
              <a:t>Bagaimana sampai ke perangkat</a:t>
            </a:r>
            <a:endParaRPr lang="en-US" sz="1150" dirty="0"/>
          </a:p>
        </p:txBody>
      </p:sp>
      <p:sp>
        <p:nvSpPr>
          <p:cNvPr id="42" name="Text 39"/>
          <p:cNvSpPr txBox="1"/>
          <p:nvPr/>
        </p:nvSpPr>
        <p:spPr>
          <a:xfrm>
            <a:off x="8119872" y="4599432"/>
            <a:ext cx="3337560" cy="274320"/>
          </a:xfrm>
          <a:prstGeom prst="rect">
            <a:avLst/>
          </a:prstGeom>
          <a:noFill/>
          <a:ln/>
        </p:spPr>
        <p:txBody>
          <a:bodyPr wrap="square" lIns="0" tIns="0" rIns="0" bIns="0" rtlCol="0" anchor="t"/>
          <a:lstStyle/>
          <a:p>
            <a:pPr indent="0" marL="0">
              <a:lnSpc>
                <a:spcPts val="1283"/>
              </a:lnSpc>
              <a:buNone/>
            </a:pPr>
            <a:r>
              <a:rPr lang="en-US" sz="950" dirty="0">
                <a:solidFill>
                  <a:srgbClr val="1C2B24"/>
                </a:solidFill>
                <a:latin typeface="Segoe UI" pitchFamily="34" charset="0"/>
                <a:ea typeface="Segoe UI" pitchFamily="34" charset="-122"/>
                <a:cs typeface="Segoe UI" pitchFamily="34" charset="-120"/>
              </a:rPr>
              <a:t>Model diekspor sebagai TensorFlow.js, dimuat di halaman /vision, lalu label dan tingkat keyakinannya dikirim ke ESP32 lewat HTTP GET ke endpoint /leaf untuk ditampilkan di dashboard.</a:t>
            </a:r>
            <a:endParaRPr lang="en-US" sz="950" dirty="0"/>
          </a:p>
        </p:txBody>
      </p:sp>
      <p:sp>
        <p:nvSpPr>
          <p:cNvPr id="43" name="Shape 40"/>
          <p:cNvSpPr/>
          <p:nvPr/>
        </p:nvSpPr>
        <p:spPr>
          <a:xfrm>
            <a:off x="7909560" y="5486400"/>
            <a:ext cx="3749040" cy="777240"/>
          </a:xfrm>
          <a:prstGeom prst="roundRect">
            <a:avLst>
              <a:gd name="adj" fmla="val 9412"/>
            </a:avLst>
          </a:prstGeom>
          <a:solidFill>
            <a:srgbClr val="1D3B2E"/>
          </a:solidFill>
          <a:ln/>
        </p:spPr>
      </p:sp>
      <p:sp>
        <p:nvSpPr>
          <p:cNvPr id="44" name="Text 41"/>
          <p:cNvSpPr txBox="1"/>
          <p:nvPr/>
        </p:nvSpPr>
        <p:spPr>
          <a:xfrm>
            <a:off x="8119872" y="5577840"/>
            <a:ext cx="3337560" cy="228600"/>
          </a:xfrm>
          <a:prstGeom prst="rect">
            <a:avLst/>
          </a:prstGeom>
          <a:noFill/>
          <a:ln/>
        </p:spPr>
        <p:txBody>
          <a:bodyPr wrap="square" lIns="0" tIns="0" rIns="0" bIns="0" rtlCol="0" anchor="ctr"/>
          <a:lstStyle/>
          <a:p>
            <a:pPr indent="0" marL="0">
              <a:buNone/>
            </a:pPr>
            <a:r>
              <a:rPr lang="en-US" sz="1050" b="1" dirty="0">
                <a:solidFill>
                  <a:srgbClr val="8FC79A"/>
                </a:solidFill>
                <a:latin typeface="Segoe UI" pitchFamily="34" charset="0"/>
                <a:ea typeface="Segoe UI" pitchFamily="34" charset="-122"/>
                <a:cs typeface="Segoe UI" pitchFamily="34" charset="-120"/>
              </a:rPr>
              <a:t>Tanpa layanan perantara</a:t>
            </a:r>
            <a:endParaRPr lang="en-US" sz="1050" dirty="0"/>
          </a:p>
        </p:txBody>
      </p:sp>
      <p:sp>
        <p:nvSpPr>
          <p:cNvPr id="45" name="Text 42"/>
          <p:cNvSpPr txBox="1"/>
          <p:nvPr/>
        </p:nvSpPr>
        <p:spPr>
          <a:xfrm>
            <a:off x="8119872" y="5815584"/>
            <a:ext cx="3337560" cy="274320"/>
          </a:xfrm>
          <a:prstGeom prst="rect">
            <a:avLst/>
          </a:prstGeom>
          <a:noFill/>
          <a:ln/>
        </p:spPr>
        <p:txBody>
          <a:bodyPr wrap="square" lIns="0" tIns="0" rIns="0" bIns="0" rtlCol="0" anchor="t"/>
          <a:lstStyle/>
          <a:p>
            <a:pPr indent="0" marL="0">
              <a:lnSpc>
                <a:spcPts val="1283"/>
              </a:lnSpc>
              <a:buNone/>
            </a:pPr>
            <a:r>
              <a:rPr lang="en-US" sz="950" dirty="0">
                <a:solidFill>
                  <a:srgbClr val="AFC2B4"/>
                </a:solidFill>
                <a:latin typeface="Segoe UI" pitchFamily="34" charset="0"/>
                <a:ea typeface="Segoe UI" pitchFamily="34" charset="-122"/>
                <a:cs typeface="Segoe UI" pitchFamily="34" charset="-120"/>
              </a:rPr>
              <a:t>Kamera terbuka langsung dari alamat IP lokal ESP32, tidak memakai tunnel atau layanan pihak ketiga.</a:t>
            </a:r>
            <a:endParaRPr lang="en-US" sz="950" dirty="0"/>
          </a:p>
        </p:txBody>
      </p:sp>
      <p:sp>
        <p:nvSpPr>
          <p:cNvPr id="46" name="Text 43"/>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5E6F66"/>
                </a:solidFill>
                <a:latin typeface="Segoe UI" pitchFamily="34" charset="0"/>
                <a:ea typeface="Segoe UI" pitchFamily="34" charset="-122"/>
                <a:cs typeface="Segoe UI" pitchFamily="34" charset="-120"/>
              </a:rPr>
              <a:t>Flora-Gotchi  |  Tim Gerbang Logika</a:t>
            </a:r>
            <a:endParaRPr lang="en-US" sz="900" dirty="0"/>
          </a:p>
        </p:txBody>
      </p:sp>
      <p:sp>
        <p:nvSpPr>
          <p:cNvPr id="47" name="Text 44"/>
          <p:cNvSpPr txBox="1"/>
          <p:nvPr/>
        </p:nvSpPr>
        <p:spPr>
          <a:xfrm>
            <a:off x="11155680" y="6419088"/>
            <a:ext cx="548640" cy="228600"/>
          </a:xfrm>
          <a:prstGeom prst="rect">
            <a:avLst/>
          </a:prstGeom>
          <a:noFill/>
          <a:ln/>
        </p:spPr>
        <p:txBody>
          <a:bodyPr wrap="square" lIns="0" tIns="0" rIns="0" bIns="0" rtlCol="0" anchor="ctr"/>
          <a:lstStyle/>
          <a:p>
            <a:pPr algn="r" indent="0" marL="0">
              <a:buNone/>
            </a:pPr>
            <a:r>
              <a:rPr lang="en-US" sz="900" dirty="0">
                <a:solidFill>
                  <a:srgbClr val="5E6F66"/>
                </a:solidFill>
                <a:latin typeface="Segoe UI" pitchFamily="34" charset="0"/>
                <a:ea typeface="Segoe UI" pitchFamily="34" charset="-122"/>
                <a:cs typeface="Segoe U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9"/>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E9A63"/>
                </a:solidFill>
                <a:latin typeface="Segoe UI" pitchFamily="34" charset="0"/>
                <a:ea typeface="Segoe UI" pitchFamily="34" charset="-122"/>
                <a:cs typeface="Segoe UI" pitchFamily="34" charset="-120"/>
              </a:rPr>
              <a:t>HASIL PENGUJIAN</a:t>
            </a:r>
            <a:endParaRPr lang="en-US" sz="1100" dirty="0"/>
          </a:p>
        </p:txBody>
      </p:sp>
      <p:sp>
        <p:nvSpPr>
          <p:cNvPr id="3" name="Text 1"/>
          <p:cNvSpPr txBox="1"/>
          <p:nvPr/>
        </p:nvSpPr>
        <p:spPr>
          <a:xfrm>
            <a:off x="548640" y="603504"/>
            <a:ext cx="11155680" cy="566928"/>
          </a:xfrm>
          <a:prstGeom prst="rect">
            <a:avLst/>
          </a:prstGeom>
          <a:noFill/>
          <a:ln/>
        </p:spPr>
        <p:txBody>
          <a:bodyPr wrap="square" lIns="0" tIns="0" rIns="0" bIns="0" rtlCol="0" anchor="ctr"/>
          <a:lstStyle/>
          <a:p>
            <a:pPr indent="0" marL="0">
              <a:buNone/>
            </a:pPr>
            <a:r>
              <a:rPr lang="en-US" sz="2600" b="1" dirty="0">
                <a:solidFill>
                  <a:srgbClr val="1C2B24"/>
                </a:solidFill>
                <a:latin typeface="Georgia" pitchFamily="34" charset="0"/>
                <a:ea typeface="Georgia" pitchFamily="34" charset="-122"/>
                <a:cs typeface="Georgia" pitchFamily="34" charset="-120"/>
              </a:rPr>
              <a:t>Diuji satu per satu, bukan sekadar klaim</a:t>
            </a:r>
            <a:endParaRPr lang="en-US" sz="2600" dirty="0"/>
          </a:p>
        </p:txBody>
      </p:sp>
      <p:sp>
        <p:nvSpPr>
          <p:cNvPr id="4" name="Shape 2"/>
          <p:cNvSpPr/>
          <p:nvPr/>
        </p:nvSpPr>
        <p:spPr>
          <a:xfrm>
            <a:off x="548640" y="1261872"/>
            <a:ext cx="822960" cy="41148"/>
          </a:xfrm>
          <a:prstGeom prst="rect">
            <a:avLst/>
          </a:prstGeom>
          <a:solidFill>
            <a:srgbClr val="4E9A63"/>
          </a:solidFill>
          <a:ln/>
        </p:spPr>
      </p:sp>
      <p:pic>
        <p:nvPicPr>
          <p:cNvPr id="5" name="Image 0" descr="deck/healthy.png">    </p:cNvPr>
          <p:cNvPicPr>
            <a:picLocks noChangeAspect="1"/>
          </p:cNvPicPr>
          <p:nvPr/>
        </p:nvPicPr>
        <p:blipFill>
          <a:blip r:embed="rId1"/>
          <a:stretch>
            <a:fillRect/>
          </a:stretch>
        </p:blipFill>
        <p:spPr>
          <a:xfrm>
            <a:off x="548640" y="1691640"/>
            <a:ext cx="1078992" cy="2212848"/>
          </a:xfrm>
          <a:prstGeom prst="rect">
            <a:avLst/>
          </a:prstGeom>
        </p:spPr>
      </p:pic>
      <p:sp>
        <p:nvSpPr>
          <p:cNvPr id="6" name="Text 3"/>
          <p:cNvSpPr txBox="1"/>
          <p:nvPr/>
        </p:nvSpPr>
        <p:spPr>
          <a:xfrm>
            <a:off x="502920" y="3950208"/>
            <a:ext cx="1170432" cy="228600"/>
          </a:xfrm>
          <a:prstGeom prst="rect">
            <a:avLst/>
          </a:prstGeom>
          <a:noFill/>
          <a:ln/>
        </p:spPr>
        <p:txBody>
          <a:bodyPr wrap="square" lIns="0" tIns="0" rIns="0" bIns="0" rtlCol="0" anchor="ctr"/>
          <a:lstStyle/>
          <a:p>
            <a:pPr algn="ctr" indent="0" marL="0">
              <a:buNone/>
            </a:pPr>
            <a:r>
              <a:rPr lang="en-US" sz="850" b="1" dirty="0">
                <a:solidFill>
                  <a:srgbClr val="1C2B24"/>
                </a:solidFill>
                <a:latin typeface="Segoe UI" pitchFamily="34" charset="0"/>
                <a:ea typeface="Segoe UI" pitchFamily="34" charset="-122"/>
                <a:cs typeface="Segoe UI" pitchFamily="34" charset="-120"/>
              </a:rPr>
              <a:t>Healthy Leaf 94%</a:t>
            </a:r>
            <a:endParaRPr lang="en-US" sz="850" dirty="0"/>
          </a:p>
        </p:txBody>
      </p:sp>
      <p:pic>
        <p:nvPicPr>
          <p:cNvPr id="7" name="Image 1" descr="deck/dry.png">    </p:cNvPr>
          <p:cNvPicPr>
            <a:picLocks noChangeAspect="1"/>
          </p:cNvPicPr>
          <p:nvPr/>
        </p:nvPicPr>
        <p:blipFill>
          <a:blip r:embed="rId2"/>
          <a:stretch>
            <a:fillRect/>
          </a:stretch>
        </p:blipFill>
        <p:spPr>
          <a:xfrm>
            <a:off x="1755648" y="1691640"/>
            <a:ext cx="1078992" cy="2212848"/>
          </a:xfrm>
          <a:prstGeom prst="rect">
            <a:avLst/>
          </a:prstGeom>
        </p:spPr>
      </p:pic>
      <p:sp>
        <p:nvSpPr>
          <p:cNvPr id="8" name="Text 4"/>
          <p:cNvSpPr txBox="1"/>
          <p:nvPr/>
        </p:nvSpPr>
        <p:spPr>
          <a:xfrm>
            <a:off x="1709928" y="3950208"/>
            <a:ext cx="1170432" cy="228600"/>
          </a:xfrm>
          <a:prstGeom prst="rect">
            <a:avLst/>
          </a:prstGeom>
          <a:noFill/>
          <a:ln/>
        </p:spPr>
        <p:txBody>
          <a:bodyPr wrap="square" lIns="0" tIns="0" rIns="0" bIns="0" rtlCol="0" anchor="ctr"/>
          <a:lstStyle/>
          <a:p>
            <a:pPr algn="ctr" indent="0" marL="0">
              <a:buNone/>
            </a:pPr>
            <a:r>
              <a:rPr lang="en-US" sz="850" b="1" dirty="0">
                <a:solidFill>
                  <a:srgbClr val="1C2B24"/>
                </a:solidFill>
                <a:latin typeface="Segoe UI" pitchFamily="34" charset="0"/>
                <a:ea typeface="Segoe UI" pitchFamily="34" charset="-122"/>
                <a:cs typeface="Segoe UI" pitchFamily="34" charset="-120"/>
              </a:rPr>
              <a:t>Daun bermasalah 100%</a:t>
            </a:r>
            <a:endParaRPr lang="en-US" sz="850" dirty="0"/>
          </a:p>
        </p:txBody>
      </p:sp>
      <p:pic>
        <p:nvPicPr>
          <p:cNvPr id="9" name="Image 2" descr="deck/aphid.png">    </p:cNvPr>
          <p:cNvPicPr>
            <a:picLocks noChangeAspect="1"/>
          </p:cNvPicPr>
          <p:nvPr/>
        </p:nvPicPr>
        <p:blipFill>
          <a:blip r:embed="rId3"/>
          <a:stretch>
            <a:fillRect/>
          </a:stretch>
        </p:blipFill>
        <p:spPr>
          <a:xfrm>
            <a:off x="2962656" y="1691640"/>
            <a:ext cx="1078992" cy="2212848"/>
          </a:xfrm>
          <a:prstGeom prst="rect">
            <a:avLst/>
          </a:prstGeom>
        </p:spPr>
      </p:pic>
      <p:sp>
        <p:nvSpPr>
          <p:cNvPr id="10" name="Text 5"/>
          <p:cNvSpPr txBox="1"/>
          <p:nvPr/>
        </p:nvSpPr>
        <p:spPr>
          <a:xfrm>
            <a:off x="2916936" y="3950208"/>
            <a:ext cx="1170432" cy="228600"/>
          </a:xfrm>
          <a:prstGeom prst="rect">
            <a:avLst/>
          </a:prstGeom>
          <a:noFill/>
          <a:ln/>
        </p:spPr>
        <p:txBody>
          <a:bodyPr wrap="square" lIns="0" tIns="0" rIns="0" bIns="0" rtlCol="0" anchor="ctr"/>
          <a:lstStyle/>
          <a:p>
            <a:pPr algn="ctr" indent="0" marL="0">
              <a:buNone/>
            </a:pPr>
            <a:r>
              <a:rPr lang="en-US" sz="850" b="1" dirty="0">
                <a:solidFill>
                  <a:srgbClr val="1C2B24"/>
                </a:solidFill>
                <a:latin typeface="Segoe UI" pitchFamily="34" charset="0"/>
                <a:ea typeface="Segoe UI" pitchFamily="34" charset="-122"/>
                <a:cs typeface="Segoe UI" pitchFamily="34" charset="-120"/>
              </a:rPr>
              <a:t>Aphid 94%</a:t>
            </a:r>
            <a:endParaRPr lang="en-US" sz="850" dirty="0"/>
          </a:p>
        </p:txBody>
      </p:sp>
      <p:pic>
        <p:nvPicPr>
          <p:cNvPr id="11" name="Image 3" descr="deck/caterpillar.png">    </p:cNvPr>
          <p:cNvPicPr>
            <a:picLocks noChangeAspect="1"/>
          </p:cNvPicPr>
          <p:nvPr/>
        </p:nvPicPr>
        <p:blipFill>
          <a:blip r:embed="rId4"/>
          <a:stretch>
            <a:fillRect/>
          </a:stretch>
        </p:blipFill>
        <p:spPr>
          <a:xfrm>
            <a:off x="4169664" y="1691640"/>
            <a:ext cx="1078992" cy="2212848"/>
          </a:xfrm>
          <a:prstGeom prst="rect">
            <a:avLst/>
          </a:prstGeom>
        </p:spPr>
      </p:pic>
      <p:sp>
        <p:nvSpPr>
          <p:cNvPr id="12" name="Text 6"/>
          <p:cNvSpPr txBox="1"/>
          <p:nvPr/>
        </p:nvSpPr>
        <p:spPr>
          <a:xfrm>
            <a:off x="4123944" y="3950208"/>
            <a:ext cx="1170432" cy="228600"/>
          </a:xfrm>
          <a:prstGeom prst="rect">
            <a:avLst/>
          </a:prstGeom>
          <a:noFill/>
          <a:ln/>
        </p:spPr>
        <p:txBody>
          <a:bodyPr wrap="square" lIns="0" tIns="0" rIns="0" bIns="0" rtlCol="0" anchor="ctr"/>
          <a:lstStyle/>
          <a:p>
            <a:pPr algn="ctr" indent="0" marL="0">
              <a:buNone/>
            </a:pPr>
            <a:r>
              <a:rPr lang="en-US" sz="850" b="1" dirty="0">
                <a:solidFill>
                  <a:srgbClr val="1C2B24"/>
                </a:solidFill>
                <a:latin typeface="Segoe UI" pitchFamily="34" charset="0"/>
                <a:ea typeface="Segoe UI" pitchFamily="34" charset="-122"/>
                <a:cs typeface="Segoe UI" pitchFamily="34" charset="-120"/>
              </a:rPr>
              <a:t>Caterpillar 100%</a:t>
            </a:r>
            <a:endParaRPr lang="en-US" sz="850" dirty="0"/>
          </a:p>
        </p:txBody>
      </p:sp>
      <p:pic>
        <p:nvPicPr>
          <p:cNvPr id="13" name="Image 4" descr="deck/snail.png">    </p:cNvPr>
          <p:cNvPicPr>
            <a:picLocks noChangeAspect="1"/>
          </p:cNvPicPr>
          <p:nvPr/>
        </p:nvPicPr>
        <p:blipFill>
          <a:blip r:embed="rId5"/>
          <a:stretch>
            <a:fillRect/>
          </a:stretch>
        </p:blipFill>
        <p:spPr>
          <a:xfrm>
            <a:off x="5376672" y="1691640"/>
            <a:ext cx="1078992" cy="2212848"/>
          </a:xfrm>
          <a:prstGeom prst="rect">
            <a:avLst/>
          </a:prstGeom>
        </p:spPr>
      </p:pic>
      <p:sp>
        <p:nvSpPr>
          <p:cNvPr id="14" name="Text 7"/>
          <p:cNvSpPr txBox="1"/>
          <p:nvPr/>
        </p:nvSpPr>
        <p:spPr>
          <a:xfrm>
            <a:off x="5330952" y="3950208"/>
            <a:ext cx="1170432" cy="228600"/>
          </a:xfrm>
          <a:prstGeom prst="rect">
            <a:avLst/>
          </a:prstGeom>
          <a:noFill/>
          <a:ln/>
        </p:spPr>
        <p:txBody>
          <a:bodyPr wrap="square" lIns="0" tIns="0" rIns="0" bIns="0" rtlCol="0" anchor="ctr"/>
          <a:lstStyle/>
          <a:p>
            <a:pPr algn="ctr" indent="0" marL="0">
              <a:buNone/>
            </a:pPr>
            <a:r>
              <a:rPr lang="en-US" sz="850" b="1" dirty="0">
                <a:solidFill>
                  <a:srgbClr val="1C2B24"/>
                </a:solidFill>
                <a:latin typeface="Segoe UI" pitchFamily="34" charset="0"/>
                <a:ea typeface="Segoe UI" pitchFamily="34" charset="-122"/>
                <a:cs typeface="Segoe UI" pitchFamily="34" charset="-120"/>
              </a:rPr>
              <a:t>Snail 99%</a:t>
            </a:r>
            <a:endParaRPr lang="en-US" sz="850" dirty="0"/>
          </a:p>
        </p:txBody>
      </p:sp>
      <p:pic>
        <p:nvPicPr>
          <p:cNvPr id="15" name="Image 5" descr="deck/whitefly.png">    </p:cNvPr>
          <p:cNvPicPr>
            <a:picLocks noChangeAspect="1"/>
          </p:cNvPicPr>
          <p:nvPr/>
        </p:nvPicPr>
        <p:blipFill>
          <a:blip r:embed="rId6"/>
          <a:stretch>
            <a:fillRect/>
          </a:stretch>
        </p:blipFill>
        <p:spPr>
          <a:xfrm>
            <a:off x="6583680" y="1691640"/>
            <a:ext cx="1078992" cy="2212848"/>
          </a:xfrm>
          <a:prstGeom prst="rect">
            <a:avLst/>
          </a:prstGeom>
        </p:spPr>
      </p:pic>
      <p:sp>
        <p:nvSpPr>
          <p:cNvPr id="16" name="Text 8"/>
          <p:cNvSpPr txBox="1"/>
          <p:nvPr/>
        </p:nvSpPr>
        <p:spPr>
          <a:xfrm>
            <a:off x="6537960" y="3950208"/>
            <a:ext cx="1170432" cy="228600"/>
          </a:xfrm>
          <a:prstGeom prst="rect">
            <a:avLst/>
          </a:prstGeom>
          <a:noFill/>
          <a:ln/>
        </p:spPr>
        <p:txBody>
          <a:bodyPr wrap="square" lIns="0" tIns="0" rIns="0" bIns="0" rtlCol="0" anchor="ctr"/>
          <a:lstStyle/>
          <a:p>
            <a:pPr algn="ctr" indent="0" marL="0">
              <a:buNone/>
            </a:pPr>
            <a:r>
              <a:rPr lang="en-US" sz="850" b="1" dirty="0">
                <a:solidFill>
                  <a:srgbClr val="1C2B24"/>
                </a:solidFill>
                <a:latin typeface="Segoe UI" pitchFamily="34" charset="0"/>
                <a:ea typeface="Segoe UI" pitchFamily="34" charset="-122"/>
                <a:cs typeface="Segoe UI" pitchFamily="34" charset="-120"/>
              </a:rPr>
              <a:t>Whitefly 98%</a:t>
            </a:r>
            <a:endParaRPr lang="en-US" sz="850" dirty="0"/>
          </a:p>
        </p:txBody>
      </p:sp>
      <p:pic>
        <p:nvPicPr>
          <p:cNvPr id="17" name="Image 6" descr="deck/spidermite.png">    </p:cNvPr>
          <p:cNvPicPr>
            <a:picLocks noChangeAspect="1"/>
          </p:cNvPicPr>
          <p:nvPr/>
        </p:nvPicPr>
        <p:blipFill>
          <a:blip r:embed="rId7"/>
          <a:stretch>
            <a:fillRect/>
          </a:stretch>
        </p:blipFill>
        <p:spPr>
          <a:xfrm>
            <a:off x="7790688" y="1691640"/>
            <a:ext cx="1078992" cy="2212848"/>
          </a:xfrm>
          <a:prstGeom prst="rect">
            <a:avLst/>
          </a:prstGeom>
        </p:spPr>
      </p:pic>
      <p:sp>
        <p:nvSpPr>
          <p:cNvPr id="18" name="Text 9"/>
          <p:cNvSpPr txBox="1"/>
          <p:nvPr/>
        </p:nvSpPr>
        <p:spPr>
          <a:xfrm>
            <a:off x="7744968" y="3950208"/>
            <a:ext cx="1170432" cy="228600"/>
          </a:xfrm>
          <a:prstGeom prst="rect">
            <a:avLst/>
          </a:prstGeom>
          <a:noFill/>
          <a:ln/>
        </p:spPr>
        <p:txBody>
          <a:bodyPr wrap="square" lIns="0" tIns="0" rIns="0" bIns="0" rtlCol="0" anchor="ctr"/>
          <a:lstStyle/>
          <a:p>
            <a:pPr algn="ctr" indent="0" marL="0">
              <a:buNone/>
            </a:pPr>
            <a:r>
              <a:rPr lang="en-US" sz="850" b="1" dirty="0">
                <a:solidFill>
                  <a:srgbClr val="1C2B24"/>
                </a:solidFill>
                <a:latin typeface="Segoe UI" pitchFamily="34" charset="0"/>
                <a:ea typeface="Segoe UI" pitchFamily="34" charset="-122"/>
                <a:cs typeface="Segoe UI" pitchFamily="34" charset="-120"/>
              </a:rPr>
              <a:t>Spider Mite 95%</a:t>
            </a:r>
            <a:endParaRPr lang="en-US" sz="850" dirty="0"/>
          </a:p>
        </p:txBody>
      </p:sp>
      <p:sp>
        <p:nvSpPr>
          <p:cNvPr id="19" name="Shape 10"/>
          <p:cNvSpPr/>
          <p:nvPr/>
        </p:nvSpPr>
        <p:spPr>
          <a:xfrm>
            <a:off x="9144000" y="1691640"/>
            <a:ext cx="2514600" cy="2468880"/>
          </a:xfrm>
          <a:prstGeom prst="roundRect">
            <a:avLst>
              <a:gd name="adj" fmla="val 3333"/>
            </a:avLst>
          </a:prstGeom>
          <a:solidFill>
            <a:srgbClr val="E6EEE5"/>
          </a:solidFill>
          <a:ln w="9525">
            <a:solidFill>
              <a:srgbClr val="D8D5C4"/>
            </a:solidFill>
            <a:prstDash val="solid"/>
          </a:ln>
        </p:spPr>
      </p:sp>
      <p:sp>
        <p:nvSpPr>
          <p:cNvPr id="20" name="Text 11"/>
          <p:cNvSpPr txBox="1"/>
          <p:nvPr/>
        </p:nvSpPr>
        <p:spPr>
          <a:xfrm>
            <a:off x="9372600" y="1874520"/>
            <a:ext cx="2103120" cy="548640"/>
          </a:xfrm>
          <a:prstGeom prst="rect">
            <a:avLst/>
          </a:prstGeom>
          <a:noFill/>
          <a:ln/>
        </p:spPr>
        <p:txBody>
          <a:bodyPr wrap="square" lIns="0" tIns="0" rIns="0" bIns="0" rtlCol="0" anchor="ctr"/>
          <a:lstStyle/>
          <a:p>
            <a:pPr indent="0" marL="0">
              <a:buNone/>
            </a:pPr>
            <a:r>
              <a:rPr lang="en-US" sz="3400" b="1" dirty="0">
                <a:solidFill>
                  <a:srgbClr val="3E7C4E"/>
                </a:solidFill>
                <a:latin typeface="Georgia" pitchFamily="34" charset="0"/>
                <a:ea typeface="Georgia" pitchFamily="34" charset="-122"/>
                <a:cs typeface="Georgia" pitchFamily="34" charset="-120"/>
              </a:rPr>
              <a:t>95,7%</a:t>
            </a:r>
            <a:endParaRPr lang="en-US" sz="3400" dirty="0"/>
          </a:p>
        </p:txBody>
      </p:sp>
      <p:sp>
        <p:nvSpPr>
          <p:cNvPr id="21" name="Text 12"/>
          <p:cNvSpPr txBox="1"/>
          <p:nvPr/>
        </p:nvSpPr>
        <p:spPr>
          <a:xfrm>
            <a:off x="9372600" y="2450592"/>
            <a:ext cx="2103120" cy="457200"/>
          </a:xfrm>
          <a:prstGeom prst="rect">
            <a:avLst/>
          </a:prstGeom>
          <a:noFill/>
          <a:ln/>
        </p:spPr>
        <p:txBody>
          <a:bodyPr wrap="square" lIns="0" tIns="0" rIns="0" bIns="0" rtlCol="0" anchor="ctr"/>
          <a:lstStyle/>
          <a:p>
            <a:pPr indent="0" marL="0">
              <a:lnSpc>
                <a:spcPts val="1400"/>
              </a:lnSpc>
              <a:buNone/>
            </a:pPr>
            <a:r>
              <a:rPr lang="en-US" sz="1000" dirty="0">
                <a:solidFill>
                  <a:srgbClr val="1C2B24"/>
                </a:solidFill>
                <a:latin typeface="Segoe UI" pitchFamily="34" charset="0"/>
                <a:ea typeface="Segoe UI" pitchFamily="34" charset="-122"/>
                <a:cs typeface="Segoe UI" pitchFamily="34" charset="-120"/>
              </a:rPr>
              <a:t>rata-rata keyakinan pada pengujian tujuh kondisi</a:t>
            </a:r>
            <a:endParaRPr lang="en-US" sz="1000" dirty="0"/>
          </a:p>
        </p:txBody>
      </p:sp>
      <p:sp>
        <p:nvSpPr>
          <p:cNvPr id="22" name="Text 13"/>
          <p:cNvSpPr txBox="1"/>
          <p:nvPr/>
        </p:nvSpPr>
        <p:spPr>
          <a:xfrm>
            <a:off x="9372600" y="3063240"/>
            <a:ext cx="2103120" cy="822960"/>
          </a:xfrm>
          <a:prstGeom prst="rect">
            <a:avLst/>
          </a:prstGeom>
          <a:noFill/>
          <a:ln/>
        </p:spPr>
        <p:txBody>
          <a:bodyPr wrap="square" lIns="0" tIns="0" rIns="0" bIns="0" rtlCol="0" anchor="ctr"/>
          <a:lstStyle/>
          <a:p>
            <a:pPr indent="0" marL="0">
              <a:lnSpc>
                <a:spcPts val="1200"/>
              </a:lnSpc>
              <a:buNone/>
            </a:pPr>
            <a:r>
              <a:rPr lang="en-US" sz="900" dirty="0">
                <a:solidFill>
                  <a:srgbClr val="5E6F66"/>
                </a:solidFill>
                <a:latin typeface="Segoe UI" pitchFamily="34" charset="0"/>
                <a:ea typeface="Segoe UI" pitchFamily="34" charset="-122"/>
                <a:cs typeface="Segoe UI" pitchFamily="34" charset="-120"/>
              </a:rPr>
              <a:t>Kelas pembanding tertinggi hanya 5 persen, sehingga label akhir tidak pernah tertukar pada pengujian ini.</a:t>
            </a:r>
            <a:endParaRPr lang="en-US" sz="900" dirty="0"/>
          </a:p>
        </p:txBody>
      </p:sp>
      <p:sp>
        <p:nvSpPr>
          <p:cNvPr id="23" name="Text 14"/>
          <p:cNvSpPr txBox="1"/>
          <p:nvPr/>
        </p:nvSpPr>
        <p:spPr>
          <a:xfrm>
            <a:off x="548640" y="4224528"/>
            <a:ext cx="8412480" cy="365760"/>
          </a:xfrm>
          <a:prstGeom prst="rect">
            <a:avLst/>
          </a:prstGeom>
          <a:noFill/>
          <a:ln/>
        </p:spPr>
        <p:txBody>
          <a:bodyPr wrap="square" lIns="0" tIns="0" rIns="0" bIns="0" rtlCol="0" anchor="ctr"/>
          <a:lstStyle/>
          <a:p>
            <a:pPr indent="0" marL="0">
              <a:buNone/>
            </a:pPr>
            <a:r>
              <a:rPr lang="en-US" sz="900" i="1" dirty="0">
                <a:solidFill>
                  <a:srgbClr val="5E6F66"/>
                </a:solidFill>
                <a:latin typeface="Segoe UI" pitchFamily="34" charset="0"/>
                <a:ea typeface="Segoe UI" pitchFamily="34" charset="-122"/>
                <a:cs typeface="Segoe UI" pitchFamily="34" charset="-120"/>
              </a:rPr>
              <a:t>Tangkapan layar diambil dari http://192.168.100.100 yang dihosting ESP32. Panel diagnostik di tiap layar menunjukkan kamera berhasil dibuka langsung dari jaringan lokal.</a:t>
            </a:r>
            <a:endParaRPr lang="en-US" sz="900" dirty="0"/>
          </a:p>
        </p:txBody>
      </p:sp>
      <p:sp>
        <p:nvSpPr>
          <p:cNvPr id="24" name="Shape 15"/>
          <p:cNvSpPr/>
          <p:nvPr/>
        </p:nvSpPr>
        <p:spPr>
          <a:xfrm>
            <a:off x="548640" y="4754880"/>
            <a:ext cx="3520440" cy="1417320"/>
          </a:xfrm>
          <a:prstGeom prst="roundRect">
            <a:avLst>
              <a:gd name="adj" fmla="val 5161"/>
            </a:avLst>
          </a:prstGeom>
          <a:solidFill>
            <a:srgbClr val="FFFFFF"/>
          </a:solidFill>
          <a:ln w="9525">
            <a:solidFill>
              <a:srgbClr val="D8D5C4"/>
            </a:solidFill>
            <a:prstDash val="solid"/>
          </a:ln>
        </p:spPr>
      </p:sp>
      <p:sp>
        <p:nvSpPr>
          <p:cNvPr id="25" name="Shape 16"/>
          <p:cNvSpPr/>
          <p:nvPr/>
        </p:nvSpPr>
        <p:spPr>
          <a:xfrm>
            <a:off x="749808" y="4937760"/>
            <a:ext cx="274320" cy="32004"/>
          </a:xfrm>
          <a:prstGeom prst="rect">
            <a:avLst/>
          </a:prstGeom>
          <a:solidFill>
            <a:srgbClr val="4E9A63"/>
          </a:solidFill>
          <a:ln/>
        </p:spPr>
      </p:sp>
      <p:sp>
        <p:nvSpPr>
          <p:cNvPr id="26" name="Text 17"/>
          <p:cNvSpPr txBox="1"/>
          <p:nvPr/>
        </p:nvSpPr>
        <p:spPr>
          <a:xfrm>
            <a:off x="749808" y="5029200"/>
            <a:ext cx="3108960" cy="256032"/>
          </a:xfrm>
          <a:prstGeom prst="rect">
            <a:avLst/>
          </a:prstGeom>
          <a:noFill/>
          <a:ln/>
        </p:spPr>
        <p:txBody>
          <a:bodyPr wrap="square" lIns="0" tIns="0" rIns="0" bIns="0" rtlCol="0" anchor="ctr"/>
          <a:lstStyle/>
          <a:p>
            <a:pPr indent="0" marL="0">
              <a:buNone/>
            </a:pPr>
            <a:r>
              <a:rPr lang="en-US" sz="1150" b="1" dirty="0">
                <a:solidFill>
                  <a:srgbClr val="1C2B24"/>
                </a:solidFill>
                <a:latin typeface="Segoe UI" pitchFamily="34" charset="0"/>
                <a:ea typeface="Segoe UI" pitchFamily="34" charset="-122"/>
                <a:cs typeface="Segoe UI" pitchFamily="34" charset="-120"/>
              </a:rPr>
              <a:t>Yang sudah kuat</a:t>
            </a:r>
            <a:endParaRPr lang="en-US" sz="1150" dirty="0"/>
          </a:p>
        </p:txBody>
      </p:sp>
      <p:sp>
        <p:nvSpPr>
          <p:cNvPr id="27" name="Text 18"/>
          <p:cNvSpPr txBox="1"/>
          <p:nvPr/>
        </p:nvSpPr>
        <p:spPr>
          <a:xfrm>
            <a:off x="749808" y="5321808"/>
            <a:ext cx="3108960" cy="274320"/>
          </a:xfrm>
          <a:prstGeom prst="rect">
            <a:avLst/>
          </a:prstGeom>
          <a:noFill/>
          <a:ln/>
        </p:spPr>
        <p:txBody>
          <a:bodyPr wrap="square" lIns="0" tIns="0" rIns="0" bIns="0" rtlCol="0" anchor="t"/>
          <a:lstStyle/>
          <a:p>
            <a:pPr indent="0" marL="0">
              <a:lnSpc>
                <a:spcPts val="1350"/>
              </a:lnSpc>
              <a:buNone/>
            </a:pPr>
            <a:r>
              <a:rPr lang="en-US" sz="1000" dirty="0">
                <a:solidFill>
                  <a:srgbClr val="5E6F66"/>
                </a:solidFill>
                <a:latin typeface="Segoe UI" pitchFamily="34" charset="0"/>
                <a:ea typeface="Segoe UI" pitchFamily="34" charset="-122"/>
                <a:cs typeface="Segoe UI" pitchFamily="34" charset="-120"/>
              </a:rPr>
              <a:t>Kondisi daun bermasalah dan ulat terbaca 100 persen karena ciri visualnya paling kontras. Siput dan kutu kebul juga stabil di atas 98 persen.</a:t>
            </a:r>
            <a:endParaRPr lang="en-US" sz="1000" dirty="0"/>
          </a:p>
        </p:txBody>
      </p:sp>
      <p:sp>
        <p:nvSpPr>
          <p:cNvPr id="28" name="Shape 19"/>
          <p:cNvSpPr/>
          <p:nvPr/>
        </p:nvSpPr>
        <p:spPr>
          <a:xfrm>
            <a:off x="4315968" y="4754880"/>
            <a:ext cx="3520440" cy="1417320"/>
          </a:xfrm>
          <a:prstGeom prst="roundRect">
            <a:avLst>
              <a:gd name="adj" fmla="val 5161"/>
            </a:avLst>
          </a:prstGeom>
          <a:solidFill>
            <a:srgbClr val="FFFFFF"/>
          </a:solidFill>
          <a:ln w="9525">
            <a:solidFill>
              <a:srgbClr val="D8D5C4"/>
            </a:solidFill>
            <a:prstDash val="solid"/>
          </a:ln>
        </p:spPr>
      </p:sp>
      <p:sp>
        <p:nvSpPr>
          <p:cNvPr id="29" name="Shape 20"/>
          <p:cNvSpPr/>
          <p:nvPr/>
        </p:nvSpPr>
        <p:spPr>
          <a:xfrm>
            <a:off x="4517136" y="4937760"/>
            <a:ext cx="274320" cy="32004"/>
          </a:xfrm>
          <a:prstGeom prst="rect">
            <a:avLst/>
          </a:prstGeom>
          <a:solidFill>
            <a:srgbClr val="C2603F"/>
          </a:solidFill>
          <a:ln/>
        </p:spPr>
      </p:sp>
      <p:sp>
        <p:nvSpPr>
          <p:cNvPr id="30" name="Text 21"/>
          <p:cNvSpPr txBox="1"/>
          <p:nvPr/>
        </p:nvSpPr>
        <p:spPr>
          <a:xfrm>
            <a:off x="4517136" y="5029200"/>
            <a:ext cx="3108960" cy="256032"/>
          </a:xfrm>
          <a:prstGeom prst="rect">
            <a:avLst/>
          </a:prstGeom>
          <a:noFill/>
          <a:ln/>
        </p:spPr>
        <p:txBody>
          <a:bodyPr wrap="square" lIns="0" tIns="0" rIns="0" bIns="0" rtlCol="0" anchor="ctr"/>
          <a:lstStyle/>
          <a:p>
            <a:pPr indent="0" marL="0">
              <a:buNone/>
            </a:pPr>
            <a:r>
              <a:rPr lang="en-US" sz="1150" b="1" dirty="0">
                <a:solidFill>
                  <a:srgbClr val="1C2B24"/>
                </a:solidFill>
                <a:latin typeface="Segoe UI" pitchFamily="34" charset="0"/>
                <a:ea typeface="Segoe UI" pitchFamily="34" charset="-122"/>
                <a:cs typeface="Segoe UI" pitchFamily="34" charset="-120"/>
              </a:rPr>
              <a:t>Yang masih kami perbaiki</a:t>
            </a:r>
            <a:endParaRPr lang="en-US" sz="1150" dirty="0"/>
          </a:p>
        </p:txBody>
      </p:sp>
      <p:sp>
        <p:nvSpPr>
          <p:cNvPr id="31" name="Text 22"/>
          <p:cNvSpPr txBox="1"/>
          <p:nvPr/>
        </p:nvSpPr>
        <p:spPr>
          <a:xfrm>
            <a:off x="4517136" y="5321808"/>
            <a:ext cx="3108960" cy="274320"/>
          </a:xfrm>
          <a:prstGeom prst="rect">
            <a:avLst/>
          </a:prstGeom>
          <a:noFill/>
          <a:ln/>
        </p:spPr>
        <p:txBody>
          <a:bodyPr wrap="square" lIns="0" tIns="0" rIns="0" bIns="0" rtlCol="0" anchor="t"/>
          <a:lstStyle/>
          <a:p>
            <a:pPr indent="0" marL="0">
              <a:lnSpc>
                <a:spcPts val="1350"/>
              </a:lnSpc>
              <a:buNone/>
            </a:pPr>
            <a:r>
              <a:rPr lang="en-US" sz="1000" dirty="0">
                <a:solidFill>
                  <a:srgbClr val="5E6F66"/>
                </a:solidFill>
                <a:latin typeface="Segoe UI" pitchFamily="34" charset="0"/>
                <a:ea typeface="Segoe UI" pitchFamily="34" charset="-122"/>
                <a:cs typeface="Segoe UI" pitchFamily="34" charset="-120"/>
              </a:rPr>
              <a:t>Aphid dan whitefly sesekali saling memberi skor kecil karena sama-sama serangga kecil berwarna terang. Penambahan sampel untuk dua kelas ini jadi prioritas berikutnya.</a:t>
            </a:r>
            <a:endParaRPr lang="en-US" sz="1000" dirty="0"/>
          </a:p>
        </p:txBody>
      </p:sp>
      <p:sp>
        <p:nvSpPr>
          <p:cNvPr id="32" name="Shape 23"/>
          <p:cNvSpPr/>
          <p:nvPr/>
        </p:nvSpPr>
        <p:spPr>
          <a:xfrm>
            <a:off x="8083296" y="4754880"/>
            <a:ext cx="3520440" cy="1417320"/>
          </a:xfrm>
          <a:prstGeom prst="roundRect">
            <a:avLst>
              <a:gd name="adj" fmla="val 5161"/>
            </a:avLst>
          </a:prstGeom>
          <a:solidFill>
            <a:srgbClr val="FFFFFF"/>
          </a:solidFill>
          <a:ln w="9525">
            <a:solidFill>
              <a:srgbClr val="D8D5C4"/>
            </a:solidFill>
            <a:prstDash val="solid"/>
          </a:ln>
        </p:spPr>
      </p:sp>
      <p:sp>
        <p:nvSpPr>
          <p:cNvPr id="33" name="Shape 24"/>
          <p:cNvSpPr/>
          <p:nvPr/>
        </p:nvSpPr>
        <p:spPr>
          <a:xfrm>
            <a:off x="8284464" y="4937760"/>
            <a:ext cx="274320" cy="32004"/>
          </a:xfrm>
          <a:prstGeom prst="rect">
            <a:avLst/>
          </a:prstGeom>
          <a:solidFill>
            <a:srgbClr val="4E9A63"/>
          </a:solidFill>
          <a:ln/>
        </p:spPr>
      </p:sp>
      <p:sp>
        <p:nvSpPr>
          <p:cNvPr id="34" name="Text 25"/>
          <p:cNvSpPr txBox="1"/>
          <p:nvPr/>
        </p:nvSpPr>
        <p:spPr>
          <a:xfrm>
            <a:off x="8284464" y="5029200"/>
            <a:ext cx="3108960" cy="256032"/>
          </a:xfrm>
          <a:prstGeom prst="rect">
            <a:avLst/>
          </a:prstGeom>
          <a:noFill/>
          <a:ln/>
        </p:spPr>
        <p:txBody>
          <a:bodyPr wrap="square" lIns="0" tIns="0" rIns="0" bIns="0" rtlCol="0" anchor="ctr"/>
          <a:lstStyle/>
          <a:p>
            <a:pPr indent="0" marL="0">
              <a:buNone/>
            </a:pPr>
            <a:r>
              <a:rPr lang="en-US" sz="1150" b="1" dirty="0">
                <a:solidFill>
                  <a:srgbClr val="1C2B24"/>
                </a:solidFill>
                <a:latin typeface="Segoe UI" pitchFamily="34" charset="0"/>
                <a:ea typeface="Segoe UI" pitchFamily="34" charset="-122"/>
                <a:cs typeface="Segoe UI" pitchFamily="34" charset="-120"/>
              </a:rPr>
              <a:t>Catatan kejujuran data</a:t>
            </a:r>
            <a:endParaRPr lang="en-US" sz="1150" dirty="0"/>
          </a:p>
        </p:txBody>
      </p:sp>
      <p:sp>
        <p:nvSpPr>
          <p:cNvPr id="35" name="Text 26"/>
          <p:cNvSpPr txBox="1"/>
          <p:nvPr/>
        </p:nvSpPr>
        <p:spPr>
          <a:xfrm>
            <a:off x="8284464" y="5321808"/>
            <a:ext cx="3108960" cy="274320"/>
          </a:xfrm>
          <a:prstGeom prst="rect">
            <a:avLst/>
          </a:prstGeom>
          <a:noFill/>
          <a:ln/>
        </p:spPr>
        <p:txBody>
          <a:bodyPr wrap="square" lIns="0" tIns="0" rIns="0" bIns="0" rtlCol="0" anchor="t"/>
          <a:lstStyle/>
          <a:p>
            <a:pPr indent="0" marL="0">
              <a:lnSpc>
                <a:spcPts val="1350"/>
              </a:lnSpc>
              <a:buNone/>
            </a:pPr>
            <a:r>
              <a:rPr lang="en-US" sz="1000" dirty="0">
                <a:solidFill>
                  <a:srgbClr val="5E6F66"/>
                </a:solidFill>
                <a:latin typeface="Segoe UI" pitchFamily="34" charset="0"/>
                <a:ea typeface="Segoe UI" pitchFamily="34" charset="-122"/>
                <a:cs typeface="Segoe UI" pitchFamily="34" charset="-120"/>
              </a:rPr>
              <a:t>Kelas daun bermasalah pada pengujian ini kemudian kami pecah menjadi yellow_leaf dan dry_leaf agar rekomendasi perawatan lebih spesifik.</a:t>
            </a:r>
            <a:endParaRPr lang="en-US" sz="1000" dirty="0"/>
          </a:p>
        </p:txBody>
      </p:sp>
      <p:sp>
        <p:nvSpPr>
          <p:cNvPr id="36" name="Text 27"/>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5E6F66"/>
                </a:solidFill>
                <a:latin typeface="Segoe UI" pitchFamily="34" charset="0"/>
                <a:ea typeface="Segoe UI" pitchFamily="34" charset="-122"/>
                <a:cs typeface="Segoe UI" pitchFamily="34" charset="-120"/>
              </a:rPr>
              <a:t>Flora-Gotchi  |  Tim Gerbang Logika</a:t>
            </a:r>
            <a:endParaRPr lang="en-US" sz="900" dirty="0"/>
          </a:p>
        </p:txBody>
      </p:sp>
      <p:sp>
        <p:nvSpPr>
          <p:cNvPr id="37" name="Text 28"/>
          <p:cNvSpPr txBox="1"/>
          <p:nvPr/>
        </p:nvSpPr>
        <p:spPr>
          <a:xfrm>
            <a:off x="11155680" y="6419088"/>
            <a:ext cx="548640" cy="228600"/>
          </a:xfrm>
          <a:prstGeom prst="rect">
            <a:avLst/>
          </a:prstGeom>
          <a:noFill/>
          <a:ln/>
        </p:spPr>
        <p:txBody>
          <a:bodyPr wrap="square" lIns="0" tIns="0" rIns="0" bIns="0" rtlCol="0" anchor="ctr"/>
          <a:lstStyle/>
          <a:p>
            <a:pPr algn="r" indent="0" marL="0">
              <a:buNone/>
            </a:pPr>
            <a:r>
              <a:rPr lang="en-US" sz="900" dirty="0">
                <a:solidFill>
                  <a:srgbClr val="5E6F66"/>
                </a:solidFill>
                <a:latin typeface="Segoe UI" pitchFamily="34" charset="0"/>
                <a:ea typeface="Segoe UI" pitchFamily="34" charset="-122"/>
                <a:cs typeface="Segoe U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51C"/>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8FC79A"/>
                </a:solidFill>
                <a:latin typeface="Segoe UI" pitchFamily="34" charset="0"/>
                <a:ea typeface="Segoe UI" pitchFamily="34" charset="-122"/>
                <a:cs typeface="Segoe UI" pitchFamily="34" charset="-120"/>
              </a:rPr>
              <a:t>ANTARMUKA</a:t>
            </a:r>
            <a:endParaRPr lang="en-US" sz="1100" dirty="0"/>
          </a:p>
        </p:txBody>
      </p:sp>
      <p:sp>
        <p:nvSpPr>
          <p:cNvPr id="3" name="Text 1"/>
          <p:cNvSpPr txBox="1"/>
          <p:nvPr/>
        </p:nvSpPr>
        <p:spPr>
          <a:xfrm>
            <a:off x="548640" y="603504"/>
            <a:ext cx="11155680" cy="566928"/>
          </a:xfrm>
          <a:prstGeom prst="rect">
            <a:avLst/>
          </a:prstGeom>
          <a:noFill/>
          <a:ln/>
        </p:spPr>
        <p:txBody>
          <a:bodyPr wrap="square" lIns="0" tIns="0" rIns="0" bIns="0" rtlCol="0" anchor="ctr"/>
          <a:lstStyle/>
          <a:p>
            <a:pPr indent="0" marL="0">
              <a:buNone/>
            </a:pPr>
            <a:r>
              <a:rPr lang="en-US" sz="2600" b="1" dirty="0">
                <a:solidFill>
                  <a:srgbClr val="F7F4E9"/>
                </a:solidFill>
                <a:latin typeface="Georgia" pitchFamily="34" charset="0"/>
                <a:ea typeface="Georgia" pitchFamily="34" charset="-122"/>
                <a:cs typeface="Georgia" pitchFamily="34" charset="-120"/>
              </a:rPr>
              <a:t>Terrarium Journal, dashboard yang mau dibuka orang</a:t>
            </a:r>
            <a:endParaRPr lang="en-US" sz="2600" dirty="0"/>
          </a:p>
        </p:txBody>
      </p:sp>
      <p:sp>
        <p:nvSpPr>
          <p:cNvPr id="4" name="Shape 2"/>
          <p:cNvSpPr/>
          <p:nvPr/>
        </p:nvSpPr>
        <p:spPr>
          <a:xfrm>
            <a:off x="548640" y="1261872"/>
            <a:ext cx="822960" cy="41148"/>
          </a:xfrm>
          <a:prstGeom prst="rect">
            <a:avLst/>
          </a:prstGeom>
          <a:solidFill>
            <a:srgbClr val="8FC79A"/>
          </a:solidFill>
          <a:ln/>
        </p:spPr>
      </p:sp>
      <p:pic>
        <p:nvPicPr>
          <p:cNvPr id="5" name="Image 0" descr="deck/dashboard.png">    </p:cNvPr>
          <p:cNvPicPr>
            <a:picLocks noChangeAspect="1"/>
          </p:cNvPicPr>
          <p:nvPr/>
        </p:nvPicPr>
        <p:blipFill>
          <a:blip r:embed="rId1"/>
          <a:stretch>
            <a:fillRect/>
          </a:stretch>
        </p:blipFill>
        <p:spPr>
          <a:xfrm>
            <a:off x="822960" y="1691640"/>
            <a:ext cx="1965960" cy="4434840"/>
          </a:xfrm>
          <a:prstGeom prst="rect">
            <a:avLst/>
          </a:prstGeom>
        </p:spPr>
      </p:pic>
      <p:sp>
        <p:nvSpPr>
          <p:cNvPr id="6" name="Shape 3"/>
          <p:cNvSpPr/>
          <p:nvPr/>
        </p:nvSpPr>
        <p:spPr>
          <a:xfrm>
            <a:off x="3337560" y="1691640"/>
            <a:ext cx="8321040" cy="987552"/>
          </a:xfrm>
          <a:prstGeom prst="roundRect">
            <a:avLst>
              <a:gd name="adj" fmla="val 7407"/>
            </a:avLst>
          </a:prstGeom>
          <a:solidFill>
            <a:srgbClr val="16332A"/>
          </a:solidFill>
          <a:ln w="9525">
            <a:solidFill>
              <a:srgbClr val="2A4A3B"/>
            </a:solidFill>
            <a:prstDash val="solid"/>
          </a:ln>
        </p:spPr>
      </p:sp>
      <p:sp>
        <p:nvSpPr>
          <p:cNvPr id="7" name="Shape 4"/>
          <p:cNvSpPr/>
          <p:nvPr/>
        </p:nvSpPr>
        <p:spPr>
          <a:xfrm>
            <a:off x="3337560" y="1691640"/>
            <a:ext cx="54864" cy="987552"/>
          </a:xfrm>
          <a:prstGeom prst="rect">
            <a:avLst/>
          </a:prstGeom>
          <a:solidFill>
            <a:srgbClr val="8FC79A"/>
          </a:solidFill>
          <a:ln/>
        </p:spPr>
      </p:sp>
      <p:sp>
        <p:nvSpPr>
          <p:cNvPr id="8" name="Text 5"/>
          <p:cNvSpPr txBox="1"/>
          <p:nvPr/>
        </p:nvSpPr>
        <p:spPr>
          <a:xfrm>
            <a:off x="3611880" y="1810512"/>
            <a:ext cx="7772400" cy="256032"/>
          </a:xfrm>
          <a:prstGeom prst="rect">
            <a:avLst/>
          </a:prstGeom>
          <a:noFill/>
          <a:ln/>
        </p:spPr>
        <p:txBody>
          <a:bodyPr wrap="square" lIns="0" tIns="0" rIns="0" bIns="0" rtlCol="0" anchor="ctr"/>
          <a:lstStyle/>
          <a:p>
            <a:pPr indent="0" marL="0">
              <a:buNone/>
            </a:pPr>
            <a:r>
              <a:rPr lang="en-US" sz="1250" b="1" dirty="0">
                <a:solidFill>
                  <a:srgbClr val="F7F4E9"/>
                </a:solidFill>
                <a:latin typeface="Segoe UI" pitchFamily="34" charset="0"/>
                <a:ea typeface="Segoe UI" pitchFamily="34" charset="-122"/>
                <a:cs typeface="Segoe UI" pitchFamily="34" charset="-120"/>
              </a:rPr>
              <a:t>Dihosting sendiri oleh ESP32</a:t>
            </a:r>
            <a:endParaRPr lang="en-US" sz="1250" dirty="0"/>
          </a:p>
        </p:txBody>
      </p:sp>
      <p:sp>
        <p:nvSpPr>
          <p:cNvPr id="9" name="Text 6"/>
          <p:cNvSpPr txBox="1"/>
          <p:nvPr/>
        </p:nvSpPr>
        <p:spPr>
          <a:xfrm>
            <a:off x="3611880" y="2084832"/>
            <a:ext cx="7772400" cy="274320"/>
          </a:xfrm>
          <a:prstGeom prst="rect">
            <a:avLst/>
          </a:prstGeom>
          <a:noFill/>
          <a:ln/>
        </p:spPr>
        <p:txBody>
          <a:bodyPr wrap="square" lIns="0" tIns="0" rIns="0" bIns="0" rtlCol="0" anchor="t"/>
          <a:lstStyle/>
          <a:p>
            <a:pPr indent="0" marL="0">
              <a:lnSpc>
                <a:spcPts val="1418"/>
              </a:lnSpc>
              <a:buNone/>
            </a:pPr>
            <a:r>
              <a:rPr lang="en-US" sz="1050" dirty="0">
                <a:solidFill>
                  <a:srgbClr val="AFC2B4"/>
                </a:solidFill>
                <a:latin typeface="Segoe UI" pitchFamily="34" charset="0"/>
                <a:ea typeface="Segoe UI" pitchFamily="34" charset="-122"/>
                <a:cs typeface="Segoe UI" pitchFamily="34" charset="-120"/>
              </a:rPr>
              <a:t>Tidak ada server lokal terpisah dan tidak ada layanan tunnel. Cukup buka alamat IP ESP32 atau http://plant.local dari HP di WiFi yang sama.</a:t>
            </a:r>
            <a:endParaRPr lang="en-US" sz="1050" dirty="0"/>
          </a:p>
        </p:txBody>
      </p:sp>
      <p:sp>
        <p:nvSpPr>
          <p:cNvPr id="10" name="Shape 7"/>
          <p:cNvSpPr/>
          <p:nvPr/>
        </p:nvSpPr>
        <p:spPr>
          <a:xfrm>
            <a:off x="3337560" y="2834640"/>
            <a:ext cx="8321040" cy="987552"/>
          </a:xfrm>
          <a:prstGeom prst="roundRect">
            <a:avLst>
              <a:gd name="adj" fmla="val 7407"/>
            </a:avLst>
          </a:prstGeom>
          <a:solidFill>
            <a:srgbClr val="16332A"/>
          </a:solidFill>
          <a:ln w="9525">
            <a:solidFill>
              <a:srgbClr val="2A4A3B"/>
            </a:solidFill>
            <a:prstDash val="solid"/>
          </a:ln>
        </p:spPr>
      </p:sp>
      <p:sp>
        <p:nvSpPr>
          <p:cNvPr id="11" name="Shape 8"/>
          <p:cNvSpPr/>
          <p:nvPr/>
        </p:nvSpPr>
        <p:spPr>
          <a:xfrm>
            <a:off x="3337560" y="2834640"/>
            <a:ext cx="54864" cy="987552"/>
          </a:xfrm>
          <a:prstGeom prst="rect">
            <a:avLst/>
          </a:prstGeom>
          <a:solidFill>
            <a:srgbClr val="8FC79A"/>
          </a:solidFill>
          <a:ln/>
        </p:spPr>
      </p:sp>
      <p:sp>
        <p:nvSpPr>
          <p:cNvPr id="12" name="Text 9"/>
          <p:cNvSpPr txBox="1"/>
          <p:nvPr/>
        </p:nvSpPr>
        <p:spPr>
          <a:xfrm>
            <a:off x="3611880" y="2953512"/>
            <a:ext cx="7772400" cy="256032"/>
          </a:xfrm>
          <a:prstGeom prst="rect">
            <a:avLst/>
          </a:prstGeom>
          <a:noFill/>
          <a:ln/>
        </p:spPr>
        <p:txBody>
          <a:bodyPr wrap="square" lIns="0" tIns="0" rIns="0" bIns="0" rtlCol="0" anchor="ctr"/>
          <a:lstStyle/>
          <a:p>
            <a:pPr indent="0" marL="0">
              <a:buNone/>
            </a:pPr>
            <a:r>
              <a:rPr lang="en-US" sz="1250" b="1" dirty="0">
                <a:solidFill>
                  <a:srgbClr val="F7F4E9"/>
                </a:solidFill>
                <a:latin typeface="Segoe UI" pitchFamily="34" charset="0"/>
                <a:ea typeface="Segoe UI" pitchFamily="34" charset="-122"/>
                <a:cs typeface="Segoe UI" pitchFamily="34" charset="-120"/>
              </a:rPr>
              <a:t>Data nyata, bukan angka hiasan</a:t>
            </a:r>
            <a:endParaRPr lang="en-US" sz="1250" dirty="0"/>
          </a:p>
        </p:txBody>
      </p:sp>
      <p:sp>
        <p:nvSpPr>
          <p:cNvPr id="13" name="Text 10"/>
          <p:cNvSpPr txBox="1"/>
          <p:nvPr/>
        </p:nvSpPr>
        <p:spPr>
          <a:xfrm>
            <a:off x="3611880" y="3227832"/>
            <a:ext cx="7772400" cy="274320"/>
          </a:xfrm>
          <a:prstGeom prst="rect">
            <a:avLst/>
          </a:prstGeom>
          <a:noFill/>
          <a:ln/>
        </p:spPr>
        <p:txBody>
          <a:bodyPr wrap="square" lIns="0" tIns="0" rIns="0" bIns="0" rtlCol="0" anchor="t"/>
          <a:lstStyle/>
          <a:p>
            <a:pPr indent="0" marL="0">
              <a:lnSpc>
                <a:spcPts val="1418"/>
              </a:lnSpc>
              <a:buNone/>
            </a:pPr>
            <a:r>
              <a:rPr lang="en-US" sz="1050" dirty="0">
                <a:solidFill>
                  <a:srgbClr val="AFC2B4"/>
                </a:solidFill>
                <a:latin typeface="Segoe UI" pitchFamily="34" charset="0"/>
                <a:ea typeface="Segoe UI" pitchFamily="34" charset="-122"/>
                <a:cs typeface="Segoe UI" pitchFamily="34" charset="-120"/>
              </a:rPr>
              <a:t>Kelembapan tanah, suhu, kelembapan udara, cahaya, status pompa, dan alarm reservoir tampil real-time beserta hasil deteksi AI terakhir.</a:t>
            </a:r>
            <a:endParaRPr lang="en-US" sz="1050" dirty="0"/>
          </a:p>
        </p:txBody>
      </p:sp>
      <p:sp>
        <p:nvSpPr>
          <p:cNvPr id="14" name="Shape 11"/>
          <p:cNvSpPr/>
          <p:nvPr/>
        </p:nvSpPr>
        <p:spPr>
          <a:xfrm>
            <a:off x="3337560" y="3977640"/>
            <a:ext cx="8321040" cy="987552"/>
          </a:xfrm>
          <a:prstGeom prst="roundRect">
            <a:avLst>
              <a:gd name="adj" fmla="val 7407"/>
            </a:avLst>
          </a:prstGeom>
          <a:solidFill>
            <a:srgbClr val="16332A"/>
          </a:solidFill>
          <a:ln w="9525">
            <a:solidFill>
              <a:srgbClr val="2A4A3B"/>
            </a:solidFill>
            <a:prstDash val="solid"/>
          </a:ln>
        </p:spPr>
      </p:sp>
      <p:sp>
        <p:nvSpPr>
          <p:cNvPr id="15" name="Shape 12"/>
          <p:cNvSpPr/>
          <p:nvPr/>
        </p:nvSpPr>
        <p:spPr>
          <a:xfrm>
            <a:off x="3337560" y="3977640"/>
            <a:ext cx="54864" cy="987552"/>
          </a:xfrm>
          <a:prstGeom prst="rect">
            <a:avLst/>
          </a:prstGeom>
          <a:solidFill>
            <a:srgbClr val="8FC79A"/>
          </a:solidFill>
          <a:ln/>
        </p:spPr>
      </p:sp>
      <p:sp>
        <p:nvSpPr>
          <p:cNvPr id="16" name="Text 13"/>
          <p:cNvSpPr txBox="1"/>
          <p:nvPr/>
        </p:nvSpPr>
        <p:spPr>
          <a:xfrm>
            <a:off x="3611880" y="4096512"/>
            <a:ext cx="7772400" cy="256032"/>
          </a:xfrm>
          <a:prstGeom prst="rect">
            <a:avLst/>
          </a:prstGeom>
          <a:noFill/>
          <a:ln/>
        </p:spPr>
        <p:txBody>
          <a:bodyPr wrap="square" lIns="0" tIns="0" rIns="0" bIns="0" rtlCol="0" anchor="ctr"/>
          <a:lstStyle/>
          <a:p>
            <a:pPr indent="0" marL="0">
              <a:buNone/>
            </a:pPr>
            <a:r>
              <a:rPr lang="en-US" sz="1250" b="1" dirty="0">
                <a:solidFill>
                  <a:srgbClr val="F7F4E9"/>
                </a:solidFill>
                <a:latin typeface="Segoe UI" pitchFamily="34" charset="0"/>
                <a:ea typeface="Segoe UI" pitchFamily="34" charset="-122"/>
                <a:cs typeface="Segoe UI" pitchFamily="34" charset="-120"/>
              </a:rPr>
              <a:t>Gaya virtual pet</a:t>
            </a:r>
            <a:endParaRPr lang="en-US" sz="1250" dirty="0"/>
          </a:p>
        </p:txBody>
      </p:sp>
      <p:sp>
        <p:nvSpPr>
          <p:cNvPr id="17" name="Text 14"/>
          <p:cNvSpPr txBox="1"/>
          <p:nvPr/>
        </p:nvSpPr>
        <p:spPr>
          <a:xfrm>
            <a:off x="3611880" y="4370832"/>
            <a:ext cx="7772400" cy="274320"/>
          </a:xfrm>
          <a:prstGeom prst="rect">
            <a:avLst/>
          </a:prstGeom>
          <a:noFill/>
          <a:ln/>
        </p:spPr>
        <p:txBody>
          <a:bodyPr wrap="square" lIns="0" tIns="0" rIns="0" bIns="0" rtlCol="0" anchor="t"/>
          <a:lstStyle/>
          <a:p>
            <a:pPr indent="0" marL="0">
              <a:lnSpc>
                <a:spcPts val="1418"/>
              </a:lnSpc>
              <a:buNone/>
            </a:pPr>
            <a:r>
              <a:rPr lang="en-US" sz="1050" dirty="0">
                <a:solidFill>
                  <a:srgbClr val="AFC2B4"/>
                </a:solidFill>
                <a:latin typeface="Segoe UI" pitchFamily="34" charset="0"/>
                <a:ea typeface="Segoe UI" pitchFamily="34" charset="-122"/>
                <a:cs typeface="Segoe UI" pitchFamily="34" charset="-120"/>
              </a:rPr>
              <a:t>Tanaman punya status seperti moist and happy atau thirsty. Pendekatan ini membuat pemilik tanaman rutin mengecek, karena terasa seperti merawat peliharaan, bukan membaca panel industri.</a:t>
            </a:r>
            <a:endParaRPr lang="en-US" sz="1050" dirty="0"/>
          </a:p>
        </p:txBody>
      </p:sp>
      <p:sp>
        <p:nvSpPr>
          <p:cNvPr id="18" name="Shape 15"/>
          <p:cNvSpPr/>
          <p:nvPr/>
        </p:nvSpPr>
        <p:spPr>
          <a:xfrm>
            <a:off x="3337560" y="5120640"/>
            <a:ext cx="8321040" cy="987552"/>
          </a:xfrm>
          <a:prstGeom prst="roundRect">
            <a:avLst>
              <a:gd name="adj" fmla="val 7407"/>
            </a:avLst>
          </a:prstGeom>
          <a:solidFill>
            <a:srgbClr val="16332A"/>
          </a:solidFill>
          <a:ln w="9525">
            <a:solidFill>
              <a:srgbClr val="2A4A3B"/>
            </a:solidFill>
            <a:prstDash val="solid"/>
          </a:ln>
        </p:spPr>
      </p:sp>
      <p:sp>
        <p:nvSpPr>
          <p:cNvPr id="19" name="Shape 16"/>
          <p:cNvSpPr/>
          <p:nvPr/>
        </p:nvSpPr>
        <p:spPr>
          <a:xfrm>
            <a:off x="3337560" y="5120640"/>
            <a:ext cx="54864" cy="987552"/>
          </a:xfrm>
          <a:prstGeom prst="rect">
            <a:avLst/>
          </a:prstGeom>
          <a:solidFill>
            <a:srgbClr val="8FC79A"/>
          </a:solidFill>
          <a:ln/>
        </p:spPr>
      </p:sp>
      <p:sp>
        <p:nvSpPr>
          <p:cNvPr id="20" name="Text 17"/>
          <p:cNvSpPr txBox="1"/>
          <p:nvPr/>
        </p:nvSpPr>
        <p:spPr>
          <a:xfrm>
            <a:off x="3611880" y="5239512"/>
            <a:ext cx="7772400" cy="256032"/>
          </a:xfrm>
          <a:prstGeom prst="rect">
            <a:avLst/>
          </a:prstGeom>
          <a:noFill/>
          <a:ln/>
        </p:spPr>
        <p:txBody>
          <a:bodyPr wrap="square" lIns="0" tIns="0" rIns="0" bIns="0" rtlCol="0" anchor="ctr"/>
          <a:lstStyle/>
          <a:p>
            <a:pPr indent="0" marL="0">
              <a:buNone/>
            </a:pPr>
            <a:r>
              <a:rPr lang="en-US" sz="1250" b="1" dirty="0">
                <a:solidFill>
                  <a:srgbClr val="F7F4E9"/>
                </a:solidFill>
                <a:latin typeface="Segoe UI" pitchFamily="34" charset="0"/>
                <a:ea typeface="Segoe UI" pitchFamily="34" charset="-122"/>
                <a:cs typeface="Segoe UI" pitchFamily="34" charset="-120"/>
              </a:rPr>
              <a:t>Kontrol langsung dari layar</a:t>
            </a:r>
            <a:endParaRPr lang="en-US" sz="1250" dirty="0"/>
          </a:p>
        </p:txBody>
      </p:sp>
      <p:sp>
        <p:nvSpPr>
          <p:cNvPr id="21" name="Text 18"/>
          <p:cNvSpPr txBox="1"/>
          <p:nvPr/>
        </p:nvSpPr>
        <p:spPr>
          <a:xfrm>
            <a:off x="3611880" y="5513832"/>
            <a:ext cx="7772400" cy="274320"/>
          </a:xfrm>
          <a:prstGeom prst="rect">
            <a:avLst/>
          </a:prstGeom>
          <a:noFill/>
          <a:ln/>
        </p:spPr>
        <p:txBody>
          <a:bodyPr wrap="square" lIns="0" tIns="0" rIns="0" bIns="0" rtlCol="0" anchor="t"/>
          <a:lstStyle/>
          <a:p>
            <a:pPr indent="0" marL="0">
              <a:lnSpc>
                <a:spcPts val="1418"/>
              </a:lnSpc>
              <a:buNone/>
            </a:pPr>
            <a:r>
              <a:rPr lang="en-US" sz="1050" dirty="0">
                <a:solidFill>
                  <a:srgbClr val="AFC2B4"/>
                </a:solidFill>
                <a:latin typeface="Segoe UI" pitchFamily="34" charset="0"/>
                <a:ea typeface="Segoe UI" pitchFamily="34" charset="-122"/>
                <a:cs typeface="Segoe UI" pitchFamily="34" charset="-120"/>
              </a:rPr>
              <a:t>Tombol siram manual, reset alarm, dan fitur Find my plant yang membunyikan buzzer untuk menemukan lokasi pot.</a:t>
            </a:r>
            <a:endParaRPr lang="en-US" sz="1050" dirty="0"/>
          </a:p>
        </p:txBody>
      </p:sp>
      <p:sp>
        <p:nvSpPr>
          <p:cNvPr id="22" name="Text 19"/>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6E8A7B"/>
                </a:solidFill>
                <a:latin typeface="Segoe UI" pitchFamily="34" charset="0"/>
                <a:ea typeface="Segoe UI" pitchFamily="34" charset="-122"/>
                <a:cs typeface="Segoe UI" pitchFamily="34" charset="-120"/>
              </a:rPr>
              <a:t>Flora-Gotchi  |  Tim Gerbang Logika</a:t>
            </a:r>
            <a:endParaRPr lang="en-US" sz="900" dirty="0"/>
          </a:p>
        </p:txBody>
      </p:sp>
      <p:sp>
        <p:nvSpPr>
          <p:cNvPr id="23" name="Text 20"/>
          <p:cNvSpPr txBox="1"/>
          <p:nvPr/>
        </p:nvSpPr>
        <p:spPr>
          <a:xfrm>
            <a:off x="11155680" y="6419088"/>
            <a:ext cx="548640" cy="228600"/>
          </a:xfrm>
          <a:prstGeom prst="rect">
            <a:avLst/>
          </a:prstGeom>
          <a:noFill/>
          <a:ln/>
        </p:spPr>
        <p:txBody>
          <a:bodyPr wrap="square" lIns="0" tIns="0" rIns="0" bIns="0" rtlCol="0" anchor="ctr"/>
          <a:lstStyle/>
          <a:p>
            <a:pPr algn="r" indent="0" marL="0">
              <a:buNone/>
            </a:pPr>
            <a:r>
              <a:rPr lang="en-US" sz="900" dirty="0">
                <a:solidFill>
                  <a:srgbClr val="6E8A7B"/>
                </a:solidFill>
                <a:latin typeface="Segoe UI" pitchFamily="34" charset="0"/>
                <a:ea typeface="Segoe UI" pitchFamily="34" charset="-122"/>
                <a:cs typeface="Segoe U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9"/>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indent="0" marL="0">
              <a:buNone/>
            </a:pPr>
            <a:r>
              <a:rPr lang="en-US" sz="1100" b="1" spc="200" kern="0" dirty="0">
                <a:solidFill>
                  <a:srgbClr val="4E9A63"/>
                </a:solidFill>
                <a:latin typeface="Segoe UI" pitchFamily="34" charset="0"/>
                <a:ea typeface="Segoe UI" pitchFamily="34" charset="-122"/>
                <a:cs typeface="Segoe UI" pitchFamily="34" charset="-120"/>
              </a:rPr>
              <a:t>DAMPAK DAN KELAYAKAN</a:t>
            </a:r>
            <a:endParaRPr lang="en-US" sz="1100" dirty="0"/>
          </a:p>
        </p:txBody>
      </p:sp>
      <p:sp>
        <p:nvSpPr>
          <p:cNvPr id="3" name="Text 1"/>
          <p:cNvSpPr txBox="1"/>
          <p:nvPr/>
        </p:nvSpPr>
        <p:spPr>
          <a:xfrm>
            <a:off x="548640" y="603504"/>
            <a:ext cx="11155680" cy="566928"/>
          </a:xfrm>
          <a:prstGeom prst="rect">
            <a:avLst/>
          </a:prstGeom>
          <a:noFill/>
          <a:ln/>
        </p:spPr>
        <p:txBody>
          <a:bodyPr wrap="square" lIns="0" tIns="0" rIns="0" bIns="0" rtlCol="0" anchor="ctr"/>
          <a:lstStyle/>
          <a:p>
            <a:pPr indent="0" marL="0">
              <a:buNone/>
            </a:pPr>
            <a:r>
              <a:rPr lang="en-US" sz="2600" b="1" dirty="0">
                <a:solidFill>
                  <a:srgbClr val="1C2B24"/>
                </a:solidFill>
                <a:latin typeface="Georgia" pitchFamily="34" charset="0"/>
                <a:ea typeface="Georgia" pitchFamily="34" charset="-122"/>
                <a:cs typeface="Georgia" pitchFamily="34" charset="-120"/>
              </a:rPr>
              <a:t>Kenapa ini realistis diproduksi, bukan sekadar purwarupa</a:t>
            </a:r>
            <a:endParaRPr lang="en-US" sz="2600" dirty="0"/>
          </a:p>
        </p:txBody>
      </p:sp>
      <p:sp>
        <p:nvSpPr>
          <p:cNvPr id="4" name="Shape 2"/>
          <p:cNvSpPr/>
          <p:nvPr/>
        </p:nvSpPr>
        <p:spPr>
          <a:xfrm>
            <a:off x="548640" y="1261872"/>
            <a:ext cx="822960" cy="41148"/>
          </a:xfrm>
          <a:prstGeom prst="rect">
            <a:avLst/>
          </a:prstGeom>
          <a:solidFill>
            <a:srgbClr val="4E9A63"/>
          </a:solidFill>
          <a:ln/>
        </p:spPr>
      </p:sp>
      <p:sp>
        <p:nvSpPr>
          <p:cNvPr id="5" name="Shape 3"/>
          <p:cNvSpPr/>
          <p:nvPr/>
        </p:nvSpPr>
        <p:spPr>
          <a:xfrm>
            <a:off x="548640" y="1645920"/>
            <a:ext cx="3520440" cy="2606040"/>
          </a:xfrm>
          <a:prstGeom prst="roundRect">
            <a:avLst>
              <a:gd name="adj" fmla="val 3158"/>
            </a:avLst>
          </a:prstGeom>
          <a:solidFill>
            <a:srgbClr val="FFFFFF"/>
          </a:solidFill>
          <a:ln w="9525">
            <a:solidFill>
              <a:srgbClr val="D8D5C4"/>
            </a:solidFill>
            <a:prstDash val="solid"/>
          </a:ln>
        </p:spPr>
      </p:sp>
      <p:sp>
        <p:nvSpPr>
          <p:cNvPr id="6" name="Shape 4"/>
          <p:cNvSpPr/>
          <p:nvPr/>
        </p:nvSpPr>
        <p:spPr>
          <a:xfrm>
            <a:off x="548640" y="1645920"/>
            <a:ext cx="3520440" cy="73152"/>
          </a:xfrm>
          <a:prstGeom prst="rect">
            <a:avLst/>
          </a:prstGeom>
          <a:solidFill>
            <a:srgbClr val="4E9A63"/>
          </a:solidFill>
          <a:ln/>
        </p:spPr>
      </p:sp>
      <p:sp>
        <p:nvSpPr>
          <p:cNvPr id="7" name="Text 5"/>
          <p:cNvSpPr txBox="1"/>
          <p:nvPr/>
        </p:nvSpPr>
        <p:spPr>
          <a:xfrm>
            <a:off x="777240" y="1874520"/>
            <a:ext cx="3063240" cy="502920"/>
          </a:xfrm>
          <a:prstGeom prst="rect">
            <a:avLst/>
          </a:prstGeom>
          <a:noFill/>
          <a:ln/>
        </p:spPr>
        <p:txBody>
          <a:bodyPr wrap="square" lIns="0" tIns="0" rIns="0" bIns="0" rtlCol="0" anchor="ctr"/>
          <a:lstStyle/>
          <a:p>
            <a:pPr indent="0" marL="0">
              <a:buNone/>
            </a:pPr>
            <a:r>
              <a:rPr lang="en-US" sz="1500" b="1" dirty="0">
                <a:solidFill>
                  <a:srgbClr val="1C2B24"/>
                </a:solidFill>
                <a:latin typeface="Georgia" pitchFamily="34" charset="0"/>
                <a:ea typeface="Georgia" pitchFamily="34" charset="-122"/>
                <a:cs typeface="Georgia" pitchFamily="34" charset="-120"/>
              </a:rPr>
              <a:t>Rumah tangga dan urban farming</a:t>
            </a:r>
            <a:endParaRPr lang="en-US" sz="1500" dirty="0"/>
          </a:p>
        </p:txBody>
      </p:sp>
      <p:sp>
        <p:nvSpPr>
          <p:cNvPr id="8" name="Text 6"/>
          <p:cNvSpPr txBox="1"/>
          <p:nvPr/>
        </p:nvSpPr>
        <p:spPr>
          <a:xfrm>
            <a:off x="777240" y="2450592"/>
            <a:ext cx="3063240" cy="274320"/>
          </a:xfrm>
          <a:prstGeom prst="rect">
            <a:avLst/>
          </a:prstGeom>
          <a:noFill/>
          <a:ln/>
        </p:spPr>
        <p:txBody>
          <a:bodyPr wrap="square" lIns="0" tIns="0" rIns="0" bIns="0" rtlCol="0" anchor="t"/>
          <a:lstStyle/>
          <a:p>
            <a:pPr indent="0" marL="0">
              <a:lnSpc>
                <a:spcPts val="1418"/>
              </a:lnSpc>
              <a:buNone/>
            </a:pPr>
            <a:r>
              <a:rPr lang="en-US" sz="1050" dirty="0">
                <a:solidFill>
                  <a:srgbClr val="5E6F66"/>
                </a:solidFill>
                <a:latin typeface="Segoe UI" pitchFamily="34" charset="0"/>
                <a:ea typeface="Segoe UI" pitchFamily="34" charset="-122"/>
                <a:cs typeface="Segoe UI" pitchFamily="34" charset="-120"/>
              </a:rPr>
              <a:t>Hampir 30 juta usaha pertanian perorangan di Indonesia adalah pasar yang belum tersentuh solusi smart farming berlangganan.</a:t>
            </a:r>
            <a:endParaRPr lang="en-US" sz="1050" dirty="0"/>
          </a:p>
        </p:txBody>
      </p:sp>
      <p:sp>
        <p:nvSpPr>
          <p:cNvPr id="9" name="Text 7"/>
          <p:cNvSpPr txBox="1"/>
          <p:nvPr/>
        </p:nvSpPr>
        <p:spPr>
          <a:xfrm>
            <a:off x="777240" y="3319272"/>
            <a:ext cx="3063240" cy="274320"/>
          </a:xfrm>
          <a:prstGeom prst="rect">
            <a:avLst/>
          </a:prstGeom>
          <a:noFill/>
          <a:ln/>
        </p:spPr>
        <p:txBody>
          <a:bodyPr wrap="square" lIns="0" tIns="0" rIns="0" bIns="0" rtlCol="0" anchor="t"/>
          <a:lstStyle/>
          <a:p>
            <a:pPr indent="0" marL="0">
              <a:lnSpc>
                <a:spcPts val="1418"/>
              </a:lnSpc>
              <a:buNone/>
            </a:pPr>
            <a:r>
              <a:rPr lang="en-US" sz="1050" dirty="0">
                <a:solidFill>
                  <a:srgbClr val="5E6F66"/>
                </a:solidFill>
                <a:latin typeface="Segoe UI" pitchFamily="34" charset="0"/>
                <a:ea typeface="Segoe UI" pitchFamily="34" charset="-122"/>
                <a:cs typeface="Segoe UI" pitchFamily="34" charset="-120"/>
              </a:rPr>
              <a:t>Satu unit cukup untuk satu pot atau satu bedeng kecil, dan bisa ditambah tanpa mengubah arsitektur.</a:t>
            </a:r>
            <a:endParaRPr lang="en-US" sz="1050" dirty="0"/>
          </a:p>
        </p:txBody>
      </p:sp>
      <p:sp>
        <p:nvSpPr>
          <p:cNvPr id="10" name="Shape 8"/>
          <p:cNvSpPr/>
          <p:nvPr/>
        </p:nvSpPr>
        <p:spPr>
          <a:xfrm>
            <a:off x="4315968" y="1645920"/>
            <a:ext cx="3520440" cy="2606040"/>
          </a:xfrm>
          <a:prstGeom prst="roundRect">
            <a:avLst>
              <a:gd name="adj" fmla="val 3158"/>
            </a:avLst>
          </a:prstGeom>
          <a:solidFill>
            <a:srgbClr val="FFFFFF"/>
          </a:solidFill>
          <a:ln w="9525">
            <a:solidFill>
              <a:srgbClr val="D8D5C4"/>
            </a:solidFill>
            <a:prstDash val="solid"/>
          </a:ln>
        </p:spPr>
      </p:sp>
      <p:sp>
        <p:nvSpPr>
          <p:cNvPr id="11" name="Shape 9"/>
          <p:cNvSpPr/>
          <p:nvPr/>
        </p:nvSpPr>
        <p:spPr>
          <a:xfrm>
            <a:off x="4315968" y="1645920"/>
            <a:ext cx="3520440" cy="73152"/>
          </a:xfrm>
          <a:prstGeom prst="rect">
            <a:avLst/>
          </a:prstGeom>
          <a:solidFill>
            <a:srgbClr val="B07C2E"/>
          </a:solidFill>
          <a:ln/>
        </p:spPr>
      </p:sp>
      <p:sp>
        <p:nvSpPr>
          <p:cNvPr id="12" name="Text 10"/>
          <p:cNvSpPr txBox="1"/>
          <p:nvPr/>
        </p:nvSpPr>
        <p:spPr>
          <a:xfrm>
            <a:off x="4544568" y="1874520"/>
            <a:ext cx="3063240" cy="502920"/>
          </a:xfrm>
          <a:prstGeom prst="rect">
            <a:avLst/>
          </a:prstGeom>
          <a:noFill/>
          <a:ln/>
        </p:spPr>
        <p:txBody>
          <a:bodyPr wrap="square" lIns="0" tIns="0" rIns="0" bIns="0" rtlCol="0" anchor="ctr"/>
          <a:lstStyle/>
          <a:p>
            <a:pPr indent="0" marL="0">
              <a:buNone/>
            </a:pPr>
            <a:r>
              <a:rPr lang="en-US" sz="1500" b="1" dirty="0">
                <a:solidFill>
                  <a:srgbClr val="1C2B24"/>
                </a:solidFill>
                <a:latin typeface="Georgia" pitchFamily="34" charset="0"/>
                <a:ea typeface="Georgia" pitchFamily="34" charset="-122"/>
                <a:cs typeface="Georgia" pitchFamily="34" charset="-120"/>
              </a:rPr>
              <a:t>Sekolah dan edukasi</a:t>
            </a:r>
            <a:endParaRPr lang="en-US" sz="1500" dirty="0"/>
          </a:p>
        </p:txBody>
      </p:sp>
      <p:sp>
        <p:nvSpPr>
          <p:cNvPr id="13" name="Text 11"/>
          <p:cNvSpPr txBox="1"/>
          <p:nvPr/>
        </p:nvSpPr>
        <p:spPr>
          <a:xfrm>
            <a:off x="4544568" y="2450592"/>
            <a:ext cx="3063240" cy="274320"/>
          </a:xfrm>
          <a:prstGeom prst="rect">
            <a:avLst/>
          </a:prstGeom>
          <a:noFill/>
          <a:ln/>
        </p:spPr>
        <p:txBody>
          <a:bodyPr wrap="square" lIns="0" tIns="0" rIns="0" bIns="0" rtlCol="0" anchor="t"/>
          <a:lstStyle/>
          <a:p>
            <a:pPr indent="0" marL="0">
              <a:lnSpc>
                <a:spcPts val="1418"/>
              </a:lnSpc>
              <a:buNone/>
            </a:pPr>
            <a:r>
              <a:rPr lang="en-US" sz="1050" dirty="0">
                <a:solidFill>
                  <a:srgbClr val="5E6F66"/>
                </a:solidFill>
                <a:latin typeface="Segoe UI" pitchFamily="34" charset="0"/>
                <a:ea typeface="Segoe UI" pitchFamily="34" charset="-122"/>
                <a:cs typeface="Segoe UI" pitchFamily="34" charset="-120"/>
              </a:rPr>
              <a:t>Seluruh sistem dibangun dari komponen kit dasar, sehingga bisa direplikasi sebagai modul belajar IoT dan AI di SMA atau SMK.</a:t>
            </a:r>
            <a:endParaRPr lang="en-US" sz="1050" dirty="0"/>
          </a:p>
        </p:txBody>
      </p:sp>
      <p:sp>
        <p:nvSpPr>
          <p:cNvPr id="14" name="Text 12"/>
          <p:cNvSpPr txBox="1"/>
          <p:nvPr/>
        </p:nvSpPr>
        <p:spPr>
          <a:xfrm>
            <a:off x="4544568" y="3319272"/>
            <a:ext cx="3063240" cy="274320"/>
          </a:xfrm>
          <a:prstGeom prst="rect">
            <a:avLst/>
          </a:prstGeom>
          <a:noFill/>
          <a:ln/>
        </p:spPr>
        <p:txBody>
          <a:bodyPr wrap="square" lIns="0" tIns="0" rIns="0" bIns="0" rtlCol="0" anchor="t"/>
          <a:lstStyle/>
          <a:p>
            <a:pPr indent="0" marL="0">
              <a:lnSpc>
                <a:spcPts val="1418"/>
              </a:lnSpc>
              <a:buNone/>
            </a:pPr>
            <a:r>
              <a:rPr lang="en-US" sz="1050" dirty="0">
                <a:solidFill>
                  <a:srgbClr val="5E6F66"/>
                </a:solidFill>
                <a:latin typeface="Segoe UI" pitchFamily="34" charset="0"/>
                <a:ea typeface="Segoe UI" pitchFamily="34" charset="-122"/>
                <a:cs typeface="Segoe UI" pitchFamily="34" charset="-120"/>
              </a:rPr>
              <a:t>Kode dan model dilatih dengan alat gratis, tanpa lisensi berbayar.</a:t>
            </a:r>
            <a:endParaRPr lang="en-US" sz="1050" dirty="0"/>
          </a:p>
        </p:txBody>
      </p:sp>
      <p:sp>
        <p:nvSpPr>
          <p:cNvPr id="15" name="Shape 13"/>
          <p:cNvSpPr/>
          <p:nvPr/>
        </p:nvSpPr>
        <p:spPr>
          <a:xfrm>
            <a:off x="8083296" y="1645920"/>
            <a:ext cx="3520440" cy="2606040"/>
          </a:xfrm>
          <a:prstGeom prst="roundRect">
            <a:avLst>
              <a:gd name="adj" fmla="val 3158"/>
            </a:avLst>
          </a:prstGeom>
          <a:solidFill>
            <a:srgbClr val="FFFFFF"/>
          </a:solidFill>
          <a:ln w="9525">
            <a:solidFill>
              <a:srgbClr val="D8D5C4"/>
            </a:solidFill>
            <a:prstDash val="solid"/>
          </a:ln>
        </p:spPr>
      </p:sp>
      <p:sp>
        <p:nvSpPr>
          <p:cNvPr id="16" name="Shape 14"/>
          <p:cNvSpPr/>
          <p:nvPr/>
        </p:nvSpPr>
        <p:spPr>
          <a:xfrm>
            <a:off x="8083296" y="1645920"/>
            <a:ext cx="3520440" cy="73152"/>
          </a:xfrm>
          <a:prstGeom prst="rect">
            <a:avLst/>
          </a:prstGeom>
          <a:solidFill>
            <a:srgbClr val="2E6B7C"/>
          </a:solidFill>
          <a:ln/>
        </p:spPr>
      </p:sp>
      <p:sp>
        <p:nvSpPr>
          <p:cNvPr id="17" name="Text 15"/>
          <p:cNvSpPr txBox="1"/>
          <p:nvPr/>
        </p:nvSpPr>
        <p:spPr>
          <a:xfrm>
            <a:off x="8311896" y="1874520"/>
            <a:ext cx="3063240" cy="502920"/>
          </a:xfrm>
          <a:prstGeom prst="rect">
            <a:avLst/>
          </a:prstGeom>
          <a:noFill/>
          <a:ln/>
        </p:spPr>
        <p:txBody>
          <a:bodyPr wrap="square" lIns="0" tIns="0" rIns="0" bIns="0" rtlCol="0" anchor="ctr"/>
          <a:lstStyle/>
          <a:p>
            <a:pPr indent="0" marL="0">
              <a:buNone/>
            </a:pPr>
            <a:r>
              <a:rPr lang="en-US" sz="1500" b="1" dirty="0">
                <a:solidFill>
                  <a:srgbClr val="1C2B24"/>
                </a:solidFill>
                <a:latin typeface="Georgia" pitchFamily="34" charset="0"/>
                <a:ea typeface="Georgia" pitchFamily="34" charset="-122"/>
                <a:cs typeface="Georgia" pitchFamily="34" charset="-120"/>
              </a:rPr>
              <a:t>Skala produksi</a:t>
            </a:r>
            <a:endParaRPr lang="en-US" sz="1500" dirty="0"/>
          </a:p>
        </p:txBody>
      </p:sp>
      <p:sp>
        <p:nvSpPr>
          <p:cNvPr id="18" name="Text 16"/>
          <p:cNvSpPr txBox="1"/>
          <p:nvPr/>
        </p:nvSpPr>
        <p:spPr>
          <a:xfrm>
            <a:off x="8311896" y="2450592"/>
            <a:ext cx="3063240" cy="274320"/>
          </a:xfrm>
          <a:prstGeom prst="rect">
            <a:avLst/>
          </a:prstGeom>
          <a:noFill/>
          <a:ln/>
        </p:spPr>
        <p:txBody>
          <a:bodyPr wrap="square" lIns="0" tIns="0" rIns="0" bIns="0" rtlCol="0" anchor="t"/>
          <a:lstStyle/>
          <a:p>
            <a:pPr indent="0" marL="0">
              <a:lnSpc>
                <a:spcPts val="1418"/>
              </a:lnSpc>
              <a:buNone/>
            </a:pPr>
            <a:r>
              <a:rPr lang="en-US" sz="1050" dirty="0">
                <a:solidFill>
                  <a:srgbClr val="5E6F66"/>
                </a:solidFill>
                <a:latin typeface="Segoe UI" pitchFamily="34" charset="0"/>
                <a:ea typeface="Segoe UI" pitchFamily="34" charset="-122"/>
                <a:cs typeface="Segoe UI" pitchFamily="34" charset="-120"/>
              </a:rPr>
              <a:t>Tidak ada biaya cloud per perangkat. Biaya operasional setelah terpasang mendekati nol karena semua berjalan lokal.</a:t>
            </a:r>
            <a:endParaRPr lang="en-US" sz="1050" dirty="0"/>
          </a:p>
        </p:txBody>
      </p:sp>
      <p:sp>
        <p:nvSpPr>
          <p:cNvPr id="19" name="Text 17"/>
          <p:cNvSpPr txBox="1"/>
          <p:nvPr/>
        </p:nvSpPr>
        <p:spPr>
          <a:xfrm>
            <a:off x="8311896" y="3319272"/>
            <a:ext cx="3063240" cy="274320"/>
          </a:xfrm>
          <a:prstGeom prst="rect">
            <a:avLst/>
          </a:prstGeom>
          <a:noFill/>
          <a:ln/>
        </p:spPr>
        <p:txBody>
          <a:bodyPr wrap="square" lIns="0" tIns="0" rIns="0" bIns="0" rtlCol="0" anchor="t"/>
          <a:lstStyle/>
          <a:p>
            <a:pPr indent="0" marL="0">
              <a:lnSpc>
                <a:spcPts val="1418"/>
              </a:lnSpc>
              <a:buNone/>
            </a:pPr>
            <a:r>
              <a:rPr lang="en-US" sz="1050" dirty="0">
                <a:solidFill>
                  <a:srgbClr val="5E6F66"/>
                </a:solidFill>
                <a:latin typeface="Segoe UI" pitchFamily="34" charset="0"/>
                <a:ea typeface="Segoe UI" pitchFamily="34" charset="-122"/>
                <a:cs typeface="Segoe UI" pitchFamily="34" charset="-120"/>
              </a:rPr>
              <a:t>Komponen tambahan di luar kit masih di bawah Rp100.000, memakai suku cadang yang mudah dicari di pasar lokal.</a:t>
            </a:r>
            <a:endParaRPr lang="en-US" sz="1050" dirty="0"/>
          </a:p>
        </p:txBody>
      </p:sp>
      <p:sp>
        <p:nvSpPr>
          <p:cNvPr id="20" name="Shape 18"/>
          <p:cNvSpPr/>
          <p:nvPr/>
        </p:nvSpPr>
        <p:spPr>
          <a:xfrm>
            <a:off x="548640" y="4480560"/>
            <a:ext cx="11109960" cy="1783080"/>
          </a:xfrm>
          <a:prstGeom prst="roundRect">
            <a:avLst>
              <a:gd name="adj" fmla="val 4615"/>
            </a:avLst>
          </a:prstGeom>
          <a:solidFill>
            <a:srgbClr val="1D3B2E"/>
          </a:solidFill>
          <a:ln/>
        </p:spPr>
      </p:sp>
      <p:sp>
        <p:nvSpPr>
          <p:cNvPr id="21" name="Text 19"/>
          <p:cNvSpPr txBox="1"/>
          <p:nvPr/>
        </p:nvSpPr>
        <p:spPr>
          <a:xfrm>
            <a:off x="868680" y="4645152"/>
            <a:ext cx="8229600" cy="274320"/>
          </a:xfrm>
          <a:prstGeom prst="rect">
            <a:avLst/>
          </a:prstGeom>
          <a:noFill/>
          <a:ln/>
        </p:spPr>
        <p:txBody>
          <a:bodyPr wrap="square" lIns="0" tIns="0" rIns="0" bIns="0" rtlCol="0" anchor="ctr"/>
          <a:lstStyle/>
          <a:p>
            <a:pPr indent="0" marL="0">
              <a:buNone/>
            </a:pPr>
            <a:r>
              <a:rPr lang="en-US" sz="1600" b="1" dirty="0">
                <a:solidFill>
                  <a:srgbClr val="F7F4E9"/>
                </a:solidFill>
                <a:latin typeface="Georgia" pitchFamily="34" charset="0"/>
                <a:ea typeface="Georgia" pitchFamily="34" charset="-122"/>
                <a:cs typeface="Georgia" pitchFamily="34" charset="-120"/>
              </a:rPr>
              <a:t>Langkah berikutnya yang sudah kami petakan</a:t>
            </a:r>
            <a:endParaRPr lang="en-US" sz="1600" dirty="0"/>
          </a:p>
        </p:txBody>
      </p:sp>
      <p:sp>
        <p:nvSpPr>
          <p:cNvPr id="22" name="Text 20"/>
          <p:cNvSpPr txBox="1"/>
          <p:nvPr/>
        </p:nvSpPr>
        <p:spPr>
          <a:xfrm>
            <a:off x="868680" y="5010912"/>
            <a:ext cx="2468880" cy="256032"/>
          </a:xfrm>
          <a:prstGeom prst="rect">
            <a:avLst/>
          </a:prstGeom>
          <a:noFill/>
          <a:ln/>
        </p:spPr>
        <p:txBody>
          <a:bodyPr wrap="square" lIns="0" tIns="0" rIns="0" bIns="0" rtlCol="0" anchor="ctr"/>
          <a:lstStyle/>
          <a:p>
            <a:pPr indent="0" marL="0">
              <a:buNone/>
            </a:pPr>
            <a:r>
              <a:rPr lang="en-US" sz="1150" b="1" dirty="0">
                <a:solidFill>
                  <a:srgbClr val="8FC79A"/>
                </a:solidFill>
                <a:latin typeface="Segoe UI" pitchFamily="34" charset="0"/>
                <a:ea typeface="Segoe UI" pitchFamily="34" charset="-122"/>
                <a:cs typeface="Segoe UI" pitchFamily="34" charset="-120"/>
              </a:rPr>
              <a:t>Data</a:t>
            </a:r>
            <a:endParaRPr lang="en-US" sz="1150" dirty="0"/>
          </a:p>
        </p:txBody>
      </p:sp>
      <p:sp>
        <p:nvSpPr>
          <p:cNvPr id="23" name="Text 21"/>
          <p:cNvSpPr txBox="1"/>
          <p:nvPr/>
        </p:nvSpPr>
        <p:spPr>
          <a:xfrm>
            <a:off x="868680" y="5285232"/>
            <a:ext cx="2468880" cy="274320"/>
          </a:xfrm>
          <a:prstGeom prst="rect">
            <a:avLst/>
          </a:prstGeom>
          <a:noFill/>
          <a:ln/>
        </p:spPr>
        <p:txBody>
          <a:bodyPr wrap="square" lIns="0" tIns="0" rIns="0" bIns="0" rtlCol="0" anchor="t"/>
          <a:lstStyle/>
          <a:p>
            <a:pPr indent="0" marL="0">
              <a:lnSpc>
                <a:spcPts val="1350"/>
              </a:lnSpc>
              <a:buNone/>
            </a:pPr>
            <a:r>
              <a:rPr lang="en-US" sz="1000" dirty="0">
                <a:solidFill>
                  <a:srgbClr val="AFC2B4"/>
                </a:solidFill>
                <a:latin typeface="Segoe UI" pitchFamily="34" charset="0"/>
                <a:ea typeface="Segoe UI" pitchFamily="34" charset="-122"/>
                <a:cs typeface="Segoe UI" pitchFamily="34" charset="-120"/>
              </a:rPr>
              <a:t>Menyeimbangkan jumlah sampel aphid dan spider mite, lalu menambah variasi latar dan pencahayaan.</a:t>
            </a:r>
            <a:endParaRPr lang="en-US" sz="1000" dirty="0"/>
          </a:p>
        </p:txBody>
      </p:sp>
      <p:sp>
        <p:nvSpPr>
          <p:cNvPr id="24" name="Text 22"/>
          <p:cNvSpPr txBox="1"/>
          <p:nvPr/>
        </p:nvSpPr>
        <p:spPr>
          <a:xfrm>
            <a:off x="3593592" y="5010912"/>
            <a:ext cx="2468880" cy="256032"/>
          </a:xfrm>
          <a:prstGeom prst="rect">
            <a:avLst/>
          </a:prstGeom>
          <a:noFill/>
          <a:ln/>
        </p:spPr>
        <p:txBody>
          <a:bodyPr wrap="square" lIns="0" tIns="0" rIns="0" bIns="0" rtlCol="0" anchor="ctr"/>
          <a:lstStyle/>
          <a:p>
            <a:pPr indent="0" marL="0">
              <a:buNone/>
            </a:pPr>
            <a:r>
              <a:rPr lang="en-US" sz="1150" b="1" dirty="0">
                <a:solidFill>
                  <a:srgbClr val="8FC79A"/>
                </a:solidFill>
                <a:latin typeface="Segoe UI" pitchFamily="34" charset="0"/>
                <a:ea typeface="Segoe UI" pitchFamily="34" charset="-122"/>
                <a:cs typeface="Segoe UI" pitchFamily="34" charset="-120"/>
              </a:rPr>
              <a:t>Hardware</a:t>
            </a:r>
            <a:endParaRPr lang="en-US" sz="1150" dirty="0"/>
          </a:p>
        </p:txBody>
      </p:sp>
      <p:sp>
        <p:nvSpPr>
          <p:cNvPr id="25" name="Text 23"/>
          <p:cNvSpPr txBox="1"/>
          <p:nvPr/>
        </p:nvSpPr>
        <p:spPr>
          <a:xfrm>
            <a:off x="3593592" y="5285232"/>
            <a:ext cx="2468880" cy="274320"/>
          </a:xfrm>
          <a:prstGeom prst="rect">
            <a:avLst/>
          </a:prstGeom>
          <a:noFill/>
          <a:ln/>
        </p:spPr>
        <p:txBody>
          <a:bodyPr wrap="square" lIns="0" tIns="0" rIns="0" bIns="0" rtlCol="0" anchor="t"/>
          <a:lstStyle/>
          <a:p>
            <a:pPr indent="0" marL="0">
              <a:lnSpc>
                <a:spcPts val="1350"/>
              </a:lnSpc>
              <a:buNone/>
            </a:pPr>
            <a:r>
              <a:rPr lang="en-US" sz="1000" dirty="0">
                <a:solidFill>
                  <a:srgbClr val="AFC2B4"/>
                </a:solidFill>
                <a:latin typeface="Segoe UI" pitchFamily="34" charset="0"/>
                <a:ea typeface="Segoe UI" pitchFamily="34" charset="-122"/>
                <a:cs typeface="Segoe UI" pitchFamily="34" charset="-120"/>
              </a:rPr>
              <a:t>Memakai potensiometer di kit untuk mengatur ambang kelembapan tanpa mengubah kode.</a:t>
            </a:r>
            <a:endParaRPr lang="en-US" sz="1000" dirty="0"/>
          </a:p>
        </p:txBody>
      </p:sp>
      <p:sp>
        <p:nvSpPr>
          <p:cNvPr id="26" name="Text 24"/>
          <p:cNvSpPr txBox="1"/>
          <p:nvPr/>
        </p:nvSpPr>
        <p:spPr>
          <a:xfrm>
            <a:off x="6318504" y="5010912"/>
            <a:ext cx="2468880" cy="256032"/>
          </a:xfrm>
          <a:prstGeom prst="rect">
            <a:avLst/>
          </a:prstGeom>
          <a:noFill/>
          <a:ln/>
        </p:spPr>
        <p:txBody>
          <a:bodyPr wrap="square" lIns="0" tIns="0" rIns="0" bIns="0" rtlCol="0" anchor="ctr"/>
          <a:lstStyle/>
          <a:p>
            <a:pPr indent="0" marL="0">
              <a:buNone/>
            </a:pPr>
            <a:r>
              <a:rPr lang="en-US" sz="1150" b="1" dirty="0">
                <a:solidFill>
                  <a:srgbClr val="8FC79A"/>
                </a:solidFill>
                <a:latin typeface="Segoe UI" pitchFamily="34" charset="0"/>
                <a:ea typeface="Segoe UI" pitchFamily="34" charset="-122"/>
                <a:cs typeface="Segoe UI" pitchFamily="34" charset="-120"/>
              </a:rPr>
              <a:t>Fitur</a:t>
            </a:r>
            <a:endParaRPr lang="en-US" sz="1150" dirty="0"/>
          </a:p>
        </p:txBody>
      </p:sp>
      <p:sp>
        <p:nvSpPr>
          <p:cNvPr id="27" name="Text 25"/>
          <p:cNvSpPr txBox="1"/>
          <p:nvPr/>
        </p:nvSpPr>
        <p:spPr>
          <a:xfrm>
            <a:off x="6318504" y="5285232"/>
            <a:ext cx="2468880" cy="274320"/>
          </a:xfrm>
          <a:prstGeom prst="rect">
            <a:avLst/>
          </a:prstGeom>
          <a:noFill/>
          <a:ln/>
        </p:spPr>
        <p:txBody>
          <a:bodyPr wrap="square" lIns="0" tIns="0" rIns="0" bIns="0" rtlCol="0" anchor="t"/>
          <a:lstStyle/>
          <a:p>
            <a:pPr indent="0" marL="0">
              <a:lnSpc>
                <a:spcPts val="1350"/>
              </a:lnSpc>
              <a:buNone/>
            </a:pPr>
            <a:r>
              <a:rPr lang="en-US" sz="1000" dirty="0">
                <a:solidFill>
                  <a:srgbClr val="AFC2B4"/>
                </a:solidFill>
                <a:latin typeface="Segoe UI" pitchFamily="34" charset="0"/>
                <a:ea typeface="Segoe UI" pitchFamily="34" charset="-122"/>
                <a:cs typeface="Segoe UI" pitchFamily="34" charset="-120"/>
              </a:rPr>
              <a:t>Riwayat penyiraman tersimpan dan rekomendasi penanganan otomatis untuk tiap hama yang terdeteksi.</a:t>
            </a:r>
            <a:endParaRPr lang="en-US" sz="1000" dirty="0"/>
          </a:p>
        </p:txBody>
      </p:sp>
      <p:sp>
        <p:nvSpPr>
          <p:cNvPr id="28" name="Text 26"/>
          <p:cNvSpPr txBox="1"/>
          <p:nvPr/>
        </p:nvSpPr>
        <p:spPr>
          <a:xfrm>
            <a:off x="9043416" y="5010912"/>
            <a:ext cx="2468880" cy="256032"/>
          </a:xfrm>
          <a:prstGeom prst="rect">
            <a:avLst/>
          </a:prstGeom>
          <a:noFill/>
          <a:ln/>
        </p:spPr>
        <p:txBody>
          <a:bodyPr wrap="square" lIns="0" tIns="0" rIns="0" bIns="0" rtlCol="0" anchor="ctr"/>
          <a:lstStyle/>
          <a:p>
            <a:pPr indent="0" marL="0">
              <a:buNone/>
            </a:pPr>
            <a:r>
              <a:rPr lang="en-US" sz="1150" b="1" dirty="0">
                <a:solidFill>
                  <a:srgbClr val="8FC79A"/>
                </a:solidFill>
                <a:latin typeface="Segoe UI" pitchFamily="34" charset="0"/>
                <a:ea typeface="Segoe UI" pitchFamily="34" charset="-122"/>
                <a:cs typeface="Segoe UI" pitchFamily="34" charset="-120"/>
              </a:rPr>
              <a:t>Skala</a:t>
            </a:r>
            <a:endParaRPr lang="en-US" sz="1150" dirty="0"/>
          </a:p>
        </p:txBody>
      </p:sp>
      <p:sp>
        <p:nvSpPr>
          <p:cNvPr id="29" name="Text 27"/>
          <p:cNvSpPr txBox="1"/>
          <p:nvPr/>
        </p:nvSpPr>
        <p:spPr>
          <a:xfrm>
            <a:off x="9043416" y="5285232"/>
            <a:ext cx="2468880" cy="274320"/>
          </a:xfrm>
          <a:prstGeom prst="rect">
            <a:avLst/>
          </a:prstGeom>
          <a:noFill/>
          <a:ln/>
        </p:spPr>
        <p:txBody>
          <a:bodyPr wrap="square" lIns="0" tIns="0" rIns="0" bIns="0" rtlCol="0" anchor="t"/>
          <a:lstStyle/>
          <a:p>
            <a:pPr indent="0" marL="0">
              <a:lnSpc>
                <a:spcPts val="1350"/>
              </a:lnSpc>
              <a:buNone/>
            </a:pPr>
            <a:r>
              <a:rPr lang="en-US" sz="1000" dirty="0">
                <a:solidFill>
                  <a:srgbClr val="AFC2B4"/>
                </a:solidFill>
                <a:latin typeface="Segoe UI" pitchFamily="34" charset="0"/>
                <a:ea typeface="Segoe UI" pitchFamily="34" charset="-122"/>
                <a:cs typeface="Segoe UI" pitchFamily="34" charset="-120"/>
              </a:rPr>
              <a:t>Satu ESP32 mengoordinasi beberapa titik sensor untuk bedeng atau greenhouse kecil.</a:t>
            </a:r>
            <a:endParaRPr lang="en-US" sz="1000" dirty="0"/>
          </a:p>
        </p:txBody>
      </p:sp>
      <p:sp>
        <p:nvSpPr>
          <p:cNvPr id="30" name="Text 28"/>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5E6F66"/>
                </a:solidFill>
                <a:latin typeface="Segoe UI" pitchFamily="34" charset="0"/>
                <a:ea typeface="Segoe UI" pitchFamily="34" charset="-122"/>
                <a:cs typeface="Segoe UI" pitchFamily="34" charset="-120"/>
              </a:rPr>
              <a:t>Flora-Gotchi  |  Tim Gerbang Logika</a:t>
            </a:r>
            <a:endParaRPr lang="en-US" sz="900" dirty="0"/>
          </a:p>
        </p:txBody>
      </p:sp>
      <p:sp>
        <p:nvSpPr>
          <p:cNvPr id="31" name="Text 29"/>
          <p:cNvSpPr txBox="1"/>
          <p:nvPr/>
        </p:nvSpPr>
        <p:spPr>
          <a:xfrm>
            <a:off x="11155680" y="6419088"/>
            <a:ext cx="548640" cy="228600"/>
          </a:xfrm>
          <a:prstGeom prst="rect">
            <a:avLst/>
          </a:prstGeom>
          <a:noFill/>
          <a:ln/>
        </p:spPr>
        <p:txBody>
          <a:bodyPr wrap="square" lIns="0" tIns="0" rIns="0" bIns="0" rtlCol="0" anchor="ctr"/>
          <a:lstStyle/>
          <a:p>
            <a:pPr algn="r" indent="0" marL="0">
              <a:buNone/>
            </a:pPr>
            <a:r>
              <a:rPr lang="en-US" sz="900" dirty="0">
                <a:solidFill>
                  <a:srgbClr val="5E6F66"/>
                </a:solidFill>
                <a:latin typeface="Segoe UI" pitchFamily="34" charset="0"/>
                <a:ea typeface="Segoe UI" pitchFamily="34" charset="-122"/>
                <a:cs typeface="Segoe U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51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E9A63"/>
          </a:solidFill>
          <a:ln/>
        </p:spPr>
      </p:sp>
      <p:sp>
        <p:nvSpPr>
          <p:cNvPr id="3" name="Text 1"/>
          <p:cNvSpPr txBox="1"/>
          <p:nvPr/>
        </p:nvSpPr>
        <p:spPr>
          <a:xfrm>
            <a:off x="822960" y="2011680"/>
            <a:ext cx="6858000" cy="1371600"/>
          </a:xfrm>
          <a:prstGeom prst="rect">
            <a:avLst/>
          </a:prstGeom>
          <a:noFill/>
          <a:ln/>
        </p:spPr>
        <p:txBody>
          <a:bodyPr wrap="square" lIns="0" tIns="0" rIns="0" bIns="0" rtlCol="0" anchor="ctr"/>
          <a:lstStyle/>
          <a:p>
            <a:pPr indent="0" marL="0">
              <a:lnSpc>
                <a:spcPts val="4600"/>
              </a:lnSpc>
              <a:buNone/>
            </a:pPr>
            <a:r>
              <a:rPr lang="en-US" sz="3300" b="1" dirty="0">
                <a:solidFill>
                  <a:srgbClr val="F7F4E9"/>
                </a:solidFill>
                <a:latin typeface="Georgia" pitchFamily="34" charset="0"/>
                <a:ea typeface="Georgia" pitchFamily="34" charset="-122"/>
                <a:cs typeface="Georgia" pitchFamily="34" charset="-120"/>
              </a:rPr>
              <a:t>Merawat tanaman, merawat masa depan</a:t>
            </a:r>
            <a:endParaRPr lang="en-US" sz="3300" dirty="0"/>
          </a:p>
        </p:txBody>
      </p:sp>
      <p:sp>
        <p:nvSpPr>
          <p:cNvPr id="4" name="Text 2"/>
          <p:cNvSpPr txBox="1"/>
          <p:nvPr/>
        </p:nvSpPr>
        <p:spPr>
          <a:xfrm>
            <a:off x="822960" y="3429000"/>
            <a:ext cx="6675120" cy="914400"/>
          </a:xfrm>
          <a:prstGeom prst="rect">
            <a:avLst/>
          </a:prstGeom>
          <a:noFill/>
          <a:ln/>
        </p:spPr>
        <p:txBody>
          <a:bodyPr wrap="square" lIns="0" tIns="0" rIns="0" bIns="0" rtlCol="0" anchor="ctr"/>
          <a:lstStyle/>
          <a:p>
            <a:pPr indent="0" marL="0">
              <a:lnSpc>
                <a:spcPts val="2100"/>
              </a:lnSpc>
              <a:buNone/>
            </a:pPr>
            <a:r>
              <a:rPr lang="en-US" sz="1400" dirty="0">
                <a:solidFill>
                  <a:srgbClr val="AFC2B4"/>
                </a:solidFill>
                <a:latin typeface="Segoe UI" pitchFamily="34" charset="0"/>
                <a:ea typeface="Segoe UI" pitchFamily="34" charset="-122"/>
                <a:cs typeface="Segoe UI" pitchFamily="34" charset="-120"/>
              </a:rPr>
              <a:t>Flora-Gotchi membuktikan bahwa perawatan tanaman berbasis data bisa dibangun dari komponen dasar, dijalankan tanpa internet, dan tetap terjangkau bagi puluhan juta usaha pertanian kecil di Indonesia.</a:t>
            </a:r>
            <a:endParaRPr lang="en-US" sz="1400" dirty="0"/>
          </a:p>
        </p:txBody>
      </p:sp>
      <p:sp>
        <p:nvSpPr>
          <p:cNvPr id="5" name="Shape 3"/>
          <p:cNvSpPr/>
          <p:nvPr/>
        </p:nvSpPr>
        <p:spPr>
          <a:xfrm>
            <a:off x="822960" y="4572000"/>
            <a:ext cx="6675120" cy="18288"/>
          </a:xfrm>
          <a:prstGeom prst="rect">
            <a:avLst/>
          </a:prstGeom>
          <a:solidFill>
            <a:srgbClr val="2E4438"/>
          </a:solidFill>
          <a:ln/>
        </p:spPr>
      </p:sp>
      <p:sp>
        <p:nvSpPr>
          <p:cNvPr id="6" name="Text 4"/>
          <p:cNvSpPr txBox="1"/>
          <p:nvPr/>
        </p:nvSpPr>
        <p:spPr>
          <a:xfrm>
            <a:off x="822960" y="4754880"/>
            <a:ext cx="6675120" cy="320040"/>
          </a:xfrm>
          <a:prstGeom prst="rect">
            <a:avLst/>
          </a:prstGeom>
          <a:noFill/>
          <a:ln/>
        </p:spPr>
        <p:txBody>
          <a:bodyPr wrap="square" lIns="0" tIns="0" rIns="0" bIns="0" rtlCol="0" anchor="ctr"/>
          <a:lstStyle/>
          <a:p>
            <a:pPr indent="0" marL="0">
              <a:buNone/>
            </a:pPr>
            <a:r>
              <a:rPr lang="en-US" sz="1300" b="1" dirty="0">
                <a:solidFill>
                  <a:srgbClr val="F7F4E9"/>
                </a:solidFill>
                <a:latin typeface="Segoe UI" pitchFamily="34" charset="0"/>
                <a:ea typeface="Segoe UI" pitchFamily="34" charset="-122"/>
                <a:cs typeface="Segoe UI" pitchFamily="34" charset="-120"/>
              </a:rPr>
              <a:t>Terima kasih. Kami siap menjawab pertanyaan dewan juri.</a:t>
            </a:r>
            <a:endParaRPr lang="en-US" sz="1300" dirty="0"/>
          </a:p>
        </p:txBody>
      </p:sp>
      <p:sp>
        <p:nvSpPr>
          <p:cNvPr id="7" name="Text 5"/>
          <p:cNvSpPr txBox="1"/>
          <p:nvPr/>
        </p:nvSpPr>
        <p:spPr>
          <a:xfrm>
            <a:off x="822960" y="5102352"/>
            <a:ext cx="6675120" cy="274320"/>
          </a:xfrm>
          <a:prstGeom prst="rect">
            <a:avLst/>
          </a:prstGeom>
          <a:noFill/>
          <a:ln/>
        </p:spPr>
        <p:txBody>
          <a:bodyPr wrap="square" lIns="0" tIns="0" rIns="0" bIns="0" rtlCol="0" anchor="ctr"/>
          <a:lstStyle/>
          <a:p>
            <a:pPr indent="0" marL="0">
              <a:buNone/>
            </a:pPr>
            <a:r>
              <a:rPr lang="en-US" sz="1100" dirty="0">
                <a:solidFill>
                  <a:srgbClr val="6E8A7B"/>
                </a:solidFill>
                <a:latin typeface="Segoe UI" pitchFamily="34" charset="0"/>
                <a:ea typeface="Segoe UI" pitchFamily="34" charset="-122"/>
                <a:cs typeface="Segoe UI" pitchFamily="34" charset="-120"/>
              </a:rPr>
              <a:t>Tim Gerbang Logika  ·  SMA Kristen Gloria 2, Surabaya</a:t>
            </a:r>
            <a:endParaRPr lang="en-US" sz="1100" dirty="0"/>
          </a:p>
        </p:txBody>
      </p:sp>
      <p:sp>
        <p:nvSpPr>
          <p:cNvPr id="8" name="Text 6"/>
          <p:cNvSpPr txBox="1"/>
          <p:nvPr/>
        </p:nvSpPr>
        <p:spPr>
          <a:xfrm>
            <a:off x="822960" y="5943600"/>
            <a:ext cx="10515600" cy="274320"/>
          </a:xfrm>
          <a:prstGeom prst="rect">
            <a:avLst/>
          </a:prstGeom>
          <a:noFill/>
          <a:ln/>
        </p:spPr>
        <p:txBody>
          <a:bodyPr wrap="square" lIns="0" tIns="0" rIns="0" bIns="0" rtlCol="0" anchor="ctr"/>
          <a:lstStyle/>
          <a:p>
            <a:pPr indent="0" marL="0">
              <a:buNone/>
            </a:pPr>
            <a:r>
              <a:rPr lang="en-US" sz="900" i="1" dirty="0">
                <a:solidFill>
                  <a:srgbClr val="5A7365"/>
                </a:solidFill>
                <a:latin typeface="Segoe UI" pitchFamily="34" charset="0"/>
                <a:ea typeface="Segoe UI" pitchFamily="34" charset="-122"/>
                <a:cs typeface="Segoe UI" pitchFamily="34" charset="-120"/>
              </a:rPr>
              <a:t>Sumber data: BPS Sakernas Agustus 2025, BPS Sensus Pertanian 2023, BPS PDB triwulan II 2025, FAO.</a:t>
            </a:r>
            <a:endParaRPr lang="en-US" sz="900" dirty="0"/>
          </a:p>
        </p:txBody>
      </p:sp>
      <p:pic>
        <p:nvPicPr>
          <p:cNvPr id="9" name="Image 0" descr="deck/rakit.png">    </p:cNvPr>
          <p:cNvPicPr>
            <a:picLocks noChangeAspect="1"/>
          </p:cNvPicPr>
          <p:nvPr/>
        </p:nvPicPr>
        <p:blipFill>
          <a:blip r:embed="rId1"/>
          <a:stretch>
            <a:fillRect/>
          </a:stretch>
        </p:blipFill>
        <p:spPr>
          <a:xfrm>
            <a:off x="8092440" y="1737360"/>
            <a:ext cx="1783080" cy="2377440"/>
          </a:xfrm>
          <a:prstGeom prst="rect">
            <a:avLst/>
          </a:prstGeom>
        </p:spPr>
      </p:pic>
      <p:pic>
        <p:nvPicPr>
          <p:cNvPr id="10" name="Image 1" descr="deck/tim.png">    </p:cNvPr>
          <p:cNvPicPr>
            <a:picLocks noChangeAspect="1"/>
          </p:cNvPicPr>
          <p:nvPr/>
        </p:nvPicPr>
        <p:blipFill>
          <a:blip r:embed="rId2"/>
          <a:stretch>
            <a:fillRect/>
          </a:stretch>
        </p:blipFill>
        <p:spPr>
          <a:xfrm>
            <a:off x="10012680" y="1737360"/>
            <a:ext cx="1783080" cy="2377440"/>
          </a:xfrm>
          <a:prstGeom prst="rect">
            <a:avLst/>
          </a:prstGeom>
        </p:spPr>
      </p:pic>
      <p:pic>
        <p:nvPicPr>
          <p:cNvPr id="11" name="Image 2" descr="deck/komponen.png">    </p:cNvPr>
          <p:cNvPicPr>
            <a:picLocks noChangeAspect="1"/>
          </p:cNvPicPr>
          <p:nvPr/>
        </p:nvPicPr>
        <p:blipFill>
          <a:blip r:embed="rId3"/>
          <a:stretch>
            <a:fillRect/>
          </a:stretch>
        </p:blipFill>
        <p:spPr>
          <a:xfrm>
            <a:off x="8092440" y="4206240"/>
            <a:ext cx="1783080" cy="1874520"/>
          </a:xfrm>
          <a:prstGeom prst="rect">
            <a:avLst/>
          </a:prstGeom>
        </p:spPr>
      </p:pic>
      <p:pic>
        <p:nvPicPr>
          <p:cNvPr id="12" name="Image 3" descr="deck/caterpillar.png">    </p:cNvPr>
          <p:cNvPicPr>
            <a:picLocks noChangeAspect="1"/>
          </p:cNvPicPr>
          <p:nvPr/>
        </p:nvPicPr>
        <p:blipFill>
          <a:blip r:embed="rId4"/>
          <a:stretch>
            <a:fillRect/>
          </a:stretch>
        </p:blipFill>
        <p:spPr>
          <a:xfrm>
            <a:off x="10012680" y="4206240"/>
            <a:ext cx="1783080" cy="1874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Flora-Gotchi - Plant Empathy System</dc:title>
  <dc:subject>PptxGenJS Presentation</dc:subject>
  <dc:creator>Tim Gerbang Logika</dc:creator>
  <cp:lastModifiedBy>Tim Gerbang Logika</cp:lastModifiedBy>
  <cp:revision>1</cp:revision>
  <dcterms:created xsi:type="dcterms:W3CDTF">2026-09-18T18:23:22Z</dcterms:created>
  <dcterms:modified xsi:type="dcterms:W3CDTF">2026-09-18T18:23:22Z</dcterms:modified>
</cp:coreProperties>
</file>